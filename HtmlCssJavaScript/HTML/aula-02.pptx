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329" r:id="rId5"/>
    <p:sldId id="330" r:id="rId6"/>
    <p:sldId id="258" r:id="rId7"/>
    <p:sldId id="317" r:id="rId8"/>
    <p:sldId id="322" r:id="rId9"/>
    <p:sldId id="292" r:id="rId10"/>
    <p:sldId id="318" r:id="rId11"/>
    <p:sldId id="331" r:id="rId12"/>
    <p:sldId id="290" r:id="rId13"/>
    <p:sldId id="320" r:id="rId14"/>
    <p:sldId id="321" r:id="rId15"/>
    <p:sldId id="323" r:id="rId16"/>
    <p:sldId id="294" r:id="rId17"/>
    <p:sldId id="324" r:id="rId18"/>
    <p:sldId id="295" r:id="rId19"/>
    <p:sldId id="296" r:id="rId20"/>
    <p:sldId id="325" r:id="rId21"/>
    <p:sldId id="297" r:id="rId22"/>
    <p:sldId id="298" r:id="rId23"/>
    <p:sldId id="326" r:id="rId24"/>
    <p:sldId id="299" r:id="rId25"/>
    <p:sldId id="327" r:id="rId26"/>
    <p:sldId id="300" r:id="rId27"/>
    <p:sldId id="328" r:id="rId28"/>
    <p:sldId id="301" r:id="rId2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75"/>
    <p:restoredTop sz="94595"/>
  </p:normalViewPr>
  <p:slideViewPr>
    <p:cSldViewPr>
      <p:cViewPr varScale="1">
        <p:scale>
          <a:sx n="87" d="100"/>
          <a:sy n="87" d="100"/>
        </p:scale>
        <p:origin x="124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5.29412" units="1/cm"/>
          <inkml:channelProperty channel="Y" name="resolution" value="35.29412" units="1/cm"/>
          <inkml:channelProperty channel="T" name="resolution" value="1" units="1/dev"/>
        </inkml:channelProperties>
      </inkml:inkSource>
      <inkml:timestamp xml:id="ts0" timeString="2016-03-23T11:46:51.86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B6591182-6D57-419F-B7D9-A06852FF97DE}" emma:medium="tactile" emma:mode="ink">
          <msink:context xmlns:msink="http://schemas.microsoft.com/ink/2010/main" type="writingRegion" rotatedBoundingBox="-3610,5477 -3595,5477 -3595,5492 -3610,5492"/>
        </emma:interpretation>
      </emma:emma>
    </inkml:annotationXML>
    <inkml:traceGroup>
      <inkml:annotationXML>
        <emma:emma xmlns:emma="http://www.w3.org/2003/04/emma" version="1.0">
          <emma:interpretation id="{A41ECB4D-6757-464C-95DB-498FD952CBBB}" emma:medium="tactile" emma:mode="ink">
            <msink:context xmlns:msink="http://schemas.microsoft.com/ink/2010/main" type="paragraph" rotatedBoundingBox="-3610,5477 -3595,5477 -3595,5492 -3610,54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2F3E246-C103-48E5-9B3E-BD48EA96526B}" emma:medium="tactile" emma:mode="ink">
              <msink:context xmlns:msink="http://schemas.microsoft.com/ink/2010/main" type="line" rotatedBoundingBox="-3610,5477 -3595,5477 -3595,5492 -3610,5492"/>
            </emma:interpretation>
          </emma:emma>
        </inkml:annotationXML>
        <inkml:traceGroup>
          <inkml:annotationXML>
            <emma:emma xmlns:emma="http://www.w3.org/2003/04/emma" version="1.0">
              <emma:interpretation id="{F412730E-CE30-4E6C-9B0C-103F25B461EF}" emma:medium="tactile" emma:mode="ink">
                <msink:context xmlns:msink="http://schemas.microsoft.com/ink/2010/main" type="inkWord" rotatedBoundingBox="-3610,5477 -3595,5477 -3595,5492 -3610,5492"/>
              </emma:interpretation>
              <emma:one-of disjunction-type="recognition" id="oneOf0">
                <emma:interpretation id="interp0" emma:lang="pt-BR" emma:confidence="0">
                  <emma:literal>.</emma:literal>
                </emma:interpretation>
                <emma:interpretation id="interp1" emma:lang="pt-BR" emma:confidence="0">
                  <emma:literal>-</emma:literal>
                </emma:interpretation>
                <emma:interpretation id="interp2" emma:lang="pt-BR" emma:confidence="0">
                  <emma:literal>:</emma:literal>
                </emma:interpretation>
                <emma:interpretation id="interp3" emma:lang="pt-BR" emma:confidence="0">
                  <emma:literal>1</emma:literal>
                </emma:interpretation>
                <emma:interpretation id="interp4" emma:lang="pt-BR" emma:confidence="0">
                  <emma:literal>a</emma:literal>
                </emma:interpretation>
              </emma:one-of>
            </emma:emma>
          </inkml:annotationXML>
          <inkml:trace contextRef="#ctx0" brushRef="#br0">0 0 0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44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5.29412" units="1/cm"/>
          <inkml:channelProperty channel="Y" name="resolution" value="35.29412" units="1/cm"/>
          <inkml:channelProperty channel="T" name="resolution" value="1" units="1/dev"/>
        </inkml:channelProperties>
      </inkml:inkSource>
      <inkml:timestamp xml:id="ts0" timeString="2016-03-24T12:45:45.95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76695E33-A3EB-4A9A-81B1-F6DBFA428C92}" emma:medium="tactile" emma:mode="ink">
          <msink:context xmlns:msink="http://schemas.microsoft.com/ink/2010/main" type="writingRegion" rotatedBoundingBox="5576,11228 7318,11278 7306,11701 5563,11650"/>
        </emma:interpretation>
      </emma:emma>
    </inkml:annotationXML>
    <inkml:traceGroup>
      <inkml:annotationXML>
        <emma:emma xmlns:emma="http://www.w3.org/2003/04/emma" version="1.0">
          <emma:interpretation id="{D098CAB4-BDC8-4640-9E22-DE264FFFAC09}" emma:medium="tactile" emma:mode="ink">
            <msink:context xmlns:msink="http://schemas.microsoft.com/ink/2010/main" type="paragraph" rotatedBoundingBox="5576,11228 7318,11278 7306,11701 5563,1165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63C51A-7C17-4E73-838C-908DA7FF76EF}" emma:medium="tactile" emma:mode="ink">
              <msink:context xmlns:msink="http://schemas.microsoft.com/ink/2010/main" type="line" rotatedBoundingBox="5576,11228 7318,11278 7306,11701 5563,11650"/>
            </emma:interpretation>
          </emma:emma>
        </inkml:annotationXML>
        <inkml:traceGroup>
          <inkml:annotationXML>
            <emma:emma xmlns:emma="http://www.w3.org/2003/04/emma" version="1.0">
              <emma:interpretation id="{C2C1A5BC-C647-4737-AF03-F949E155B676}" emma:medium="tactile" emma:mode="ink">
                <msink:context xmlns:msink="http://schemas.microsoft.com/ink/2010/main" type="inkWord" rotatedBoundingBox="5576,11228 7318,11278 7306,11701 5563,11650"/>
              </emma:interpretation>
              <emma:one-of disjunction-type="recognition" id="oneOf0">
                <emma:interpretation id="interp0" emma:lang="pt-BR" emma:confidence="0">
                  <emma:literal>.</emma:literal>
                </emma:interpretation>
                <emma:interpretation id="interp1" emma:lang="pt-BR" emma:confidence="0">
                  <emma:literal>§</emma:literal>
                </emma:interpretation>
                <emma:interpretation id="interp2" emma:lang="pt-BR" emma:confidence="0">
                  <emma:literal>F</emma:literal>
                </emma:interpretation>
                <emma:interpretation id="interp3" emma:lang="pt-BR" emma:confidence="0">
                  <emma:literal>C</emma:literal>
                </emma:interpretation>
                <emma:interpretation id="interp4" emma:lang="pt-BR" emma:confidence="0">
                  <emma:literal>:</emma:literal>
                </emma:interpretation>
              </emma:one-of>
            </emma:emma>
          </inkml:annotationXML>
          <inkml:trace contextRef="#ctx0" brushRef="#br0">1316 214 0,'-61'-30'16,"-61"-1"-1,-1 31-15,1-31 16,-1 1-16,1-1 0,-31 1 16,31 30-16,30-31 15,-61 31 1,30 0 0</inkml:trace>
          <inkml:trace contextRef="#ctx0" brushRef="#br0" timeOffset="1315.6391">62 31 0,'0'-31'16,"30"0"-16,93 31 0,-1 0 15,31 0-15,-31 0 16,1 0-16,-1 0 0,1 31 16,30-31-1,0 0 1,-92 0-1,-92 0 1,-122-31-16,0 1 0,31 30 16,-1-31-16,-30 1 15,31 30 1,0-31 0,-1 31 15,276 0-31,-61 0 15,61 0-15,0 0 16,0 0-16,-31 31 0,31-1 16,-30-30-16,-1 31 15,1-1-15,30-30 32,-184 0-17,-91 0-15,-1-30 0,1 30 16,-31-61-16,30 61 15,1-31 1,30 31-16,-30-31 0,-1 31 16,-30 0-1,92 0 1,31-30-16,60 30 0,93 0 16,-1 0-16,0 0 15,1 0-15,30 0 0,-31 30 16,1 1-16,-1-31 15,0 31 1,-91-1 0,-184-60-16,31 30 15,-1-31-15,-30 31 16,31-31-16,30 31 16,-30 0-16,-1 0 15,1 0 1,30 0-1,245 0 1,-31 0 0,1 31-16,-1-31 0,-30 0 0,30 0 15,1 31-15,-31-31 0,61 30 16,-62 1 0,32-31-1,-184 0 1,-62 0-16,-30 0 0,0-31 15,0 31-15,31-30 0,-31 30 16,30 0 0,-30 0-16,62 0 31,91-31-31,0 0 16,122 31-16,31-30 0,-31 30 15,1 0-15,-1 0 0,1 0 47,121 30-31,-213-30-16,-62 0 0,-30 31 0,-92-31 15,31 0-15,-1 0 16,1 0 0,0 0-16,-31 0 0,0 31 46,275-31-46,0 0 0,31 0 16,0 0-16,0 0 0,0 0 16,-61 0-1,31 30 1,30-30 0,-276 0-1,-30 0-15,0 0 0,0 0 16,0-30-16,31 30 15,-1 0-15,-30 0 16,-61 0-16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D2BF7-7195-4CD1-A1C0-43B3C9FA7D44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5F33-7873-49FB-96B1-6ED5259D49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442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5F33-7873-49FB-96B1-6ED5259D498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70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46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53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037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80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747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22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43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59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058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181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88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8C1CA-55C1-49C2-B2F3-B78E3CB53FDE}" type="datetimeFigureOut">
              <a:rPr lang="pt-BR" smtClean="0"/>
              <a:t>24/03/2016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B64C5-631D-4BA7-9584-100E3B71A2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635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rra.com.br/" TargetMode="External"/><Relationship Id="rId2" Type="http://schemas.openxmlformats.org/officeDocument/2006/relationships/hyperlink" Target="http://www.uol.com.b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HTML5 e CSS3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Daniel Kawasaki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194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Corpo Básico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DOCTYPE – É a instrução na primeira linha de código do documento que indica para o browser quais os critérios que ele utilizará para processar o documento</a:t>
            </a:r>
          </a:p>
          <a:p>
            <a:r>
              <a:rPr lang="pt-BR" dirty="0" smtClean="0"/>
              <a:t>HTML Elemento Raiz – É o elemento raiz da estrutura de um </a:t>
            </a:r>
            <a:r>
              <a:rPr lang="pt-BR" dirty="0" err="1" smtClean="0"/>
              <a:t>documento.Ao</a:t>
            </a:r>
            <a:r>
              <a:rPr lang="pt-BR" dirty="0" smtClean="0"/>
              <a:t> exibir um documento web, o navegador também organiza um modelo dos objetos deste documento conhecido como DOM (</a:t>
            </a:r>
            <a:r>
              <a:rPr lang="pt-BR" dirty="0" err="1" smtClean="0"/>
              <a:t>Document</a:t>
            </a:r>
            <a:r>
              <a:rPr lang="pt-BR" dirty="0" smtClean="0"/>
              <a:t> </a:t>
            </a:r>
            <a:r>
              <a:rPr lang="pt-BR" dirty="0" err="1" smtClean="0"/>
              <a:t>Object</a:t>
            </a:r>
            <a:r>
              <a:rPr lang="pt-BR" dirty="0" smtClean="0"/>
              <a:t> </a:t>
            </a:r>
            <a:r>
              <a:rPr lang="pt-BR" dirty="0" err="1" smtClean="0"/>
              <a:t>Model</a:t>
            </a:r>
            <a:r>
              <a:rPr lang="pt-BR" dirty="0" smtClean="0"/>
              <a:t>).</a:t>
            </a:r>
          </a:p>
          <a:p>
            <a:r>
              <a:rPr lang="pt-BR" dirty="0" err="1" smtClean="0"/>
              <a:t>Charset</a:t>
            </a:r>
            <a:r>
              <a:rPr lang="pt-BR" dirty="0" smtClean="0"/>
              <a:t> – É o parâmetro que especifica a codificação de caracteres usada para distribuir ou armazenar um documento. O parâmetro UTF-8 da série Unicode é a indicação mais utilizada.</a:t>
            </a:r>
          </a:p>
          <a:p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628800"/>
            <a:ext cx="4032448" cy="15411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3169914"/>
            <a:ext cx="4032448" cy="1654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956008"/>
            <a:ext cx="4032449" cy="17537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52" y="4843203"/>
            <a:ext cx="4032448" cy="17418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44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Corpo Básico HTML5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Deve conter:</a:t>
            </a:r>
          </a:p>
          <a:p>
            <a:pPr lvl="1"/>
            <a:r>
              <a:rPr lang="pt-BR" dirty="0"/>
              <a:t>DOCTYPE &lt;!DOCTYPE </a:t>
            </a:r>
            <a:r>
              <a:rPr lang="pt-BR" dirty="0" err="1"/>
              <a:t>html</a:t>
            </a:r>
            <a:r>
              <a:rPr lang="pt-BR" dirty="0" smtClean="0"/>
              <a:t>&gt;;</a:t>
            </a:r>
          </a:p>
          <a:p>
            <a:pPr lvl="1"/>
            <a:r>
              <a:rPr lang="pt-BR" dirty="0" smtClean="0"/>
              <a:t>Elemento Raiz &lt;</a:t>
            </a:r>
            <a:r>
              <a:rPr lang="pt-BR" dirty="0" err="1" smtClean="0"/>
              <a:t>html</a:t>
            </a:r>
            <a:r>
              <a:rPr lang="pt-BR" dirty="0" smtClean="0"/>
              <a:t>&gt; &lt;/</a:t>
            </a:r>
            <a:r>
              <a:rPr lang="pt-BR" dirty="0" err="1" smtClean="0"/>
              <a:t>html</a:t>
            </a:r>
            <a:r>
              <a:rPr lang="pt-BR" dirty="0" smtClean="0"/>
              <a:t>&gt;;</a:t>
            </a:r>
          </a:p>
          <a:p>
            <a:pPr lvl="1"/>
            <a:r>
              <a:rPr lang="pt-BR" dirty="0" smtClean="0"/>
              <a:t>Elementos </a:t>
            </a:r>
            <a:r>
              <a:rPr lang="pt-BR" dirty="0" err="1" smtClean="0"/>
              <a:t>head</a:t>
            </a:r>
            <a:r>
              <a:rPr lang="pt-BR" dirty="0" smtClean="0"/>
              <a:t>, </a:t>
            </a:r>
            <a:r>
              <a:rPr lang="pt-BR" dirty="0" err="1" smtClean="0"/>
              <a:t>title</a:t>
            </a:r>
            <a:r>
              <a:rPr lang="pt-BR" dirty="0" smtClean="0"/>
              <a:t> e </a:t>
            </a:r>
            <a:r>
              <a:rPr lang="pt-BR" dirty="0" err="1" smtClean="0"/>
              <a:t>body</a:t>
            </a:r>
            <a:r>
              <a:rPr lang="pt-BR" dirty="0" smtClean="0"/>
              <a:t>;</a:t>
            </a:r>
          </a:p>
          <a:p>
            <a:pPr lvl="2"/>
            <a:r>
              <a:rPr lang="pt-BR" dirty="0" smtClean="0"/>
              <a:t>Elementos permitidos com uso de caixa alta (</a:t>
            </a:r>
            <a:r>
              <a:rPr lang="pt-BR" dirty="0" err="1" smtClean="0"/>
              <a:t>maíusculas</a:t>
            </a:r>
            <a:r>
              <a:rPr lang="pt-BR" dirty="0" smtClean="0"/>
              <a:t>) ou caixa baixa (minúsculas);</a:t>
            </a:r>
          </a:p>
          <a:p>
            <a:pPr lvl="1"/>
            <a:r>
              <a:rPr lang="pt-BR" dirty="0" smtClean="0"/>
              <a:t>Elementos vazios podem ou não exibir a </a:t>
            </a:r>
            <a:r>
              <a:rPr lang="pt-BR" dirty="0" err="1" smtClean="0"/>
              <a:t>tag</a:t>
            </a:r>
            <a:r>
              <a:rPr lang="pt-BR" dirty="0" smtClean="0"/>
              <a:t> de fechamento final;</a:t>
            </a:r>
          </a:p>
          <a:p>
            <a:pPr lvl="1"/>
            <a:r>
              <a:rPr lang="pt-BR" dirty="0" smtClean="0"/>
              <a:t>Valores do atributos entre aspas duplas ou não;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044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Documento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Head</a:t>
            </a:r>
          </a:p>
          <a:p>
            <a:pPr lvl="1"/>
            <a:r>
              <a:rPr lang="pt-BR" dirty="0" smtClean="0"/>
              <a:t>Elemento obrigatório da estrutura básica, é ele quem abriga os </a:t>
            </a:r>
            <a:r>
              <a:rPr lang="pt-BR" dirty="0" err="1" smtClean="0"/>
              <a:t>metadados</a:t>
            </a:r>
            <a:r>
              <a:rPr lang="pt-BR" dirty="0" smtClean="0"/>
              <a:t> do documento. Seu posicionamento é imediatamente após o DOCTYPE e elemento raiz (</a:t>
            </a:r>
            <a:r>
              <a:rPr lang="pt-BR" dirty="0" err="1" smtClean="0"/>
              <a:t>html</a:t>
            </a:r>
            <a:r>
              <a:rPr lang="pt-BR" dirty="0" smtClean="0"/>
              <a:t>)</a:t>
            </a:r>
          </a:p>
          <a:p>
            <a:pPr lvl="1"/>
            <a:r>
              <a:rPr lang="pt-BR" dirty="0" smtClean="0"/>
              <a:t>Dentro do elemento </a:t>
            </a:r>
            <a:r>
              <a:rPr lang="pt-BR" dirty="0" err="1" smtClean="0"/>
              <a:t>head</a:t>
            </a:r>
            <a:r>
              <a:rPr lang="pt-BR" dirty="0" smtClean="0"/>
              <a:t> são colocados os seguintes elementos:</a:t>
            </a:r>
          </a:p>
          <a:p>
            <a:pPr lvl="2"/>
            <a:r>
              <a:rPr lang="pt-BR" dirty="0" err="1" smtClean="0"/>
              <a:t>title</a:t>
            </a:r>
            <a:endParaRPr lang="pt-BR" dirty="0" smtClean="0"/>
          </a:p>
          <a:p>
            <a:pPr lvl="2"/>
            <a:r>
              <a:rPr lang="pt-BR" dirty="0" smtClean="0"/>
              <a:t>base</a:t>
            </a:r>
          </a:p>
          <a:p>
            <a:pPr lvl="2"/>
            <a:r>
              <a:rPr lang="pt-BR" dirty="0" smtClean="0"/>
              <a:t>link</a:t>
            </a:r>
          </a:p>
          <a:p>
            <a:pPr lvl="2"/>
            <a:r>
              <a:rPr lang="pt-BR" dirty="0" smtClean="0"/>
              <a:t>meta</a:t>
            </a:r>
          </a:p>
          <a:p>
            <a:pPr lvl="3"/>
            <a:r>
              <a:rPr lang="pt-BR" dirty="0" err="1" smtClean="0"/>
              <a:t>keywords</a:t>
            </a:r>
            <a:endParaRPr lang="pt-BR" dirty="0" smtClean="0"/>
          </a:p>
          <a:p>
            <a:pPr lvl="3"/>
            <a:r>
              <a:rPr lang="pt-BR" dirty="0" err="1"/>
              <a:t>d</a:t>
            </a:r>
            <a:r>
              <a:rPr lang="pt-BR" dirty="0" err="1" smtClean="0"/>
              <a:t>escription</a:t>
            </a:r>
            <a:endParaRPr lang="pt-BR" dirty="0" smtClean="0"/>
          </a:p>
          <a:p>
            <a:pPr lvl="3"/>
            <a:r>
              <a:rPr lang="pt-BR" dirty="0" err="1" smtClean="0"/>
              <a:t>author</a:t>
            </a:r>
            <a:endParaRPr lang="pt-BR" dirty="0" smtClean="0"/>
          </a:p>
          <a:p>
            <a:pPr lvl="2"/>
            <a:r>
              <a:rPr lang="pt-BR" dirty="0" err="1" smtClean="0"/>
              <a:t>style</a:t>
            </a:r>
            <a:endParaRPr lang="pt-BR" dirty="0" smtClean="0"/>
          </a:p>
          <a:p>
            <a:pPr marL="1371600" lvl="3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7677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Documento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err="1" smtClean="0"/>
              <a:t>Title</a:t>
            </a:r>
            <a:endParaRPr lang="pt-BR" dirty="0" smtClean="0"/>
          </a:p>
          <a:p>
            <a:pPr lvl="1"/>
            <a:r>
              <a:rPr lang="pt-BR" dirty="0" smtClean="0"/>
              <a:t>Define o título do documento e pode conter todo tipo de caracteres.</a:t>
            </a:r>
          </a:p>
          <a:p>
            <a:pPr marL="457200" lvl="1" indent="0">
              <a:buNone/>
            </a:pPr>
            <a:r>
              <a:rPr lang="pt-BR" dirty="0" smtClean="0"/>
              <a:t>Exemplos:</a:t>
            </a:r>
          </a:p>
          <a:p>
            <a:pPr marL="914400" lvl="2" indent="0">
              <a:buNone/>
            </a:pPr>
            <a:r>
              <a:rPr lang="pt-BR" dirty="0" smtClean="0"/>
              <a:t>UOL – </a:t>
            </a:r>
            <a:r>
              <a:rPr lang="pt-BR" dirty="0" smtClean="0">
                <a:hlinkClick r:id="rId2"/>
              </a:rPr>
              <a:t>http://www.uol.com.br</a:t>
            </a:r>
            <a:endParaRPr lang="pt-BR" dirty="0" smtClean="0"/>
          </a:p>
          <a:p>
            <a:pPr marL="914400" lvl="2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title</a:t>
            </a:r>
            <a:r>
              <a:rPr lang="pt-BR" dirty="0" smtClean="0"/>
              <a:t>&gt;UOL – O melhor conteúdo&lt;/</a:t>
            </a:r>
            <a:r>
              <a:rPr lang="pt-BR" dirty="0" err="1" smtClean="0"/>
              <a:t>title</a:t>
            </a:r>
            <a:r>
              <a:rPr lang="pt-BR" dirty="0" smtClean="0"/>
              <a:t>&gt;</a:t>
            </a:r>
          </a:p>
          <a:p>
            <a:pPr marL="914400" lvl="2" indent="0">
              <a:buNone/>
            </a:pPr>
            <a:endParaRPr lang="pt-BR" dirty="0"/>
          </a:p>
          <a:p>
            <a:pPr marL="914400" lvl="2" indent="0">
              <a:buNone/>
            </a:pPr>
            <a:r>
              <a:rPr lang="pt-BR" dirty="0" smtClean="0"/>
              <a:t>TERRA – </a:t>
            </a:r>
            <a:r>
              <a:rPr lang="pt-BR" dirty="0" smtClean="0">
                <a:hlinkClick r:id="rId3"/>
              </a:rPr>
              <a:t>http://www.terra.com.br</a:t>
            </a:r>
            <a:endParaRPr lang="pt-BR" dirty="0" smtClean="0"/>
          </a:p>
          <a:p>
            <a:pPr marL="914400" lvl="2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title</a:t>
            </a:r>
            <a:r>
              <a:rPr lang="pt-BR" dirty="0" smtClean="0"/>
              <a:t>&gt;Terra – Notícias, vídeos, esportes, economia, diversão, música, moda, </a:t>
            </a:r>
            <a:r>
              <a:rPr lang="pt-BR" dirty="0" err="1" smtClean="0"/>
              <a:t>fotolog</a:t>
            </a:r>
            <a:r>
              <a:rPr lang="pt-BR" dirty="0" smtClean="0"/>
              <a:t>, blog, chat&lt;/</a:t>
            </a:r>
            <a:r>
              <a:rPr lang="pt-BR" dirty="0" err="1" smtClean="0"/>
              <a:t>title</a:t>
            </a:r>
            <a:r>
              <a:rPr lang="pt-BR" dirty="0" smtClean="0"/>
              <a:t>&gt;</a:t>
            </a:r>
          </a:p>
          <a:p>
            <a:pPr marL="914400" lvl="2" indent="0">
              <a:buNone/>
            </a:pPr>
            <a:endParaRPr lang="pt-BR" dirty="0"/>
          </a:p>
          <a:p>
            <a:r>
              <a:rPr lang="pt-BR" dirty="0" smtClean="0"/>
              <a:t>A correta atribuição e nomenclatura dos elementos </a:t>
            </a:r>
            <a:r>
              <a:rPr lang="pt-BR" dirty="0" err="1" smtClean="0"/>
              <a:t>title</a:t>
            </a:r>
            <a:r>
              <a:rPr lang="pt-BR" dirty="0" smtClean="0"/>
              <a:t> de cada um dos documentos que </a:t>
            </a:r>
            <a:r>
              <a:rPr lang="pt-BR" dirty="0" err="1" smtClean="0"/>
              <a:t>compÕem</a:t>
            </a:r>
            <a:r>
              <a:rPr lang="pt-BR" dirty="0" smtClean="0"/>
              <a:t> uma aplicação web é fundamental para a correta indexação do seu conteúdo pelos mecanismos de busca.</a:t>
            </a:r>
          </a:p>
        </p:txBody>
      </p:sp>
    </p:spTree>
    <p:extLst>
      <p:ext uri="{BB962C8B-B14F-4D97-AF65-F5344CB8AC3E}">
        <p14:creationId xmlns:p14="http://schemas.microsoft.com/office/powerpoint/2010/main" val="144535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Corpo Básico HTML5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pt-BR" dirty="0" smtClean="0"/>
              <a:t>&lt;!DOCTYPE 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</a:p>
          <a:p>
            <a:pPr marL="457200" lvl="1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html</a:t>
            </a:r>
            <a:r>
              <a:rPr lang="pt-BR" dirty="0" smtClean="0"/>
              <a:t> </a:t>
            </a:r>
            <a:r>
              <a:rPr lang="pt-BR" dirty="0" err="1" smtClean="0"/>
              <a:t>lang</a:t>
            </a:r>
            <a:r>
              <a:rPr lang="pt-BR" dirty="0" smtClean="0"/>
              <a:t>="</a:t>
            </a:r>
            <a:r>
              <a:rPr lang="pt-BR" dirty="0" err="1" smtClean="0"/>
              <a:t>pt-br</a:t>
            </a:r>
            <a:r>
              <a:rPr lang="pt-BR" dirty="0" smtClean="0"/>
              <a:t>"&gt;</a:t>
            </a:r>
          </a:p>
          <a:p>
            <a:pPr marL="457200" lvl="1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</a:p>
          <a:p>
            <a:pPr marL="457200" lvl="1" indent="0">
              <a:buNone/>
            </a:pPr>
            <a:r>
              <a:rPr lang="pt-BR" dirty="0" smtClean="0"/>
              <a:t>&lt;meta </a:t>
            </a:r>
            <a:r>
              <a:rPr lang="pt-BR" dirty="0" err="1" smtClean="0"/>
              <a:t>charset</a:t>
            </a:r>
            <a:r>
              <a:rPr lang="pt-BR" dirty="0" smtClean="0"/>
              <a:t>="utf-8"/&gt;</a:t>
            </a:r>
          </a:p>
          <a:p>
            <a:pPr marL="457200" lvl="1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title</a:t>
            </a:r>
            <a:r>
              <a:rPr lang="pt-BR" dirty="0" smtClean="0"/>
              <a:t>&gt;HTML5 – Estrutura básica&lt;/</a:t>
            </a:r>
            <a:r>
              <a:rPr lang="pt-BR" dirty="0" err="1" smtClean="0"/>
              <a:t>title</a:t>
            </a:r>
            <a:r>
              <a:rPr lang="pt-BR" dirty="0" smtClean="0"/>
              <a:t>&gt;</a:t>
            </a:r>
          </a:p>
          <a:p>
            <a:pPr marL="457200" lvl="1" indent="0">
              <a:buNone/>
            </a:pPr>
            <a:r>
              <a:rPr lang="pt-BR" dirty="0" smtClean="0"/>
              <a:t>&lt;/</a:t>
            </a:r>
            <a:r>
              <a:rPr lang="pt-BR" dirty="0" err="1" smtClean="0"/>
              <a:t>head</a:t>
            </a:r>
            <a:r>
              <a:rPr lang="pt-BR" dirty="0" smtClean="0"/>
              <a:t>&gt;</a:t>
            </a:r>
          </a:p>
          <a:p>
            <a:pPr marL="457200" lvl="1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</a:p>
          <a:p>
            <a:pPr marL="457200" lvl="1" indent="0">
              <a:buNone/>
            </a:pPr>
            <a:r>
              <a:rPr lang="pt-BR" dirty="0" smtClean="0"/>
              <a:t>&lt;/</a:t>
            </a:r>
            <a:r>
              <a:rPr lang="pt-BR" dirty="0" err="1" smtClean="0"/>
              <a:t>body</a:t>
            </a:r>
            <a:r>
              <a:rPr lang="pt-BR" dirty="0" smtClean="0"/>
              <a:t>&gt;</a:t>
            </a:r>
          </a:p>
          <a:p>
            <a:pPr marL="457200" lvl="1" indent="0">
              <a:buNone/>
            </a:pPr>
            <a:r>
              <a:rPr lang="pt-BR" dirty="0" smtClean="0"/>
              <a:t>&lt;/</a:t>
            </a:r>
            <a:r>
              <a:rPr lang="pt-BR" dirty="0" err="1" smtClean="0"/>
              <a:t>html</a:t>
            </a:r>
            <a:r>
              <a:rPr lang="pt-BR" dirty="0" smtClean="0"/>
              <a:t>&gt;</a:t>
            </a:r>
          </a:p>
        </p:txBody>
      </p:sp>
      <p:sp>
        <p:nvSpPr>
          <p:cNvPr id="4" name="Retângulo 3"/>
          <p:cNvSpPr/>
          <p:nvPr/>
        </p:nvSpPr>
        <p:spPr>
          <a:xfrm>
            <a:off x="457200" y="1600200"/>
            <a:ext cx="8075240" cy="4133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 smtClean="0"/>
              <a:t>Digite essa estrutura em um arquivo no bloco de notas e salve-a com o nome </a:t>
            </a:r>
            <a:r>
              <a:rPr lang="pt-BR" sz="4400" dirty="0" err="1" smtClean="0"/>
              <a:t>base.html</a:t>
            </a:r>
            <a:r>
              <a:rPr lang="pt-BR" sz="4400" dirty="0" smtClean="0"/>
              <a:t> e teste no navegador.</a:t>
            </a:r>
            <a:endParaRPr lang="pt-BR" sz="4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Tinta 5"/>
              <p14:cNvContentPartPr/>
              <p14:nvPr/>
            </p14:nvContentPartPr>
            <p14:xfrm>
              <a:off x="-1299852" y="1972067"/>
              <a:ext cx="360" cy="360"/>
            </p14:xfrm>
          </p:contentPart>
        </mc:Choice>
        <mc:Fallback xmlns="">
          <p:pic>
            <p:nvPicPr>
              <p:cNvPr id="6" name="Tinta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11732" y="1960187"/>
                <a:ext cx="2412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366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As categorias são:</a:t>
            </a:r>
          </a:p>
          <a:p>
            <a:pPr lvl="1"/>
            <a:r>
              <a:rPr lang="pt-BR" dirty="0" err="1" smtClean="0"/>
              <a:t>Metadata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err="1" smtClean="0"/>
              <a:t>Sectioning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err="1" smtClean="0"/>
              <a:t>Flow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err="1" smtClean="0"/>
              <a:t>Heading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err="1" smtClean="0"/>
              <a:t>Phrasing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err="1" smtClean="0"/>
              <a:t>Embedded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err="1" smtClean="0"/>
              <a:t>Interactive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811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Matadata</a:t>
            </a:r>
            <a:r>
              <a:rPr lang="pt-BR" dirty="0"/>
              <a:t> </a:t>
            </a:r>
            <a:r>
              <a:rPr lang="pt-BR" dirty="0" err="1"/>
              <a:t>content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09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Matadata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r>
              <a:rPr lang="pt-BR" dirty="0" smtClean="0"/>
              <a:t>:</a:t>
            </a:r>
          </a:p>
          <a:p>
            <a:pPr lvl="1"/>
            <a:r>
              <a:rPr lang="pt-BR" dirty="0" smtClean="0"/>
              <a:t>Inclui os elementos que determinam a maneira como será exibido o conteúdo do documento,  de que forma este documento se comportará e como ele se relacionará com outros documentos.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403648" y="4509120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base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command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link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meta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noscript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script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style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title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41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Documento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Link</a:t>
            </a:r>
          </a:p>
          <a:p>
            <a:pPr lvl="1"/>
            <a:r>
              <a:rPr lang="pt-BR" dirty="0" smtClean="0"/>
              <a:t>Não cria um link visível no documento, mas gera </a:t>
            </a:r>
            <a:r>
              <a:rPr lang="pt-BR" dirty="0" err="1" smtClean="0"/>
              <a:t>metadados</a:t>
            </a:r>
            <a:r>
              <a:rPr lang="pt-BR" dirty="0" smtClean="0"/>
              <a:t> que são interpretados pelo navegador.</a:t>
            </a:r>
          </a:p>
          <a:p>
            <a:pPr marL="457200" lvl="1" indent="0">
              <a:buNone/>
            </a:pPr>
            <a:r>
              <a:rPr lang="pt-BR" dirty="0" smtClean="0"/>
              <a:t>Exemplo:</a:t>
            </a:r>
          </a:p>
          <a:p>
            <a:pPr marL="914400" lvl="2" indent="0">
              <a:buNone/>
            </a:pPr>
            <a:r>
              <a:rPr lang="pt-BR" dirty="0" smtClean="0"/>
              <a:t>Folha de estilo</a:t>
            </a:r>
          </a:p>
          <a:p>
            <a:pPr marL="914400" lvl="2" indent="0">
              <a:buNone/>
            </a:pPr>
            <a:r>
              <a:rPr lang="pt-BR" dirty="0" smtClean="0"/>
              <a:t>&lt;link </a:t>
            </a:r>
            <a:r>
              <a:rPr lang="pt-BR" dirty="0" err="1" smtClean="0"/>
              <a:t>rel</a:t>
            </a:r>
            <a:r>
              <a:rPr lang="pt-BR" dirty="0" smtClean="0"/>
              <a:t>=“</a:t>
            </a:r>
            <a:r>
              <a:rPr lang="pt-BR" dirty="0" err="1" smtClean="0"/>
              <a:t>stylesheet</a:t>
            </a:r>
            <a:r>
              <a:rPr lang="pt-BR" dirty="0" smtClean="0"/>
              <a:t>” </a:t>
            </a:r>
            <a:r>
              <a:rPr lang="pt-BR" dirty="0" err="1" smtClean="0"/>
              <a:t>href</a:t>
            </a:r>
            <a:r>
              <a:rPr lang="pt-BR" dirty="0" smtClean="0"/>
              <a:t>=“estilo.css” </a:t>
            </a:r>
            <a:r>
              <a:rPr lang="pt-BR" dirty="0" err="1" smtClean="0"/>
              <a:t>type</a:t>
            </a:r>
            <a:r>
              <a:rPr lang="pt-BR" dirty="0" smtClean="0"/>
              <a:t>=“</a:t>
            </a:r>
            <a:r>
              <a:rPr lang="pt-BR" dirty="0" err="1" smtClean="0"/>
              <a:t>text</a:t>
            </a:r>
            <a:r>
              <a:rPr lang="pt-BR" dirty="0" smtClean="0"/>
              <a:t>/</a:t>
            </a:r>
            <a:r>
              <a:rPr lang="pt-BR" dirty="0" err="1" smtClean="0"/>
              <a:t>css</a:t>
            </a:r>
            <a:r>
              <a:rPr lang="pt-BR" dirty="0" smtClean="0"/>
              <a:t>” media=“</a:t>
            </a:r>
            <a:r>
              <a:rPr lang="pt-BR" dirty="0" err="1" smtClean="0"/>
              <a:t>screen</a:t>
            </a:r>
            <a:r>
              <a:rPr lang="pt-BR" dirty="0" smtClean="0"/>
              <a:t>” /&gt;</a:t>
            </a:r>
          </a:p>
          <a:p>
            <a:pPr lvl="2"/>
            <a:endParaRPr lang="pt-BR" dirty="0"/>
          </a:p>
          <a:p>
            <a:pPr marL="914400" lvl="2" indent="0">
              <a:buNone/>
            </a:pPr>
            <a:r>
              <a:rPr lang="pt-BR" dirty="0" smtClean="0"/>
              <a:t>Ícone favoritos</a:t>
            </a:r>
          </a:p>
          <a:p>
            <a:pPr marL="914400" lvl="2" indent="0">
              <a:buNone/>
            </a:pPr>
            <a:r>
              <a:rPr lang="pt-BR" dirty="0" smtClean="0"/>
              <a:t>&lt;link </a:t>
            </a:r>
            <a:r>
              <a:rPr lang="pt-BR" dirty="0" err="1" smtClean="0"/>
              <a:t>rel</a:t>
            </a:r>
            <a:r>
              <a:rPr lang="pt-BR" dirty="0" smtClean="0"/>
              <a:t>=“</a:t>
            </a:r>
            <a:r>
              <a:rPr lang="pt-BR" dirty="0" err="1" smtClean="0"/>
              <a:t>icon</a:t>
            </a:r>
            <a:r>
              <a:rPr lang="pt-BR" dirty="0" smtClean="0"/>
              <a:t>” </a:t>
            </a:r>
            <a:r>
              <a:rPr lang="pt-BR" dirty="0" err="1" smtClean="0"/>
              <a:t>href</a:t>
            </a:r>
            <a:r>
              <a:rPr lang="pt-BR" dirty="0" smtClean="0"/>
              <a:t>=“/</a:t>
            </a:r>
            <a:r>
              <a:rPr lang="pt-BR" dirty="0" err="1" smtClean="0"/>
              <a:t>img</a:t>
            </a:r>
            <a:r>
              <a:rPr lang="pt-BR" dirty="0" smtClean="0"/>
              <a:t>/favicon.ico” </a:t>
            </a:r>
            <a:r>
              <a:rPr lang="pt-BR" dirty="0" err="1" smtClean="0"/>
              <a:t>type</a:t>
            </a:r>
            <a:r>
              <a:rPr lang="pt-BR" dirty="0" smtClean="0"/>
              <a:t>=“</a:t>
            </a:r>
            <a:r>
              <a:rPr lang="pt-BR" dirty="0" err="1" smtClean="0"/>
              <a:t>image</a:t>
            </a:r>
            <a:r>
              <a:rPr lang="pt-BR" dirty="0" smtClean="0"/>
              <a:t>/x-</a:t>
            </a:r>
            <a:r>
              <a:rPr lang="pt-BR" dirty="0" err="1" smtClean="0"/>
              <a:t>icon</a:t>
            </a:r>
            <a:r>
              <a:rPr lang="pt-BR" dirty="0" smtClean="0"/>
              <a:t>” /&gt;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362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Documento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Crie um </a:t>
            </a:r>
            <a:r>
              <a:rPr lang="pt-BR" dirty="0" err="1" smtClean="0"/>
              <a:t>favicon</a:t>
            </a:r>
            <a:endParaRPr lang="pt-BR" dirty="0" smtClean="0"/>
          </a:p>
          <a:p>
            <a:pPr lvl="1"/>
            <a:r>
              <a:rPr lang="pt-BR" dirty="0" err="1" smtClean="0"/>
              <a:t>http</a:t>
            </a:r>
            <a:r>
              <a:rPr lang="pt-BR" dirty="0"/>
              <a:t>://</a:t>
            </a:r>
            <a:r>
              <a:rPr lang="pt-BR" dirty="0" err="1"/>
              <a:t>www.favicon.cc</a:t>
            </a:r>
            <a:r>
              <a:rPr lang="pt-BR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73020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Documento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Meta</a:t>
            </a:r>
          </a:p>
          <a:p>
            <a:pPr lvl="1"/>
            <a:r>
              <a:rPr lang="pt-BR" dirty="0" err="1" smtClean="0"/>
              <a:t>Keywords</a:t>
            </a:r>
            <a:r>
              <a:rPr lang="pt-BR" dirty="0" smtClean="0"/>
              <a:t> - Palavras chave</a:t>
            </a:r>
          </a:p>
          <a:p>
            <a:pPr marL="914400" lvl="2" indent="0">
              <a:buNone/>
            </a:pPr>
            <a:r>
              <a:rPr lang="pt-BR" dirty="0" smtClean="0"/>
              <a:t>&lt;meta </a:t>
            </a:r>
            <a:r>
              <a:rPr lang="pt-BR" dirty="0" err="1" smtClean="0"/>
              <a:t>name</a:t>
            </a:r>
            <a:r>
              <a:rPr lang="pt-BR" dirty="0" smtClean="0"/>
              <a:t>=“</a:t>
            </a:r>
            <a:r>
              <a:rPr lang="pt-BR" dirty="0" err="1" smtClean="0"/>
              <a:t>keywords</a:t>
            </a:r>
            <a:r>
              <a:rPr lang="pt-BR" dirty="0" smtClean="0"/>
              <a:t>” </a:t>
            </a:r>
            <a:r>
              <a:rPr lang="pt-BR" dirty="0" err="1" smtClean="0"/>
              <a:t>content</a:t>
            </a:r>
            <a:r>
              <a:rPr lang="pt-BR" dirty="0" smtClean="0"/>
              <a:t>=“</a:t>
            </a:r>
            <a:r>
              <a:rPr lang="pt-BR" dirty="0" smtClean="0">
                <a:solidFill>
                  <a:srgbClr val="FF0000"/>
                </a:solidFill>
              </a:rPr>
              <a:t>palavras chaves</a:t>
            </a:r>
            <a:r>
              <a:rPr lang="pt-BR" dirty="0" smtClean="0"/>
              <a:t>” /&gt;</a:t>
            </a:r>
          </a:p>
          <a:p>
            <a:pPr lvl="1"/>
            <a:r>
              <a:rPr lang="pt-BR" dirty="0" err="1" smtClean="0"/>
              <a:t>Description</a:t>
            </a:r>
            <a:r>
              <a:rPr lang="pt-BR" dirty="0" smtClean="0"/>
              <a:t> – Descrição</a:t>
            </a:r>
          </a:p>
          <a:p>
            <a:pPr marL="914400" lvl="2" indent="0">
              <a:buNone/>
            </a:pPr>
            <a:r>
              <a:rPr lang="pt-BR" dirty="0"/>
              <a:t>&lt;meta </a:t>
            </a:r>
            <a:r>
              <a:rPr lang="pt-BR" dirty="0" err="1"/>
              <a:t>name</a:t>
            </a:r>
            <a:r>
              <a:rPr lang="pt-BR" dirty="0" smtClean="0"/>
              <a:t>=“</a:t>
            </a:r>
            <a:r>
              <a:rPr lang="pt-BR" dirty="0" err="1" smtClean="0"/>
              <a:t>description</a:t>
            </a:r>
            <a:r>
              <a:rPr lang="pt-BR" dirty="0" smtClean="0"/>
              <a:t>” </a:t>
            </a:r>
            <a:r>
              <a:rPr lang="pt-BR" dirty="0" err="1"/>
              <a:t>content</a:t>
            </a:r>
            <a:r>
              <a:rPr lang="pt-BR" dirty="0" smtClean="0"/>
              <a:t>=“</a:t>
            </a:r>
            <a:r>
              <a:rPr lang="pt-BR" dirty="0" smtClean="0">
                <a:solidFill>
                  <a:srgbClr val="FF0000"/>
                </a:solidFill>
              </a:rPr>
              <a:t>descri</a:t>
            </a:r>
            <a:r>
              <a:rPr lang="en-US" dirty="0" err="1" smtClean="0">
                <a:solidFill>
                  <a:srgbClr val="FF0000"/>
                </a:solidFill>
              </a:rPr>
              <a:t>ção</a:t>
            </a:r>
            <a:r>
              <a:rPr lang="en-US" dirty="0" smtClean="0">
                <a:solidFill>
                  <a:srgbClr val="FF0000"/>
                </a:solidFill>
              </a:rPr>
              <a:t> do </a:t>
            </a:r>
            <a:r>
              <a:rPr lang="en-US" dirty="0" err="1" smtClean="0">
                <a:solidFill>
                  <a:srgbClr val="FF0000"/>
                </a:solidFill>
              </a:rPr>
              <a:t>assunto</a:t>
            </a:r>
            <a:r>
              <a:rPr lang="en-US" dirty="0" smtClean="0">
                <a:solidFill>
                  <a:srgbClr val="FF0000"/>
                </a:solidFill>
              </a:rPr>
              <a:t> da </a:t>
            </a:r>
            <a:r>
              <a:rPr lang="en-US" dirty="0" err="1" smtClean="0">
                <a:solidFill>
                  <a:srgbClr val="FF0000"/>
                </a:solidFill>
              </a:rPr>
              <a:t>página</a:t>
            </a:r>
            <a:r>
              <a:rPr lang="pt-BR" dirty="0" smtClean="0"/>
              <a:t>” /&gt;</a:t>
            </a:r>
          </a:p>
          <a:p>
            <a:pPr lvl="1"/>
            <a:r>
              <a:rPr lang="pt-BR" dirty="0" err="1" smtClean="0"/>
              <a:t>Author</a:t>
            </a:r>
            <a:r>
              <a:rPr lang="pt-BR" dirty="0" smtClean="0"/>
              <a:t> – Autor do documento</a:t>
            </a:r>
          </a:p>
          <a:p>
            <a:pPr marL="914400" lvl="2" indent="0">
              <a:buNone/>
            </a:pPr>
            <a:r>
              <a:rPr lang="pt-BR" dirty="0"/>
              <a:t>&lt;meta </a:t>
            </a:r>
            <a:r>
              <a:rPr lang="pt-BR" dirty="0" err="1"/>
              <a:t>name</a:t>
            </a:r>
            <a:r>
              <a:rPr lang="pt-BR" dirty="0" smtClean="0"/>
              <a:t>=“</a:t>
            </a:r>
            <a:r>
              <a:rPr lang="pt-BR" dirty="0" err="1" smtClean="0"/>
              <a:t>author</a:t>
            </a:r>
            <a:r>
              <a:rPr lang="pt-BR" dirty="0" smtClean="0"/>
              <a:t>” </a:t>
            </a:r>
            <a:r>
              <a:rPr lang="pt-BR" dirty="0" err="1"/>
              <a:t>content</a:t>
            </a:r>
            <a:r>
              <a:rPr lang="pt-BR" dirty="0" smtClean="0"/>
              <a:t>=“</a:t>
            </a:r>
            <a:r>
              <a:rPr lang="pt-BR" dirty="0" smtClean="0">
                <a:solidFill>
                  <a:srgbClr val="FF0000"/>
                </a:solidFill>
              </a:rPr>
              <a:t>nome do dono da </a:t>
            </a:r>
            <a:r>
              <a:rPr lang="pt-BR" dirty="0" err="1" smtClean="0">
                <a:solidFill>
                  <a:srgbClr val="FF0000"/>
                </a:solidFill>
              </a:rPr>
              <a:t>p</a:t>
            </a:r>
            <a:r>
              <a:rPr lang="en-US" dirty="0" err="1" smtClean="0">
                <a:solidFill>
                  <a:srgbClr val="FF0000"/>
                </a:solidFill>
              </a:rPr>
              <a:t>ágina</a:t>
            </a:r>
            <a:r>
              <a:rPr lang="pt-BR" dirty="0" smtClean="0"/>
              <a:t>” /&gt;</a:t>
            </a:r>
          </a:p>
          <a:p>
            <a:pPr marL="914400" lvl="2" indent="0">
              <a:buNone/>
            </a:pPr>
            <a:endParaRPr lang="pt-BR" dirty="0"/>
          </a:p>
          <a:p>
            <a:r>
              <a:rPr lang="en-US" dirty="0" err="1"/>
              <a:t>Essas</a:t>
            </a:r>
            <a:r>
              <a:rPr lang="en-US" dirty="0"/>
              <a:t> tags </a:t>
            </a:r>
            <a:r>
              <a:rPr lang="en-US" dirty="0" err="1"/>
              <a:t>são</a:t>
            </a:r>
            <a:r>
              <a:rPr lang="en-US" dirty="0"/>
              <a:t> meta-dados e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aparecem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janela</a:t>
            </a:r>
            <a:r>
              <a:rPr lang="en-US" dirty="0"/>
              <a:t> do </a:t>
            </a:r>
            <a:r>
              <a:rPr lang="en-US" dirty="0" err="1"/>
              <a:t>navegador</a:t>
            </a:r>
            <a:r>
              <a:rPr lang="en-US" dirty="0"/>
              <a:t>.</a:t>
            </a:r>
          </a:p>
          <a:p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ficam</a:t>
            </a:r>
            <a:r>
              <a:rPr lang="en-US" dirty="0"/>
              <a:t> </a:t>
            </a:r>
            <a:r>
              <a:rPr lang="en-US" dirty="0" err="1"/>
              <a:t>sempres</a:t>
            </a:r>
            <a:r>
              <a:rPr lang="en-US" dirty="0"/>
              <a:t> entre as tags &lt;head&gt; &lt;/head&gt;.</a:t>
            </a:r>
          </a:p>
          <a:p>
            <a:pPr marL="914400" lvl="2" indent="0">
              <a:buNone/>
            </a:pPr>
            <a:endParaRPr lang="pt-BR" dirty="0" smtClean="0"/>
          </a:p>
          <a:p>
            <a:pPr lvl="1"/>
            <a:endParaRPr lang="pt-BR" dirty="0"/>
          </a:p>
        </p:txBody>
      </p:sp>
      <p:sp>
        <p:nvSpPr>
          <p:cNvPr id="8" name="SMARTInkShape-5"/>
          <p:cNvSpPr/>
          <p:nvPr/>
        </p:nvSpPr>
        <p:spPr>
          <a:xfrm>
            <a:off x="2926080" y="2628900"/>
            <a:ext cx="7621" cy="7621"/>
          </a:xfrm>
          <a:custGeom>
            <a:avLst/>
            <a:gdLst/>
            <a:ahLst/>
            <a:cxnLst/>
            <a:rect l="0" t="0" r="0" b="0"/>
            <a:pathLst>
              <a:path w="7621" h="7621">
                <a:moveTo>
                  <a:pt x="7620" y="762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25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Documento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Style</a:t>
            </a:r>
            <a:endParaRPr lang="pt-BR" dirty="0" smtClean="0"/>
          </a:p>
          <a:p>
            <a:pPr lvl="1"/>
            <a:r>
              <a:rPr lang="pt-BR" dirty="0" smtClean="0"/>
              <a:t>É o elemento que permite embutir indicações da camada de estilo (CSS) dentro do documento</a:t>
            </a:r>
          </a:p>
          <a:p>
            <a:pPr marL="914400" lvl="2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style</a:t>
            </a:r>
            <a:r>
              <a:rPr lang="pt-BR" dirty="0" smtClean="0"/>
              <a:t> </a:t>
            </a:r>
            <a:r>
              <a:rPr lang="pt-BR" dirty="0" err="1" smtClean="0"/>
              <a:t>type</a:t>
            </a:r>
            <a:r>
              <a:rPr lang="pt-BR" dirty="0" smtClean="0"/>
              <a:t>=“</a:t>
            </a:r>
            <a:r>
              <a:rPr lang="pt-BR" dirty="0" err="1" smtClean="0"/>
              <a:t>text</a:t>
            </a:r>
            <a:r>
              <a:rPr lang="pt-BR" dirty="0" smtClean="0"/>
              <a:t>/</a:t>
            </a:r>
            <a:r>
              <a:rPr lang="pt-BR" dirty="0" err="1" smtClean="0"/>
              <a:t>css</a:t>
            </a:r>
            <a:r>
              <a:rPr lang="pt-BR" dirty="0" smtClean="0"/>
              <a:t>” media=“</a:t>
            </a:r>
            <a:r>
              <a:rPr lang="pt-BR" dirty="0" err="1" smtClean="0"/>
              <a:t>screen</a:t>
            </a:r>
            <a:r>
              <a:rPr lang="pt-BR" dirty="0" smtClean="0"/>
              <a:t>”&gt;</a:t>
            </a:r>
          </a:p>
          <a:p>
            <a:pPr marL="914400" lvl="2" indent="0">
              <a:buNone/>
            </a:pPr>
            <a:r>
              <a:rPr lang="pt-BR" dirty="0" smtClean="0"/>
              <a:t>p {</a:t>
            </a:r>
            <a:r>
              <a:rPr lang="pt-BR" dirty="0" err="1" smtClean="0"/>
              <a:t>font-size</a:t>
            </a:r>
            <a:r>
              <a:rPr lang="pt-BR" dirty="0" smtClean="0"/>
              <a:t>: 12px;}</a:t>
            </a:r>
          </a:p>
          <a:p>
            <a:pPr marL="914400" lvl="2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style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No HTML5, pode ter sua escrita simplificada, sem o atributo </a:t>
            </a:r>
            <a:r>
              <a:rPr lang="pt-BR" dirty="0" err="1" smtClean="0"/>
              <a:t>type</a:t>
            </a:r>
            <a:r>
              <a:rPr lang="pt-BR" dirty="0" smtClean="0"/>
              <a:t>:</a:t>
            </a:r>
          </a:p>
          <a:p>
            <a:pPr marL="914400" lvl="2" indent="0">
              <a:buNone/>
            </a:pPr>
            <a:r>
              <a:rPr lang="pt-BR" dirty="0"/>
              <a:t>&lt;</a:t>
            </a:r>
            <a:r>
              <a:rPr lang="pt-BR" dirty="0" err="1"/>
              <a:t>style</a:t>
            </a:r>
            <a:r>
              <a:rPr lang="pt-BR" dirty="0"/>
              <a:t> </a:t>
            </a:r>
            <a:r>
              <a:rPr lang="pt-BR" dirty="0" smtClean="0"/>
              <a:t>media</a:t>
            </a:r>
            <a:r>
              <a:rPr lang="pt-BR" dirty="0"/>
              <a:t>=“</a:t>
            </a:r>
            <a:r>
              <a:rPr lang="pt-BR" dirty="0" err="1"/>
              <a:t>screen</a:t>
            </a:r>
            <a:r>
              <a:rPr lang="pt-BR" dirty="0"/>
              <a:t>”&gt;</a:t>
            </a:r>
          </a:p>
          <a:p>
            <a:pPr marL="914400" lvl="2" indent="0">
              <a:buNone/>
            </a:pPr>
            <a:r>
              <a:rPr lang="pt-BR" dirty="0"/>
              <a:t>p {</a:t>
            </a:r>
            <a:r>
              <a:rPr lang="pt-BR" dirty="0" err="1"/>
              <a:t>font-size</a:t>
            </a:r>
            <a:r>
              <a:rPr lang="pt-BR" dirty="0"/>
              <a:t>: 12px;}</a:t>
            </a:r>
          </a:p>
          <a:p>
            <a:pPr marL="914400" lvl="2" indent="0">
              <a:buNone/>
            </a:pPr>
            <a:r>
              <a:rPr lang="pt-BR" dirty="0"/>
              <a:t>&lt;</a:t>
            </a:r>
            <a:r>
              <a:rPr lang="pt-BR" dirty="0" err="1"/>
              <a:t>style</a:t>
            </a:r>
            <a:r>
              <a:rPr lang="pt-BR" dirty="0"/>
              <a:t>&gt;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954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Documento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 smtClean="0"/>
              <a:t>Style</a:t>
            </a:r>
            <a:endParaRPr lang="pt-B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420888"/>
            <a:ext cx="4781550" cy="3381375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Tinta 4"/>
              <p14:cNvContentPartPr/>
              <p14:nvPr/>
            </p14:nvContentPartPr>
            <p14:xfrm>
              <a:off x="2004948" y="4053947"/>
              <a:ext cx="628560" cy="154800"/>
            </p14:xfrm>
          </p:contentPart>
        </mc:Choice>
        <mc:Fallback>
          <p:pic>
            <p:nvPicPr>
              <p:cNvPr id="5" name="Tinta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93068" y="4042067"/>
                <a:ext cx="652320" cy="17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123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Sectioning</a:t>
            </a:r>
            <a:r>
              <a:rPr lang="pt-BR" dirty="0"/>
              <a:t> </a:t>
            </a:r>
            <a:r>
              <a:rPr lang="pt-BR" dirty="0" err="1" smtClean="0"/>
              <a:t>content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72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Sectioning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smtClean="0"/>
              <a:t>Elementos que marcam blocos de conteúdos como conteúdo principal, de apoio e de navegação.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403648" y="4509120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article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aside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nav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section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19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Flow</a:t>
            </a:r>
            <a:r>
              <a:rPr lang="pt-BR" dirty="0"/>
              <a:t> </a:t>
            </a:r>
            <a:r>
              <a:rPr lang="pt-BR" dirty="0" err="1"/>
              <a:t>content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044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err="1" smtClean="0"/>
              <a:t>Flow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/>
          </a:p>
          <a:p>
            <a:pPr lvl="1"/>
            <a:r>
              <a:rPr lang="pt-BR" dirty="0" smtClean="0"/>
              <a:t>Desta categoria faz parte a grande maioria dos elementos inseridos no corpo do documento e em suas aplicações</a:t>
            </a:r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marL="457200" lvl="1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619672" y="2828880"/>
          <a:ext cx="6096000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189882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a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abbr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address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area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article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aside</a:t>
                      </a:r>
                      <a:endParaRPr lang="pt-BR" sz="1200" dirty="0"/>
                    </a:p>
                  </a:txBody>
                  <a:tcPr/>
                </a:tc>
              </a:tr>
              <a:tr h="199256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audio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b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bdo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blockoute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br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button</a:t>
                      </a:r>
                      <a:endParaRPr lang="pt-BR" sz="12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canvas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cite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code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command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datalist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del</a:t>
                      </a:r>
                      <a:endParaRPr lang="pt-BR" sz="1200" dirty="0"/>
                    </a:p>
                  </a:txBody>
                  <a:tcPr/>
                </a:tc>
              </a:tr>
              <a:tr h="16572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details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dfn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div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dl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em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embed</a:t>
                      </a:r>
                      <a:endParaRPr lang="pt-BR" sz="1200" dirty="0"/>
                    </a:p>
                  </a:txBody>
                  <a:tcPr/>
                </a:tc>
              </a:tr>
              <a:tr h="148952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fieldset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figure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footer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form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h1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h2</a:t>
                      </a:r>
                      <a:endParaRPr lang="pt-BR" sz="1200" dirty="0"/>
                    </a:p>
                  </a:txBody>
                  <a:tcPr/>
                </a:tc>
              </a:tr>
              <a:tr h="204192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h3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h4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h5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h6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header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hgroup</a:t>
                      </a:r>
                      <a:endParaRPr lang="pt-BR" sz="12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hr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i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iframe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Img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input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ins</a:t>
                      </a:r>
                      <a:endParaRPr lang="pt-BR" sz="1200" dirty="0"/>
                    </a:p>
                  </a:txBody>
                  <a:tcPr/>
                </a:tc>
              </a:tr>
              <a:tr h="170656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kbd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keygen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label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link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map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mark</a:t>
                      </a:r>
                      <a:endParaRPr lang="pt-BR" sz="12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math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menu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meta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meter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nav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noscript</a:t>
                      </a:r>
                      <a:endParaRPr lang="pt-BR" sz="1200" dirty="0"/>
                    </a:p>
                  </a:txBody>
                  <a:tcPr/>
                </a:tc>
              </a:tr>
              <a:tr h="13712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object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ol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output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p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pre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progress</a:t>
                      </a:r>
                      <a:endParaRPr lang="pt-BR" sz="1200" dirty="0"/>
                    </a:p>
                  </a:txBody>
                  <a:tcPr/>
                </a:tc>
              </a:tr>
              <a:tr h="120352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q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ruby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samp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script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section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select</a:t>
                      </a:r>
                      <a:endParaRPr lang="pt-BR" sz="1200" dirty="0"/>
                    </a:p>
                  </a:txBody>
                  <a:tcPr/>
                </a:tc>
              </a:tr>
              <a:tr h="120352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small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span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strong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style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sub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sup</a:t>
                      </a:r>
                      <a:endParaRPr lang="pt-BR" sz="1200" dirty="0"/>
                    </a:p>
                  </a:txBody>
                  <a:tcPr/>
                </a:tc>
              </a:tr>
              <a:tr h="120352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svg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table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textarea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time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ul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var</a:t>
                      </a:r>
                      <a:endParaRPr lang="pt-BR" sz="1200" dirty="0"/>
                    </a:p>
                  </a:txBody>
                  <a:tcPr/>
                </a:tc>
              </a:tr>
              <a:tr h="120352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video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wbr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 smtClean="0"/>
                        <a:t>text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MARTInkShape-7"/>
          <p:cNvSpPr/>
          <p:nvPr/>
        </p:nvSpPr>
        <p:spPr>
          <a:xfrm>
            <a:off x="7277100" y="2926080"/>
            <a:ext cx="7621" cy="1"/>
          </a:xfrm>
          <a:custGeom>
            <a:avLst/>
            <a:gdLst/>
            <a:ahLst/>
            <a:cxnLst/>
            <a:rect l="0" t="0" r="0" b="0"/>
            <a:pathLst>
              <a:path w="7621" h="1">
                <a:moveTo>
                  <a:pt x="0" y="0"/>
                </a:moveTo>
                <a:lnTo>
                  <a:pt x="7620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63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err="1" smtClean="0"/>
              <a:t>Flow</a:t>
            </a:r>
            <a:r>
              <a:rPr lang="pt-BR" dirty="0" smtClean="0"/>
              <a:t> </a:t>
            </a:r>
            <a:r>
              <a:rPr lang="pt-BR" dirty="0" err="1"/>
              <a:t>content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Abra o arquivo base.html e salve como exemplo.html</a:t>
            </a:r>
          </a:p>
          <a:p>
            <a:pPr lvl="1"/>
            <a:r>
              <a:rPr lang="pt-BR" dirty="0"/>
              <a:t>Copiar as linhas que estão no elemento </a:t>
            </a:r>
            <a:r>
              <a:rPr lang="pt-BR" dirty="0" err="1"/>
              <a:t>body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Salve e teste no navegador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04864"/>
            <a:ext cx="7705344" cy="2592288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73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Heading</a:t>
            </a:r>
            <a:r>
              <a:rPr lang="pt-BR" dirty="0"/>
              <a:t> </a:t>
            </a:r>
            <a:r>
              <a:rPr lang="pt-BR" dirty="0" err="1"/>
              <a:t>content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60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Heading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smtClean="0"/>
              <a:t>Nesta categoria estão os cabeçalhos, empregados individualmente ou agrupados. Podem ser configurados como cabeçalho geral do conteúdo de uma página ou como cabeçalhos dentro dos elementos da categoria </a:t>
            </a:r>
            <a:r>
              <a:rPr lang="pt-BR" dirty="0" err="1" smtClean="0"/>
              <a:t>sectioning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r>
              <a:rPr lang="pt-BR" dirty="0" smtClean="0"/>
              <a:t>.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475656" y="4869160"/>
          <a:ext cx="6095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h1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h2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h3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h4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h5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h6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hgroup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19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pt-BR" dirty="0" err="1" smtClean="0"/>
              <a:t>Heading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1"/>
            <a:r>
              <a:rPr lang="pt-BR" dirty="0"/>
              <a:t>Abra o arquivo base.html e salve como exemplo.html</a:t>
            </a:r>
          </a:p>
          <a:p>
            <a:pPr lvl="1"/>
            <a:r>
              <a:rPr lang="pt-BR" dirty="0"/>
              <a:t>Copiar as linhas que estão no elemento </a:t>
            </a:r>
            <a:r>
              <a:rPr lang="pt-BR" dirty="0" err="1"/>
              <a:t>body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Salve e teste no navegador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643" y="2060848"/>
            <a:ext cx="4355347" cy="3185253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36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Phrasing</a:t>
            </a:r>
            <a:r>
              <a:rPr lang="pt-BR" dirty="0"/>
              <a:t> </a:t>
            </a:r>
            <a:r>
              <a:rPr lang="pt-BR" dirty="0" err="1"/>
              <a:t>content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80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err="1" smtClean="0"/>
              <a:t>Phrasing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smtClean="0"/>
              <a:t>Nesta categoria estão incluídos os elementos que integram o texto do documento – por exemplo, aqueles inseridos em um parágrafo.</a:t>
            </a:r>
          </a:p>
          <a:p>
            <a:pPr lvl="1"/>
            <a:r>
              <a:rPr lang="pt-BR" dirty="0" smtClean="0"/>
              <a:t>A maior parte dos elementos da categoria </a:t>
            </a:r>
            <a:r>
              <a:rPr lang="pt-BR" dirty="0" err="1" smtClean="0"/>
              <a:t>phrasing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r>
              <a:rPr lang="pt-BR" dirty="0" smtClean="0"/>
              <a:t> pode apenas conter elementos desta mesma categoria e nunca da categoria </a:t>
            </a:r>
            <a:r>
              <a:rPr lang="pt-BR" dirty="0" err="1" smtClean="0"/>
              <a:t>flow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r>
              <a:rPr lang="pt-BR" dirty="0" smtClean="0"/>
              <a:t>.</a:t>
            </a:r>
          </a:p>
          <a:p>
            <a:pPr marL="457200" lvl="1" indent="0">
              <a:buNone/>
            </a:pPr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pPr marL="457200" lvl="1" indent="0">
              <a:buNone/>
            </a:pPr>
            <a:endParaRPr lang="pt-BR" dirty="0" smtClean="0"/>
          </a:p>
          <a:p>
            <a:pPr marL="457200" lvl="1" indent="0">
              <a:buNone/>
            </a:pPr>
            <a:r>
              <a:rPr lang="pt-BR" dirty="0"/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2123728" y="3861048"/>
          <a:ext cx="5299292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945007"/>
              </a:tblGrid>
              <a:tr h="159792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abbr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area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audio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b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bdo</a:t>
                      </a:r>
                      <a:endParaRPr lang="pt-BR" sz="1400" dirty="0"/>
                    </a:p>
                  </a:txBody>
                  <a:tcPr/>
                </a:tc>
              </a:tr>
              <a:tr h="14302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br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button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canvas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cite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code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command</a:t>
                      </a:r>
                      <a:endParaRPr lang="pt-BR" sz="1400" dirty="0"/>
                    </a:p>
                  </a:txBody>
                  <a:tcPr/>
                </a:tc>
              </a:tr>
              <a:tr h="126256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datalist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del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dfn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em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embed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i</a:t>
                      </a:r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iframe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img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input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ins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kbd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keygen</a:t>
                      </a:r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label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link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map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mark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math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meta</a:t>
                      </a:r>
                      <a:endParaRPr lang="pt-BR" sz="1400" dirty="0"/>
                    </a:p>
                  </a:txBody>
                  <a:tcPr/>
                </a:tc>
              </a:tr>
              <a:tr h="14796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meter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noscript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object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output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progress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q</a:t>
                      </a:r>
                      <a:endParaRPr lang="pt-BR" sz="1400" dirty="0"/>
                    </a:p>
                  </a:txBody>
                  <a:tcPr/>
                </a:tc>
              </a:tr>
              <a:tr h="131192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ruby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samp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script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select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small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span</a:t>
                      </a:r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strong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sub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sup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svg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textarea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time</a:t>
                      </a:r>
                      <a:endParaRPr lang="pt-BR" sz="140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var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video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wbr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/>
                        <a:t>text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78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Embedded</a:t>
            </a:r>
            <a:r>
              <a:rPr lang="pt-BR" dirty="0"/>
              <a:t> </a:t>
            </a:r>
            <a:r>
              <a:rPr lang="pt-BR" dirty="0" err="1"/>
              <a:t>content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Embedded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smtClean="0"/>
              <a:t>Nesta categoria são assinalados os elementos responsáveis pela importação e incorporação de recursos externos.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619672" y="400506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audio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canvas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embed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iframe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img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math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object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svg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video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3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Interactive</a:t>
            </a:r>
            <a:r>
              <a:rPr lang="pt-BR" dirty="0"/>
              <a:t> </a:t>
            </a:r>
            <a:r>
              <a:rPr lang="pt-BR" dirty="0" err="1"/>
              <a:t>content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814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de Conteúdo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Interactive</a:t>
            </a:r>
            <a:r>
              <a:rPr lang="pt-BR" dirty="0" smtClean="0"/>
              <a:t> </a:t>
            </a:r>
            <a:r>
              <a:rPr lang="pt-BR" dirty="0" err="1" smtClean="0"/>
              <a:t>content</a:t>
            </a:r>
            <a:endParaRPr lang="pt-BR" dirty="0" smtClean="0"/>
          </a:p>
          <a:p>
            <a:pPr lvl="1"/>
            <a:r>
              <a:rPr lang="pt-BR" dirty="0" smtClean="0"/>
              <a:t>Certos elementos podem ter seu comportamento ativado e/ou alterado pela ação do usuário. Eles estão agrupados nesta categoria.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619672" y="4005064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audio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button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details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embed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iframe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img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input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keugen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label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menu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object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select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textarea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video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13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1087</Words>
  <Application>Microsoft Office PowerPoint</Application>
  <PresentationFormat>Apresentação na tela (4:3)</PresentationFormat>
  <Paragraphs>343</Paragraphs>
  <Slides>28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1" baseType="lpstr">
      <vt:lpstr>Arial</vt:lpstr>
      <vt:lpstr>Calibri</vt:lpstr>
      <vt:lpstr>Tema do Office</vt:lpstr>
      <vt:lpstr>HTML5 e CSS3</vt:lpstr>
      <vt:lpstr>Corpo Básico</vt:lpstr>
      <vt:lpstr>Corpo Básico HTML5</vt:lpstr>
      <vt:lpstr>Estrutura do Documento</vt:lpstr>
      <vt:lpstr>Estrutura do Documento</vt:lpstr>
      <vt:lpstr>Corpo Básico HTML5</vt:lpstr>
      <vt:lpstr>Modelos de Conteúdo</vt:lpstr>
      <vt:lpstr>Matadata content</vt:lpstr>
      <vt:lpstr>Modelos de Conteúdo</vt:lpstr>
      <vt:lpstr>Estrutura do Documento</vt:lpstr>
      <vt:lpstr>Estrutura do Documento</vt:lpstr>
      <vt:lpstr>Estrutura do Documento</vt:lpstr>
      <vt:lpstr>Estrutura do Documento</vt:lpstr>
      <vt:lpstr>Estrutura do Documento</vt:lpstr>
      <vt:lpstr>Sectioning content</vt:lpstr>
      <vt:lpstr>Modelos de Conteúdo</vt:lpstr>
      <vt:lpstr>Flow content</vt:lpstr>
      <vt:lpstr>Modelos de Conteúdo</vt:lpstr>
      <vt:lpstr>Modelos de Conteúdo</vt:lpstr>
      <vt:lpstr>Heading content</vt:lpstr>
      <vt:lpstr>Modelos de Conteúdo</vt:lpstr>
      <vt:lpstr>Modelos de Conteúdo</vt:lpstr>
      <vt:lpstr>Phrasing content</vt:lpstr>
      <vt:lpstr>Modelos de Conteúdo</vt:lpstr>
      <vt:lpstr>Embedded content</vt:lpstr>
      <vt:lpstr>Modelos de Conteúdo</vt:lpstr>
      <vt:lpstr>Interactive content</vt:lpstr>
      <vt:lpstr>Modelos de Conteúdo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e CSS3</dc:title>
  <dc:creator>Daniel Yuthaka Kawasaki</dc:creator>
  <cp:lastModifiedBy>DANIEL YUTHAKA KAWASAKI</cp:lastModifiedBy>
  <cp:revision>41</cp:revision>
  <dcterms:created xsi:type="dcterms:W3CDTF">2013-10-19T12:58:25Z</dcterms:created>
  <dcterms:modified xsi:type="dcterms:W3CDTF">2016-03-24T14:51:41Z</dcterms:modified>
</cp:coreProperties>
</file>