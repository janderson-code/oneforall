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8" r:id="rId5"/>
    <p:sldId id="296" r:id="rId6"/>
    <p:sldId id="259" r:id="rId7"/>
    <p:sldId id="261" r:id="rId8"/>
    <p:sldId id="260" r:id="rId9"/>
    <p:sldId id="267" r:id="rId10"/>
    <p:sldId id="268" r:id="rId11"/>
    <p:sldId id="269" r:id="rId12"/>
    <p:sldId id="282" r:id="rId13"/>
    <p:sldId id="283" r:id="rId14"/>
    <p:sldId id="280" r:id="rId15"/>
    <p:sldId id="281" r:id="rId16"/>
    <p:sldId id="285" r:id="rId17"/>
    <p:sldId id="284" r:id="rId18"/>
    <p:sldId id="287" r:id="rId19"/>
    <p:sldId id="286" r:id="rId20"/>
    <p:sldId id="265" r:id="rId21"/>
    <p:sldId id="264" r:id="rId22"/>
    <p:sldId id="263" r:id="rId23"/>
    <p:sldId id="288" r:id="rId24"/>
    <p:sldId id="289" r:id="rId25"/>
    <p:sldId id="290" r:id="rId26"/>
    <p:sldId id="291" r:id="rId27"/>
    <p:sldId id="292" r:id="rId28"/>
    <p:sldId id="293" r:id="rId29"/>
    <p:sldId id="294" r:id="rId30"/>
    <p:sldId id="295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45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11/30/2013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885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11/30/2013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569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11/30/2013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403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11/30/2013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289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11/30/2013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410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11/30/2013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706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11/30/2013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173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11/30/2013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222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11/30/2013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580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11/30/2013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318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7CB96-E941-41BE-B278-0B778258BA9B}" type="datetimeFigureOut">
              <a:rPr lang="en-US" smtClean="0"/>
              <a:t>11/30/2013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920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67CB96-E941-41BE-B278-0B778258BA9B}" type="datetimeFigureOut">
              <a:rPr lang="en-US" smtClean="0"/>
              <a:t>11/30/2013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671D6-6B85-4124-BC6E-45A7FA3FF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512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Bert_Bos" TargetMode="External"/><Relationship Id="rId2" Type="http://schemas.openxmlformats.org/officeDocument/2006/relationships/hyperlink" Target="http://pt.wikipedia.org/wiki/H%C3%A5kon_Wium_Li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file:///\\10.58.40.9\Docentes\Daniel%20Kawasaki\Cursos%20Livres\HTML5%20e%20CSS3\modelos\css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file:///\\10.58.40.9\Docentes\Daniel%20Kawasaki\Cursos%20Livres\HTML5%20e%20CSS3\modelos\css_estilo.html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file:///\\10.58.40.9\Docentes\Daniel%20Kawasaki\Cursos%20Livres\HTML5%20e%20CSS3\modelos\css_hex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file:///\\10.58.40.9\Docentes\Daniel%20Kawasaki\Cursos%20Livres\HTML5%20e%20CSS3\modelos\css_rgb.htm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file:///\\10.58.40.9\Docentes\Daniel%20Kawasaki\Cursos%20Livres\HTML5%20e%20CSS3\modelos\css_rgb_a.htm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file:///\\10.58.40.9\Docentes\Daniel%20Kawasaki\Cursos%20Livres\HTML5%20e%20CSS3\modelos\css_rgba.html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modelos/css_seletor_id.html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modelos/css_seletor_class.html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modelos/css_seletor_class_p.html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modelos/css_externa.html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modelos/css_interna.html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modelos/css_inline.html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HTML5 e CSS3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Criando </a:t>
            </a:r>
            <a:r>
              <a:rPr lang="pt-BR" dirty="0" err="1" smtClean="0"/>
              <a:t>WebSites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58726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CSS3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HTML5 e </a:t>
            </a:r>
            <a:r>
              <a:rPr lang="pt-BR" dirty="0" smtClean="0"/>
              <a:t>CSS3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770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CSS3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História do CSS</a:t>
            </a:r>
          </a:p>
          <a:p>
            <a:r>
              <a:rPr lang="pt-BR" dirty="0" smtClean="0"/>
              <a:t>O que é CSS?</a:t>
            </a:r>
            <a:endParaRPr lang="pt-BR" dirty="0" smtClean="0"/>
          </a:p>
          <a:p>
            <a:r>
              <a:rPr lang="pt-BR" dirty="0" smtClean="0"/>
              <a:t>Sintaxe</a:t>
            </a:r>
          </a:p>
          <a:p>
            <a:r>
              <a:rPr lang="pt-BR" dirty="0" smtClean="0"/>
              <a:t>Unidades de medida</a:t>
            </a:r>
          </a:p>
          <a:p>
            <a:r>
              <a:rPr lang="pt-BR" dirty="0" smtClean="0"/>
              <a:t>Cores</a:t>
            </a:r>
          </a:p>
          <a:p>
            <a:r>
              <a:rPr lang="pt-BR" dirty="0" smtClean="0"/>
              <a:t>Seletor</a:t>
            </a:r>
          </a:p>
          <a:p>
            <a:endParaRPr lang="pt-BR" dirty="0" smtClean="0"/>
          </a:p>
          <a:p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642831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CSS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smtClean="0"/>
              <a:t>História do CSS</a:t>
            </a:r>
          </a:p>
          <a:p>
            <a:pPr lvl="1"/>
            <a:r>
              <a:rPr lang="pt-BR" dirty="0" smtClean="0"/>
              <a:t>Criação do HTML – somente textos e imagens sem formatação</a:t>
            </a:r>
          </a:p>
          <a:p>
            <a:pPr lvl="1"/>
            <a:r>
              <a:rPr lang="pt-BR" dirty="0" smtClean="0"/>
              <a:t>Evolução do HTML – necessidade de controlar algumas aparências nos documentos</a:t>
            </a:r>
          </a:p>
          <a:p>
            <a:pPr lvl="1"/>
            <a:r>
              <a:rPr lang="pt-BR" dirty="0" smtClean="0"/>
              <a:t>Problemas nos navegadores – diferentes implementações dos navegadores dificultava a visualização dos sites</a:t>
            </a:r>
            <a:endParaRPr lang="pt-BR" dirty="0"/>
          </a:p>
          <a:p>
            <a:pPr lvl="1"/>
            <a:r>
              <a:rPr lang="pt-BR" dirty="0" smtClean="0"/>
              <a:t>1994 a criação do CSS - </a:t>
            </a:r>
            <a:r>
              <a:rPr lang="pt-BR" dirty="0" err="1">
                <a:hlinkClick r:id="rId2"/>
              </a:rPr>
              <a:t>Håkon</a:t>
            </a:r>
            <a:r>
              <a:rPr lang="pt-BR" dirty="0">
                <a:hlinkClick r:id="rId2"/>
              </a:rPr>
              <a:t> </a:t>
            </a:r>
            <a:r>
              <a:rPr lang="pt-BR" dirty="0" err="1">
                <a:hlinkClick r:id="rId2"/>
              </a:rPr>
              <a:t>Wium</a:t>
            </a:r>
            <a:r>
              <a:rPr lang="pt-BR" dirty="0">
                <a:hlinkClick r:id="rId2"/>
              </a:rPr>
              <a:t> </a:t>
            </a:r>
            <a:r>
              <a:rPr lang="pt-BR" dirty="0" smtClean="0">
                <a:hlinkClick r:id="rId2"/>
              </a:rPr>
              <a:t>Lie</a:t>
            </a:r>
            <a:r>
              <a:rPr lang="pt-BR" dirty="0" smtClean="0"/>
              <a:t>, vendo </a:t>
            </a:r>
            <a:r>
              <a:rPr lang="pt-BR" dirty="0"/>
              <a:t>toda essa dificuldade, resolveu criar um jeito mais fácil para formatar a </a:t>
            </a:r>
            <a:r>
              <a:rPr lang="pt-BR" dirty="0" smtClean="0"/>
              <a:t>informação. Ele </a:t>
            </a:r>
            <a:r>
              <a:rPr lang="pt-BR" dirty="0"/>
              <a:t>propôs a criação do CSS ou </a:t>
            </a:r>
            <a:r>
              <a:rPr lang="pt-BR" dirty="0" err="1"/>
              <a:t>Cascading</a:t>
            </a:r>
            <a:r>
              <a:rPr lang="pt-BR" dirty="0"/>
              <a:t> </a:t>
            </a:r>
            <a:r>
              <a:rPr lang="pt-BR" dirty="0" err="1"/>
              <a:t>Style</a:t>
            </a:r>
            <a:r>
              <a:rPr lang="pt-BR" dirty="0"/>
              <a:t> </a:t>
            </a:r>
            <a:r>
              <a:rPr lang="pt-BR" dirty="0" err="1" smtClean="0"/>
              <a:t>Sheet</a:t>
            </a:r>
            <a:r>
              <a:rPr lang="pt-BR" dirty="0" smtClean="0"/>
              <a:t> ou Folha de Estilo em Cascata. Juntamente com </a:t>
            </a:r>
            <a:r>
              <a:rPr lang="pt-BR" dirty="0" err="1" smtClean="0"/>
              <a:t>Håkon</a:t>
            </a:r>
            <a:r>
              <a:rPr lang="pt-BR" dirty="0"/>
              <a:t>,</a:t>
            </a:r>
            <a:r>
              <a:rPr lang="pt-BR" dirty="0" smtClean="0"/>
              <a:t> </a:t>
            </a:r>
            <a:r>
              <a:rPr lang="pt-BR" dirty="0">
                <a:hlinkClick r:id="rId3"/>
              </a:rPr>
              <a:t>Bert </a:t>
            </a:r>
            <a:r>
              <a:rPr lang="pt-BR" dirty="0" err="1" smtClean="0">
                <a:hlinkClick r:id="rId3"/>
              </a:rPr>
              <a:t>Bos</a:t>
            </a:r>
            <a:r>
              <a:rPr lang="pt-BR" dirty="0" smtClean="0"/>
              <a:t>, trabalharam juntamente no começo do desenvolvimento do CSS</a:t>
            </a:r>
          </a:p>
          <a:p>
            <a:pPr lvl="1"/>
            <a:r>
              <a:rPr lang="pt-BR" dirty="0" smtClean="0"/>
              <a:t>1995 – apresentaram sua </a:t>
            </a:r>
            <a:r>
              <a:rPr lang="pt-BR" dirty="0"/>
              <a:t>proposta e finalmente, o W3C – World </a:t>
            </a:r>
            <a:r>
              <a:rPr lang="pt-BR" dirty="0" err="1"/>
              <a:t>Wide</a:t>
            </a:r>
            <a:r>
              <a:rPr lang="pt-BR" dirty="0"/>
              <a:t> Web Consortium – que estava acabando de nascer, se interessou pelo projeto e resolveu criar uma equipe, </a:t>
            </a:r>
            <a:r>
              <a:rPr lang="pt-BR" dirty="0" smtClean="0"/>
              <a:t>liderada </a:t>
            </a:r>
            <a:r>
              <a:rPr lang="pt-BR" dirty="0"/>
              <a:t>por </a:t>
            </a:r>
            <a:r>
              <a:rPr lang="pt-BR" dirty="0" err="1"/>
              <a:t>Håkon</a:t>
            </a:r>
            <a:r>
              <a:rPr lang="pt-BR" dirty="0"/>
              <a:t> e Bert </a:t>
            </a:r>
            <a:r>
              <a:rPr lang="pt-BR" dirty="0" err="1" smtClean="0"/>
              <a:t>Bos</a:t>
            </a:r>
            <a:r>
              <a:rPr lang="pt-BR" dirty="0" smtClean="0"/>
              <a:t>.</a:t>
            </a:r>
          </a:p>
          <a:p>
            <a:pPr lvl="1"/>
            <a:r>
              <a:rPr lang="pt-BR" dirty="0" smtClean="0"/>
              <a:t>1996 - lançamento da </a:t>
            </a:r>
            <a:r>
              <a:rPr lang="pt-BR" dirty="0"/>
              <a:t>recomendação oficial pelo W3C do CSS </a:t>
            </a:r>
            <a:r>
              <a:rPr lang="pt-BR" dirty="0" err="1"/>
              <a:t>Level</a:t>
            </a:r>
            <a:r>
              <a:rPr lang="pt-BR" dirty="0"/>
              <a:t> 1 (CSS </a:t>
            </a:r>
            <a:r>
              <a:rPr lang="pt-BR" dirty="0" smtClean="0"/>
              <a:t>1).</a:t>
            </a:r>
          </a:p>
          <a:p>
            <a:pPr lvl="1"/>
            <a:r>
              <a:rPr lang="pt-BR" dirty="0" smtClean="0"/>
              <a:t>1998 – lançamento da </a:t>
            </a:r>
            <a:r>
              <a:rPr lang="pt-BR" dirty="0"/>
              <a:t>recomendação do CSS </a:t>
            </a:r>
            <a:r>
              <a:rPr lang="pt-BR" dirty="0" err="1" smtClean="0"/>
              <a:t>Level</a:t>
            </a:r>
            <a:r>
              <a:rPr lang="pt-BR" dirty="0" smtClean="0"/>
              <a:t> 2 (CSS 2).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77882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Uma situação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Seu site tem 150 páginas em HTML e os títulos das páginas precisam ficar com a cor azul porque a diretora não gostou da cor vermelha.</a:t>
            </a:r>
          </a:p>
          <a:p>
            <a:r>
              <a:rPr lang="pt-BR" dirty="0" smtClean="0"/>
              <a:t>São 17:00 da sexta-feira e a diretora quer a alteração seja feita para o “fim de semana”, especificamente até as 20:00.</a:t>
            </a:r>
          </a:p>
          <a:p>
            <a:r>
              <a:rPr lang="pt-BR" dirty="0" smtClean="0"/>
              <a:t>O que fazer?</a:t>
            </a:r>
          </a:p>
          <a:p>
            <a:r>
              <a:rPr lang="pt-BR" dirty="0" smtClean="0"/>
              <a:t>Trocar as cores página a página?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17275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 smtClean="0"/>
              <a:t>O que é CSS?</a:t>
            </a:r>
          </a:p>
          <a:p>
            <a:pPr lvl="1"/>
            <a:r>
              <a:rPr lang="pt-BR" dirty="0" smtClean="0"/>
              <a:t>O CSS formata a informação entregue pelo HTML. Essa informação pode ser qualquer coisa: imagem, texto, vídeo, áudio ou qualquer outro elemento </a:t>
            </a:r>
            <a:r>
              <a:rPr lang="pt-BR" dirty="0" smtClean="0"/>
              <a:t>criado.</a:t>
            </a:r>
          </a:p>
          <a:p>
            <a:pPr lvl="1"/>
            <a:r>
              <a:rPr lang="pt-BR" dirty="0"/>
              <a:t>Com o CSS </a:t>
            </a:r>
            <a:r>
              <a:rPr lang="pt-BR" dirty="0" smtClean="0"/>
              <a:t>podemos </a:t>
            </a:r>
            <a:r>
              <a:rPr lang="pt-BR" dirty="0"/>
              <a:t>formatar algumas características básicas: cores, background, características de </a:t>
            </a:r>
            <a:r>
              <a:rPr lang="pt-BR" dirty="0" smtClean="0"/>
              <a:t>fonte, </a:t>
            </a:r>
            <a:r>
              <a:rPr lang="pt-BR" dirty="0" err="1"/>
              <a:t>margins</a:t>
            </a:r>
            <a:r>
              <a:rPr lang="pt-BR" dirty="0"/>
              <a:t>, </a:t>
            </a:r>
            <a:r>
              <a:rPr lang="pt-BR" dirty="0" err="1"/>
              <a:t>paddings</a:t>
            </a:r>
            <a:r>
              <a:rPr lang="pt-BR" dirty="0"/>
              <a:t>, posição e controlamos de uma maneira muito artesanal e simples a estrutura do site com a propriedade </a:t>
            </a:r>
            <a:r>
              <a:rPr lang="pt-BR" dirty="0" err="1"/>
              <a:t>float</a:t>
            </a:r>
            <a:r>
              <a:rPr lang="pt-BR" dirty="0" smtClean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628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pt-BR" dirty="0" smtClean="0"/>
              <a:t>Com o CSS podemos fa</a:t>
            </a:r>
            <a:r>
              <a:rPr lang="pt-BR" dirty="0"/>
              <a:t>z</a:t>
            </a:r>
            <a:r>
              <a:rPr lang="pt-BR" dirty="0" smtClean="0"/>
              <a:t>er:</a:t>
            </a:r>
          </a:p>
          <a:p>
            <a:pPr lvl="2"/>
            <a:r>
              <a:rPr lang="pt-BR" dirty="0" smtClean="0"/>
              <a:t>sites fantásticos</a:t>
            </a:r>
          </a:p>
          <a:p>
            <a:pPr lvl="2"/>
            <a:r>
              <a:rPr lang="pt-BR" dirty="0" smtClean="0"/>
              <a:t>com </a:t>
            </a:r>
            <a:r>
              <a:rPr lang="pt-BR" dirty="0" smtClean="0"/>
              <a:t>design </a:t>
            </a:r>
            <a:r>
              <a:rPr lang="pt-BR" dirty="0" smtClean="0"/>
              <a:t>atraente</a:t>
            </a:r>
          </a:p>
          <a:p>
            <a:pPr lvl="2"/>
            <a:r>
              <a:rPr lang="pt-BR" dirty="0" smtClean="0"/>
              <a:t>manutenção </a:t>
            </a:r>
            <a:r>
              <a:rPr lang="pt-BR" dirty="0" smtClean="0"/>
              <a:t>relativamente </a:t>
            </a:r>
            <a:r>
              <a:rPr lang="pt-BR" dirty="0" smtClean="0"/>
              <a:t>simples</a:t>
            </a:r>
            <a:endParaRPr lang="pt-BR" dirty="0"/>
          </a:p>
          <a:p>
            <a:pPr lvl="1"/>
            <a:r>
              <a:rPr lang="pt-BR" dirty="0" smtClean="0"/>
              <a:t> Mas ainda dependemos de ferramentas para auxiliar o desenvolvimento de sites, </a:t>
            </a:r>
            <a:r>
              <a:rPr lang="pt-BR" dirty="0" smtClean="0"/>
              <a:t>por exemplo:</a:t>
            </a:r>
          </a:p>
          <a:p>
            <a:pPr lvl="2"/>
            <a:r>
              <a:rPr lang="pt-BR" dirty="0"/>
              <a:t>P</a:t>
            </a:r>
            <a:r>
              <a:rPr lang="pt-BR" dirty="0" smtClean="0"/>
              <a:t>rograma </a:t>
            </a:r>
            <a:r>
              <a:rPr lang="pt-BR" dirty="0" smtClean="0"/>
              <a:t>visual como o </a:t>
            </a:r>
            <a:r>
              <a:rPr lang="pt-BR" dirty="0" smtClean="0"/>
              <a:t>Photoshop, Fireworks, </a:t>
            </a:r>
            <a:r>
              <a:rPr lang="pt-BR" dirty="0" err="1" smtClean="0"/>
              <a:t>etc</a:t>
            </a:r>
            <a:r>
              <a:rPr lang="pt-BR" dirty="0" smtClean="0"/>
              <a:t> para </a:t>
            </a:r>
            <a:r>
              <a:rPr lang="pt-BR" dirty="0" smtClean="0"/>
              <a:t>criarmos detalhes de layout;</a:t>
            </a:r>
          </a:p>
          <a:p>
            <a:pPr lvl="2"/>
            <a:r>
              <a:rPr lang="pt-BR" dirty="0" err="1" smtClean="0"/>
              <a:t>Javascript</a:t>
            </a:r>
            <a:r>
              <a:rPr lang="pt-BR" dirty="0" smtClean="0"/>
              <a:t> para tratarmos comportamentos ou manipularmos elementos específicos na estrutura do HTML;</a:t>
            </a:r>
          </a:p>
          <a:p>
            <a:pPr lvl="2"/>
            <a:r>
              <a:rPr lang="pt-BR" dirty="0" smtClean="0"/>
              <a:t>Estrutura e controle dos elementos para melhorarmos acessibilidade e diversos aspectos do SEO;</a:t>
            </a:r>
          </a:p>
        </p:txBody>
      </p:sp>
    </p:spTree>
    <p:extLst>
      <p:ext uri="{BB962C8B-B14F-4D97-AF65-F5344CB8AC3E}">
        <p14:creationId xmlns:p14="http://schemas.microsoft.com/office/powerpoint/2010/main" val="226628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1"/>
            <a:r>
              <a:rPr lang="pt-BR" dirty="0" smtClean="0"/>
              <a:t>O que podemos fazer no CSS3</a:t>
            </a:r>
            <a:r>
              <a:rPr lang="pt-BR" dirty="0" smtClean="0"/>
              <a:t>. S</a:t>
            </a:r>
            <a:r>
              <a:rPr lang="pt-BR" dirty="0" smtClean="0"/>
              <a:t>egue </a:t>
            </a:r>
            <a:r>
              <a:rPr lang="pt-BR" dirty="0" smtClean="0"/>
              <a:t>uma pequena </a:t>
            </a:r>
            <a:r>
              <a:rPr lang="pt-BR" dirty="0" smtClean="0"/>
              <a:t>lista do podemos controlar: </a:t>
            </a:r>
            <a:endParaRPr lang="pt-BR" dirty="0" smtClean="0"/>
          </a:p>
          <a:p>
            <a:pPr marL="1371600" lvl="2" indent="-457200">
              <a:buFont typeface="+mj-lt"/>
              <a:buAutoNum type="arabicPeriod"/>
            </a:pPr>
            <a:r>
              <a:rPr lang="pt-BR" dirty="0" smtClean="0"/>
              <a:t>selecionar primeiro e último elemento;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smtClean="0"/>
              <a:t>selecionar elementos pares ou ímpares;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smtClean="0"/>
              <a:t>selecionarmos elementos específicos de um determinado grupo de elementos;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smtClean="0"/>
              <a:t>gradiente em textos e elementos; 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smtClean="0"/>
              <a:t>bordas arredondadas;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smtClean="0"/>
              <a:t>sombras em texto e elementos;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smtClean="0"/>
              <a:t>manipulação de opacidade;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smtClean="0"/>
              <a:t>controle de rotação;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smtClean="0"/>
              <a:t>controle de perspectiva;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smtClean="0"/>
              <a:t>animação;</a:t>
            </a:r>
          </a:p>
          <a:p>
            <a:pPr marL="1371600" lvl="2" indent="-457200">
              <a:buFont typeface="+mj-lt"/>
              <a:buAutoNum type="arabicPeriod"/>
            </a:pPr>
            <a:r>
              <a:rPr lang="pt-BR" dirty="0" smtClean="0"/>
              <a:t>estruturação independente da posição no código HTML</a:t>
            </a:r>
            <a:r>
              <a:rPr lang="pt-BR" dirty="0" smtClean="0"/>
              <a:t>;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226628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Sintaxe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Na </a:t>
            </a:r>
            <a:r>
              <a:rPr lang="en-US" dirty="0" err="1" smtClean="0"/>
              <a:t>regra</a:t>
            </a:r>
            <a:r>
              <a:rPr lang="en-US" dirty="0" smtClean="0"/>
              <a:t> do</a:t>
            </a:r>
            <a:r>
              <a:rPr lang="en-US" dirty="0" smtClean="0"/>
              <a:t> CSS, </a:t>
            </a:r>
            <a:r>
              <a:rPr lang="en-US" dirty="0" err="1" smtClean="0"/>
              <a:t>existem</a:t>
            </a:r>
            <a:r>
              <a:rPr lang="en-US" dirty="0" smtClean="0"/>
              <a:t> </a:t>
            </a:r>
            <a:r>
              <a:rPr lang="en-US" dirty="0" err="1" smtClean="0"/>
              <a:t>duas</a:t>
            </a:r>
            <a:r>
              <a:rPr lang="en-US" dirty="0" smtClean="0"/>
              <a:t> </a:t>
            </a:r>
            <a:r>
              <a:rPr lang="en-US" dirty="0" err="1" smtClean="0"/>
              <a:t>partes</a:t>
            </a:r>
            <a:r>
              <a:rPr lang="en-US" dirty="0" smtClean="0"/>
              <a:t>: o </a:t>
            </a:r>
            <a:r>
              <a:rPr lang="en-US" dirty="0" err="1" smtClean="0"/>
              <a:t>seletor</a:t>
            </a:r>
            <a:r>
              <a:rPr lang="en-US" dirty="0" smtClean="0"/>
              <a:t> e a </a:t>
            </a:r>
            <a:r>
              <a:rPr lang="en-US" dirty="0" err="1" smtClean="0"/>
              <a:t>declaração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lvl="1"/>
            <a:r>
              <a:rPr lang="en-US" dirty="0" smtClean="0"/>
              <a:t>O </a:t>
            </a:r>
            <a:r>
              <a:rPr lang="en-US" dirty="0" err="1" smtClean="0"/>
              <a:t>seletor</a:t>
            </a:r>
            <a:r>
              <a:rPr lang="en-US" dirty="0" smtClean="0"/>
              <a:t> é um </a:t>
            </a:r>
            <a:r>
              <a:rPr lang="en-US" dirty="0" err="1" smtClean="0"/>
              <a:t>elemento</a:t>
            </a:r>
            <a:r>
              <a:rPr lang="en-US" dirty="0" smtClean="0"/>
              <a:t> HTML.</a:t>
            </a:r>
          </a:p>
          <a:p>
            <a:pPr lvl="1"/>
            <a:r>
              <a:rPr lang="en-US" dirty="0" smtClean="0"/>
              <a:t>A </a:t>
            </a:r>
            <a:r>
              <a:rPr lang="en-US" dirty="0" err="1" smtClean="0"/>
              <a:t>declaração</a:t>
            </a:r>
            <a:r>
              <a:rPr lang="en-US" dirty="0" smtClean="0"/>
              <a:t> é </a:t>
            </a:r>
            <a:r>
              <a:rPr lang="en-US" dirty="0" err="1" smtClean="0"/>
              <a:t>composto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propriedade</a:t>
            </a:r>
            <a:r>
              <a:rPr lang="en-US" dirty="0" smtClean="0"/>
              <a:t> e valor.</a:t>
            </a:r>
          </a:p>
          <a:p>
            <a:pPr lvl="1"/>
            <a:r>
              <a:rPr lang="en-US" dirty="0" smtClean="0"/>
              <a:t>A </a:t>
            </a:r>
            <a:r>
              <a:rPr lang="en-US" dirty="0" err="1" smtClean="0"/>
              <a:t>propriedade</a:t>
            </a:r>
            <a:r>
              <a:rPr lang="en-US" dirty="0" smtClean="0"/>
              <a:t> é o </a:t>
            </a:r>
            <a:r>
              <a:rPr lang="en-US" dirty="0" err="1" smtClean="0"/>
              <a:t>atributo</a:t>
            </a:r>
            <a:r>
              <a:rPr lang="en-US" dirty="0" smtClean="0"/>
              <a:t> do </a:t>
            </a:r>
            <a:r>
              <a:rPr lang="en-US" dirty="0" err="1" smtClean="0"/>
              <a:t>estilo</a:t>
            </a:r>
            <a:r>
              <a:rPr lang="en-US" dirty="0" smtClean="0"/>
              <a:t> </a:t>
            </a:r>
            <a:r>
              <a:rPr lang="en-US" dirty="0" smtClean="0"/>
              <a:t>a </a:t>
            </a:r>
            <a:r>
              <a:rPr lang="en-US" dirty="0" err="1" smtClean="0"/>
              <a:t>ser</a:t>
            </a:r>
            <a:r>
              <a:rPr lang="en-US" dirty="0" smtClean="0"/>
              <a:t> </a:t>
            </a:r>
            <a:r>
              <a:rPr lang="en-US" dirty="0" err="1" smtClean="0"/>
              <a:t>alterado</a:t>
            </a:r>
            <a:r>
              <a:rPr lang="en-US" dirty="0" smtClean="0"/>
              <a:t>. Toda </a:t>
            </a:r>
            <a:r>
              <a:rPr lang="en-US" dirty="0" err="1" smtClean="0"/>
              <a:t>propriedade</a:t>
            </a:r>
            <a:r>
              <a:rPr lang="en-US" dirty="0" smtClean="0"/>
              <a:t> tem um valor.</a:t>
            </a:r>
            <a:endParaRPr lang="en-US" dirty="0"/>
          </a:p>
        </p:txBody>
      </p:sp>
      <p:grpSp>
        <p:nvGrpSpPr>
          <p:cNvPr id="6" name="Grupo 5"/>
          <p:cNvGrpSpPr/>
          <p:nvPr/>
        </p:nvGrpSpPr>
        <p:grpSpPr>
          <a:xfrm>
            <a:off x="1295400" y="2949498"/>
            <a:ext cx="6736837" cy="631902"/>
            <a:chOff x="1382751" y="3406698"/>
            <a:chExt cx="6736837" cy="631902"/>
          </a:xfrm>
        </p:grpSpPr>
        <p:sp>
          <p:nvSpPr>
            <p:cNvPr id="5" name="Retângulo de cantos arredondados 4"/>
            <p:cNvSpPr/>
            <p:nvPr/>
          </p:nvSpPr>
          <p:spPr>
            <a:xfrm>
              <a:off x="1382751" y="3406698"/>
              <a:ext cx="838200" cy="609600"/>
            </a:xfrm>
            <a:prstGeom prst="roundRect">
              <a:avLst>
                <a:gd name="adj" fmla="val 46505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de cantos arredondados 6"/>
            <p:cNvSpPr/>
            <p:nvPr/>
          </p:nvSpPr>
          <p:spPr>
            <a:xfrm>
              <a:off x="2590800" y="3429000"/>
              <a:ext cx="5528788" cy="609600"/>
            </a:xfrm>
            <a:prstGeom prst="roundRect">
              <a:avLst>
                <a:gd name="adj" fmla="val 46505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CaixaDeTexto 3"/>
            <p:cNvSpPr txBox="1"/>
            <p:nvPr/>
          </p:nvSpPr>
          <p:spPr>
            <a:xfrm>
              <a:off x="1524000" y="3429000"/>
              <a:ext cx="659558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h</a:t>
              </a:r>
              <a:r>
                <a:rPr lang="pt-BR" sz="28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1     {</a:t>
              </a:r>
              <a:r>
                <a:rPr lang="pt-BR" sz="2800" dirty="0" err="1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color:blue</a:t>
              </a:r>
              <a:r>
                <a:rPr lang="pt-BR" sz="28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; font-size:12px;}</a:t>
              </a:r>
              <a:endParaRPr lang="pt-BR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8" name="CaixaDeTexto 7"/>
          <p:cNvSpPr txBox="1"/>
          <p:nvPr/>
        </p:nvSpPr>
        <p:spPr>
          <a:xfrm>
            <a:off x="1295400" y="2590800"/>
            <a:ext cx="833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seletor</a:t>
            </a:r>
            <a:endParaRPr lang="pt-BR" dirty="0"/>
          </a:p>
        </p:txBody>
      </p:sp>
      <p:sp>
        <p:nvSpPr>
          <p:cNvPr id="10" name="CaixaDeTexto 9"/>
          <p:cNvSpPr txBox="1"/>
          <p:nvPr/>
        </p:nvSpPr>
        <p:spPr>
          <a:xfrm>
            <a:off x="2971800" y="2590800"/>
            <a:ext cx="1197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declaração</a:t>
            </a:r>
            <a:endParaRPr lang="pt-BR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5715000" y="2590800"/>
            <a:ext cx="1197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declaração</a:t>
            </a:r>
            <a:endParaRPr lang="pt-BR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2617673" y="3810000"/>
            <a:ext cx="1344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propriedade</a:t>
            </a:r>
            <a:endParaRPr lang="pt-BR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3921053" y="3810000"/>
            <a:ext cx="650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valor</a:t>
            </a:r>
            <a:endParaRPr lang="pt-BR" dirty="0"/>
          </a:p>
        </p:txBody>
      </p:sp>
      <p:cxnSp>
        <p:nvCxnSpPr>
          <p:cNvPr id="14" name="Conector de seta reta 13"/>
          <p:cNvCxnSpPr>
            <a:stCxn id="12" idx="0"/>
          </p:cNvCxnSpPr>
          <p:nvPr/>
        </p:nvCxnSpPr>
        <p:spPr>
          <a:xfrm flipH="1" flipV="1">
            <a:off x="3290036" y="3495020"/>
            <a:ext cx="1" cy="31498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13" idx="0"/>
          </p:cNvCxnSpPr>
          <p:nvPr/>
        </p:nvCxnSpPr>
        <p:spPr>
          <a:xfrm flipH="1" flipV="1">
            <a:off x="4246526" y="3495020"/>
            <a:ext cx="1" cy="31498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/>
          <p:cNvSpPr txBox="1"/>
          <p:nvPr/>
        </p:nvSpPr>
        <p:spPr>
          <a:xfrm>
            <a:off x="5029200" y="3820180"/>
            <a:ext cx="1344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propriedade</a:t>
            </a:r>
            <a:endParaRPr lang="pt-BR" dirty="0"/>
          </a:p>
        </p:txBody>
      </p:sp>
      <p:sp>
        <p:nvSpPr>
          <p:cNvPr id="19" name="CaixaDeTexto 18"/>
          <p:cNvSpPr txBox="1"/>
          <p:nvPr/>
        </p:nvSpPr>
        <p:spPr>
          <a:xfrm>
            <a:off x="6816653" y="3820180"/>
            <a:ext cx="650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valor</a:t>
            </a:r>
            <a:endParaRPr lang="pt-BR" dirty="0"/>
          </a:p>
        </p:txBody>
      </p:sp>
      <p:cxnSp>
        <p:nvCxnSpPr>
          <p:cNvPr id="20" name="Conector de seta reta 19"/>
          <p:cNvCxnSpPr>
            <a:stCxn id="18" idx="0"/>
          </p:cNvCxnSpPr>
          <p:nvPr/>
        </p:nvCxnSpPr>
        <p:spPr>
          <a:xfrm flipH="1" flipV="1">
            <a:off x="5701563" y="3505200"/>
            <a:ext cx="1" cy="31498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19" idx="0"/>
          </p:cNvCxnSpPr>
          <p:nvPr/>
        </p:nvCxnSpPr>
        <p:spPr>
          <a:xfrm flipH="1" flipV="1">
            <a:off x="7142126" y="3505200"/>
            <a:ext cx="1" cy="31498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5210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Sintaxe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Um </a:t>
            </a:r>
            <a:r>
              <a:rPr lang="en-US" dirty="0" err="1" smtClean="0"/>
              <a:t>exemplo</a:t>
            </a:r>
            <a:r>
              <a:rPr lang="en-US" dirty="0" smtClean="0"/>
              <a:t> CSS:</a:t>
            </a:r>
            <a:endParaRPr lang="en-US" dirty="0"/>
          </a:p>
          <a:p>
            <a:pPr lvl="1"/>
            <a:r>
              <a:rPr lang="en-US" dirty="0" smtClean="0"/>
              <a:t>Na </a:t>
            </a:r>
            <a:r>
              <a:rPr lang="en-US" dirty="0" err="1" smtClean="0"/>
              <a:t>declaração</a:t>
            </a:r>
            <a:r>
              <a:rPr lang="en-US" dirty="0" smtClean="0"/>
              <a:t> CSS </a:t>
            </a:r>
            <a:r>
              <a:rPr lang="en-US" dirty="0" err="1" smtClean="0"/>
              <a:t>sempre</a:t>
            </a:r>
            <a:r>
              <a:rPr lang="en-US" dirty="0" smtClean="0"/>
              <a:t> é </a:t>
            </a:r>
            <a:r>
              <a:rPr lang="en-US" dirty="0" err="1" smtClean="0"/>
              <a:t>finalizado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“;” e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grupos</a:t>
            </a:r>
            <a:r>
              <a:rPr lang="en-US" dirty="0" smtClean="0"/>
              <a:t> de </a:t>
            </a:r>
            <a:r>
              <a:rPr lang="en-US" dirty="0" err="1" smtClean="0"/>
              <a:t>declarações</a:t>
            </a:r>
            <a:r>
              <a:rPr lang="en-US" dirty="0" smtClean="0"/>
              <a:t> </a:t>
            </a:r>
            <a:r>
              <a:rPr lang="en-US" dirty="0" err="1" smtClean="0"/>
              <a:t>fica</a:t>
            </a:r>
            <a:r>
              <a:rPr lang="en-US" dirty="0" smtClean="0"/>
              <a:t> entre “</a:t>
            </a:r>
            <a:r>
              <a:rPr lang="en-US" dirty="0" err="1" smtClean="0"/>
              <a:t>chaves</a:t>
            </a:r>
            <a:r>
              <a:rPr lang="en-US" dirty="0" smtClean="0"/>
              <a:t>”: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smtClean="0"/>
              <a:t>p </a:t>
            </a:r>
            <a:r>
              <a:rPr lang="en-US" dirty="0"/>
              <a:t>{</a:t>
            </a:r>
            <a:r>
              <a:rPr lang="en-US" dirty="0" err="1"/>
              <a:t>color:red;text-align:center</a:t>
            </a:r>
            <a:r>
              <a:rPr lang="en-US" dirty="0"/>
              <a:t>;}</a:t>
            </a:r>
          </a:p>
          <a:p>
            <a:endParaRPr lang="en-US" dirty="0" smtClean="0"/>
          </a:p>
          <a:p>
            <a:r>
              <a:rPr lang="pt-BR" dirty="0"/>
              <a:t>Para tornar a CSS mais legível, você pode colocar uma declaração em cada linha, como </a:t>
            </a:r>
            <a:r>
              <a:rPr lang="pt-BR" dirty="0" smtClean="0"/>
              <a:t>no exemplo</a:t>
            </a:r>
            <a:r>
              <a:rPr lang="en-US" dirty="0" smtClean="0"/>
              <a:t>:</a:t>
            </a:r>
            <a:endParaRPr lang="en-US" dirty="0"/>
          </a:p>
          <a:p>
            <a:pPr lvl="1"/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	p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smtClean="0"/>
              <a:t>{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 smtClean="0"/>
              <a:t>color:red</a:t>
            </a:r>
            <a:r>
              <a:rPr lang="en-US" dirty="0" smtClean="0"/>
              <a:t>;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 smtClean="0"/>
              <a:t>text-align:center</a:t>
            </a:r>
            <a:r>
              <a:rPr lang="en-US" dirty="0" smtClean="0"/>
              <a:t>;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977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Sintaxe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err="1" smtClean="0"/>
              <a:t>Comentário</a:t>
            </a:r>
            <a:endParaRPr lang="en-US" dirty="0"/>
          </a:p>
          <a:p>
            <a:pPr lvl="1"/>
            <a:r>
              <a:rPr lang="en-US" dirty="0" err="1" smtClean="0"/>
              <a:t>Comentário</a:t>
            </a:r>
            <a:r>
              <a:rPr lang="en-US" dirty="0" smtClean="0"/>
              <a:t>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usados</a:t>
            </a:r>
            <a:r>
              <a:rPr lang="en-US" dirty="0" smtClean="0"/>
              <a:t> para </a:t>
            </a:r>
            <a:r>
              <a:rPr lang="en-US" dirty="0" err="1" smtClean="0"/>
              <a:t>descrever</a:t>
            </a:r>
            <a:r>
              <a:rPr lang="en-US" dirty="0" smtClean="0"/>
              <a:t> </a:t>
            </a:r>
            <a:r>
              <a:rPr lang="en-US" dirty="0" err="1" smtClean="0"/>
              <a:t>seu</a:t>
            </a:r>
            <a:r>
              <a:rPr lang="en-US" dirty="0" smtClean="0"/>
              <a:t> </a:t>
            </a:r>
            <a:r>
              <a:rPr lang="en-US" dirty="0" err="1" smtClean="0"/>
              <a:t>código</a:t>
            </a:r>
            <a:r>
              <a:rPr lang="en-US" dirty="0" smtClean="0"/>
              <a:t> e </a:t>
            </a:r>
            <a:r>
              <a:rPr lang="en-US" dirty="0" err="1" smtClean="0"/>
              <a:t>também</a:t>
            </a:r>
            <a:r>
              <a:rPr lang="en-US" dirty="0" smtClean="0"/>
              <a:t> </a:t>
            </a:r>
            <a:r>
              <a:rPr lang="en-US" dirty="0" err="1" smtClean="0"/>
              <a:t>ajudá</a:t>
            </a:r>
            <a:r>
              <a:rPr lang="en-US" dirty="0" smtClean="0"/>
              <a:t>-lo </a:t>
            </a:r>
            <a:r>
              <a:rPr lang="en-US" dirty="0" err="1" smtClean="0"/>
              <a:t>quando</a:t>
            </a:r>
            <a:r>
              <a:rPr lang="en-US" dirty="0" smtClean="0"/>
              <a:t> for </a:t>
            </a:r>
            <a:r>
              <a:rPr lang="en-US" dirty="0" err="1" smtClean="0"/>
              <a:t>preciso</a:t>
            </a:r>
            <a:r>
              <a:rPr lang="en-US" dirty="0" smtClean="0"/>
              <a:t> </a:t>
            </a:r>
            <a:r>
              <a:rPr lang="en-US" dirty="0" err="1" smtClean="0"/>
              <a:t>editar</a:t>
            </a:r>
            <a:r>
              <a:rPr lang="en-US" dirty="0" smtClean="0"/>
              <a:t> o </a:t>
            </a:r>
            <a:r>
              <a:rPr lang="en-US" dirty="0" err="1" smtClean="0"/>
              <a:t>código</a:t>
            </a:r>
            <a:r>
              <a:rPr lang="en-US" dirty="0" smtClean="0"/>
              <a:t> </a:t>
            </a:r>
            <a:r>
              <a:rPr lang="en-US" dirty="0" err="1" smtClean="0"/>
              <a:t>fonte</a:t>
            </a:r>
            <a:r>
              <a:rPr lang="en-US" dirty="0" smtClean="0"/>
              <a:t> </a:t>
            </a:r>
            <a:r>
              <a:rPr lang="en-US" dirty="0" err="1" smtClean="0"/>
              <a:t>posteriormente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somentários</a:t>
            </a:r>
            <a:r>
              <a:rPr lang="en-US" dirty="0" smtClean="0"/>
              <a:t> </a:t>
            </a:r>
            <a:r>
              <a:rPr lang="en-US" dirty="0" err="1" smtClean="0"/>
              <a:t>são</a:t>
            </a:r>
            <a:r>
              <a:rPr lang="en-US" dirty="0" smtClean="0"/>
              <a:t> </a:t>
            </a:r>
            <a:r>
              <a:rPr lang="en-US" dirty="0" err="1" smtClean="0"/>
              <a:t>ignorados</a:t>
            </a:r>
            <a:r>
              <a:rPr lang="en-US" dirty="0" smtClean="0"/>
              <a:t> </a:t>
            </a:r>
            <a:r>
              <a:rPr lang="en-US" dirty="0" err="1" smtClean="0"/>
              <a:t>pelos</a:t>
            </a:r>
            <a:r>
              <a:rPr lang="en-US" dirty="0" smtClean="0"/>
              <a:t> </a:t>
            </a:r>
            <a:r>
              <a:rPr lang="en-US" dirty="0" err="1" smtClean="0"/>
              <a:t>navegadores</a:t>
            </a:r>
            <a:r>
              <a:rPr lang="en-US" dirty="0" smtClean="0"/>
              <a:t>.</a:t>
            </a:r>
            <a:endParaRPr lang="en-US" dirty="0"/>
          </a:p>
          <a:p>
            <a:pPr lvl="1"/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comentários</a:t>
            </a:r>
            <a:r>
              <a:rPr lang="en-US" dirty="0" smtClean="0"/>
              <a:t> CSS </a:t>
            </a:r>
            <a:r>
              <a:rPr lang="en-US" dirty="0" err="1" smtClean="0"/>
              <a:t>começam</a:t>
            </a:r>
            <a:r>
              <a:rPr lang="en-US" dirty="0" smtClean="0"/>
              <a:t> com </a:t>
            </a:r>
            <a:r>
              <a:rPr lang="en-US" dirty="0"/>
              <a:t>"/*", </a:t>
            </a:r>
            <a:r>
              <a:rPr lang="en-US" dirty="0" smtClean="0"/>
              <a:t>e </a:t>
            </a:r>
            <a:r>
              <a:rPr lang="en-US" dirty="0" err="1" smtClean="0"/>
              <a:t>terminam</a:t>
            </a:r>
            <a:r>
              <a:rPr lang="en-US" dirty="0" smtClean="0"/>
              <a:t> com </a:t>
            </a:r>
            <a:r>
              <a:rPr lang="en-US" dirty="0"/>
              <a:t>"*/", </a:t>
            </a:r>
            <a:r>
              <a:rPr lang="en-US" dirty="0" smtClean="0"/>
              <a:t>com no </a:t>
            </a:r>
            <a:r>
              <a:rPr lang="en-US" dirty="0" err="1" smtClean="0"/>
              <a:t>exemplo</a:t>
            </a:r>
            <a:r>
              <a:rPr lang="en-US" dirty="0" smtClean="0"/>
              <a:t>: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/*</a:t>
            </a:r>
            <a:r>
              <a:rPr lang="en-US" dirty="0" err="1" smtClean="0"/>
              <a:t>Essa</a:t>
            </a:r>
            <a:r>
              <a:rPr lang="en-US" dirty="0" smtClean="0"/>
              <a:t> </a:t>
            </a:r>
            <a:r>
              <a:rPr lang="en-US" dirty="0" err="1" smtClean="0"/>
              <a:t>linha</a:t>
            </a:r>
            <a:r>
              <a:rPr lang="en-US" dirty="0" smtClean="0"/>
              <a:t> é um </a:t>
            </a:r>
            <a:r>
              <a:rPr lang="en-US" dirty="0" err="1" smtClean="0"/>
              <a:t>comentário</a:t>
            </a:r>
            <a:r>
              <a:rPr lang="en-US" dirty="0" smtClean="0"/>
              <a:t>*/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p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{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</a:t>
            </a:r>
            <a:r>
              <a:rPr lang="en-US" dirty="0" err="1" smtClean="0"/>
              <a:t>text-align:center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 smtClean="0"/>
              <a:t>	/*outro </a:t>
            </a:r>
            <a:r>
              <a:rPr lang="en-US" dirty="0" err="1" smtClean="0"/>
              <a:t>comentário</a:t>
            </a:r>
            <a:r>
              <a:rPr lang="en-US" dirty="0" smtClean="0"/>
              <a:t>*/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</a:t>
            </a:r>
            <a:r>
              <a:rPr lang="en-US" dirty="0" err="1" smtClean="0"/>
              <a:t>color:black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 smtClean="0"/>
              <a:t>	</a:t>
            </a:r>
            <a:r>
              <a:rPr lang="en-US" dirty="0" err="1" smtClean="0"/>
              <a:t>font-family:arial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 smtClean="0"/>
              <a:t>	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654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Exercitando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Crie um arquivo HTML com as seguintes linhas, salve como css.html e teste no navegador.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407" y="2761827"/>
            <a:ext cx="6007187" cy="34929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tângulo de cantos arredondados 4">
            <a:hlinkClick r:id="rId3" action="ppaction://hlinkfile"/>
          </p:cNvPr>
          <p:cNvSpPr/>
          <p:nvPr/>
        </p:nvSpPr>
        <p:spPr>
          <a:xfrm>
            <a:off x="7620000" y="5943600"/>
            <a:ext cx="1219200" cy="6858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Testar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6995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smtClean="0"/>
              <a:t>Inclua as seguintes linhas, salve como css_estilo.html e teste no navegador:</a:t>
            </a:r>
          </a:p>
          <a:p>
            <a:endParaRPr lang="pt-BR" dirty="0" smtClean="0"/>
          </a:p>
          <a:p>
            <a:endParaRPr lang="pt-BR" dirty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.</a:t>
            </a:r>
            <a:endParaRPr lang="pt-B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789830"/>
            <a:ext cx="3381375" cy="3228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rma livre 3"/>
          <p:cNvSpPr/>
          <p:nvPr/>
        </p:nvSpPr>
        <p:spPr>
          <a:xfrm>
            <a:off x="1527717" y="2141034"/>
            <a:ext cx="6634976" cy="2743200"/>
          </a:xfrm>
          <a:custGeom>
            <a:avLst/>
            <a:gdLst>
              <a:gd name="connsiteX0" fmla="*/ 44605 w 6634976"/>
              <a:gd name="connsiteY0" fmla="*/ 1427356 h 2743200"/>
              <a:gd name="connsiteX1" fmla="*/ 3958683 w 6634976"/>
              <a:gd name="connsiteY1" fmla="*/ 0 h 2743200"/>
              <a:gd name="connsiteX2" fmla="*/ 6623824 w 6634976"/>
              <a:gd name="connsiteY2" fmla="*/ 0 h 2743200"/>
              <a:gd name="connsiteX3" fmla="*/ 6634976 w 6634976"/>
              <a:gd name="connsiteY3" fmla="*/ 2575932 h 2743200"/>
              <a:gd name="connsiteX4" fmla="*/ 3980985 w 6634976"/>
              <a:gd name="connsiteY4" fmla="*/ 2575932 h 2743200"/>
              <a:gd name="connsiteX5" fmla="*/ 680224 w 6634976"/>
              <a:gd name="connsiteY5" fmla="*/ 2743200 h 2743200"/>
              <a:gd name="connsiteX6" fmla="*/ 0 w 6634976"/>
              <a:gd name="connsiteY6" fmla="*/ 2732049 h 2743200"/>
              <a:gd name="connsiteX7" fmla="*/ 44605 w 6634976"/>
              <a:gd name="connsiteY7" fmla="*/ 1427356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34976" h="2743200">
                <a:moveTo>
                  <a:pt x="44605" y="1427356"/>
                </a:moveTo>
                <a:lnTo>
                  <a:pt x="3958683" y="0"/>
                </a:lnTo>
                <a:lnTo>
                  <a:pt x="6623824" y="0"/>
                </a:lnTo>
                <a:cubicBezTo>
                  <a:pt x="6627541" y="858644"/>
                  <a:pt x="6631259" y="1717288"/>
                  <a:pt x="6634976" y="2575932"/>
                </a:cubicBezTo>
                <a:lnTo>
                  <a:pt x="3980985" y="2575932"/>
                </a:lnTo>
                <a:lnTo>
                  <a:pt x="680224" y="2743200"/>
                </a:lnTo>
                <a:lnTo>
                  <a:pt x="0" y="2732049"/>
                </a:lnTo>
                <a:lnTo>
                  <a:pt x="44605" y="1427356"/>
                </a:lnTo>
                <a:close/>
              </a:path>
            </a:pathLst>
          </a:custGeom>
          <a:solidFill>
            <a:srgbClr val="A6A6A6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Exercitando</a:t>
            </a:r>
            <a:endParaRPr lang="pt-BR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9101" y="2148254"/>
            <a:ext cx="2654299" cy="25614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tângulo 4"/>
          <p:cNvSpPr/>
          <p:nvPr/>
        </p:nvSpPr>
        <p:spPr>
          <a:xfrm>
            <a:off x="1527717" y="3581400"/>
            <a:ext cx="1367883" cy="1302834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de cantos arredondados 7">
            <a:hlinkClick r:id="rId4" action="ppaction://hlinkfile"/>
          </p:cNvPr>
          <p:cNvSpPr/>
          <p:nvPr/>
        </p:nvSpPr>
        <p:spPr>
          <a:xfrm>
            <a:off x="7620000" y="5943600"/>
            <a:ext cx="1219200" cy="6858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Testar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9810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Unidades de Medida</a:t>
            </a:r>
            <a:endParaRPr lang="pt-BR" dirty="0"/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4445908"/>
              </p:ext>
            </p:extLst>
          </p:nvPr>
        </p:nvGraphicFramePr>
        <p:xfrm>
          <a:off x="838200" y="1600200"/>
          <a:ext cx="7620000" cy="4462799"/>
        </p:xfrm>
        <a:graphic>
          <a:graphicData uri="http://schemas.openxmlformats.org/drawingml/2006/table">
            <a:tbl>
              <a:tblPr/>
              <a:tblGrid>
                <a:gridCol w="1219200"/>
                <a:gridCol w="6400800"/>
              </a:tblGrid>
              <a:tr h="198267">
                <a:tc>
                  <a:txBody>
                    <a:bodyPr/>
                    <a:lstStyle/>
                    <a:p>
                      <a:pPr algn="l" fontAlgn="t"/>
                      <a:r>
                        <a:rPr lang="pt-BR" sz="160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Unidade</a:t>
                      </a:r>
                      <a:endParaRPr lang="pt-BR" sz="16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17092" marR="17092" marT="17092" marB="17092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60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Descrição</a:t>
                      </a:r>
                      <a:endParaRPr lang="pt-BR" sz="16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17092" marR="17092" marT="17092" marB="17092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243846">
                <a:tc>
                  <a:txBody>
                    <a:bodyPr/>
                    <a:lstStyle/>
                    <a:p>
                      <a:pPr fontAlgn="t"/>
                      <a:r>
                        <a:rPr lang="pt-BR" sz="1600">
                          <a:effectLst/>
                          <a:latin typeface="verdana"/>
                        </a:rPr>
                        <a:t>%</a:t>
                      </a: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 smtClean="0">
                          <a:effectLst/>
                          <a:latin typeface="verdana"/>
                        </a:rPr>
                        <a:t>porcentagem</a:t>
                      </a:r>
                      <a:endParaRPr lang="pt-BR" sz="1600" dirty="0">
                        <a:effectLst/>
                        <a:latin typeface="verdana"/>
                      </a:endParaRP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6">
                <a:tc>
                  <a:txBody>
                    <a:bodyPr/>
                    <a:lstStyle/>
                    <a:p>
                      <a:pPr fontAlgn="t"/>
                      <a:r>
                        <a:rPr lang="pt-BR" sz="1600">
                          <a:effectLst/>
                          <a:latin typeface="verdana"/>
                        </a:rPr>
                        <a:t>in</a:t>
                      </a: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 err="1" smtClean="0">
                          <a:effectLst/>
                          <a:latin typeface="verdana"/>
                        </a:rPr>
                        <a:t>inch</a:t>
                      </a:r>
                      <a:r>
                        <a:rPr lang="pt-BR" sz="1600" dirty="0" smtClean="0">
                          <a:effectLst/>
                          <a:latin typeface="verdana"/>
                        </a:rPr>
                        <a:t> - polegadas</a:t>
                      </a:r>
                      <a:endParaRPr lang="pt-BR" sz="1600" dirty="0">
                        <a:effectLst/>
                        <a:latin typeface="verdana"/>
                      </a:endParaRP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243846">
                <a:tc>
                  <a:txBody>
                    <a:bodyPr/>
                    <a:lstStyle/>
                    <a:p>
                      <a:pPr fontAlgn="t"/>
                      <a:r>
                        <a:rPr lang="pt-BR" sz="1600">
                          <a:effectLst/>
                          <a:latin typeface="verdana"/>
                        </a:rPr>
                        <a:t>cm</a:t>
                      </a: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 smtClean="0">
                          <a:effectLst/>
                          <a:latin typeface="verdana"/>
                        </a:rPr>
                        <a:t>centímetro</a:t>
                      </a:r>
                      <a:endParaRPr lang="pt-BR" sz="1600" dirty="0">
                        <a:effectLst/>
                        <a:latin typeface="verdana"/>
                      </a:endParaRP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6">
                <a:tc>
                  <a:txBody>
                    <a:bodyPr/>
                    <a:lstStyle/>
                    <a:p>
                      <a:pPr fontAlgn="t"/>
                      <a:r>
                        <a:rPr lang="pt-BR" sz="1600">
                          <a:effectLst/>
                          <a:latin typeface="verdana"/>
                        </a:rPr>
                        <a:t>mm</a:t>
                      </a: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 smtClean="0">
                          <a:effectLst/>
                          <a:latin typeface="verdana"/>
                        </a:rPr>
                        <a:t>milímetro</a:t>
                      </a:r>
                      <a:endParaRPr lang="pt-BR" sz="1600" dirty="0">
                        <a:effectLst/>
                        <a:latin typeface="verdana"/>
                      </a:endParaRP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1094568">
                <a:tc>
                  <a:txBody>
                    <a:bodyPr/>
                    <a:lstStyle/>
                    <a:p>
                      <a:pPr fontAlgn="t"/>
                      <a:r>
                        <a:rPr lang="pt-BR" sz="1600" kern="1200" dirty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em</a:t>
                      </a: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1em 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é o 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mesmo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do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font-size.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Se o 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elemento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é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apresentado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com a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fonte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com “12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pt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”,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então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“2em” é “24pt”.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O “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em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” é 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uma</a:t>
                      </a:r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das </a:t>
                      </a:r>
                      <a:r>
                        <a:rPr lang="en-US" sz="1600" kern="120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medidas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mais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utilizadas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no CSS,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uma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vez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que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pode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adaptar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-se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automaticamente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com a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fonte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que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o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leitor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utiliza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. 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verdana"/>
                        <a:ea typeface="+mn-ea"/>
                        <a:cs typeface="+mn-cs"/>
                      </a:endParaRP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2012">
                <a:tc>
                  <a:txBody>
                    <a:bodyPr/>
                    <a:lstStyle/>
                    <a:p>
                      <a:pPr fontAlgn="t"/>
                      <a:r>
                        <a:rPr lang="pt-BR" sz="1600" kern="120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ex</a:t>
                      </a: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kern="120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a altura da letra x</a:t>
                      </a:r>
                      <a:r>
                        <a:rPr lang="pt-BR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 (x – é geralmente cerca da metade do </a:t>
                      </a:r>
                      <a:r>
                        <a:rPr lang="pt-BR" sz="1600" kern="1200" baseline="0" dirty="0" err="1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font-size</a:t>
                      </a:r>
                      <a:r>
                        <a:rPr lang="pt-BR" sz="1600" kern="1200" baseline="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)</a:t>
                      </a:r>
                      <a:r>
                        <a:rPr lang="pt-BR" sz="1600" kern="1200" dirty="0" smtClean="0">
                          <a:solidFill>
                            <a:schemeClr val="tx1"/>
                          </a:solidFill>
                          <a:effectLst/>
                          <a:latin typeface="verdana"/>
                          <a:ea typeface="+mn-ea"/>
                          <a:cs typeface="+mn-cs"/>
                        </a:rPr>
                        <a:t>;</a:t>
                      </a: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407929">
                <a:tc>
                  <a:txBody>
                    <a:bodyPr/>
                    <a:lstStyle/>
                    <a:p>
                      <a:pPr fontAlgn="t"/>
                      <a:r>
                        <a:rPr lang="pt-BR" sz="1600">
                          <a:effectLst/>
                          <a:latin typeface="verdana"/>
                        </a:rPr>
                        <a:t>pt</a:t>
                      </a: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  <a:latin typeface="verdana"/>
                        </a:rPr>
                        <a:t>point (1 </a:t>
                      </a:r>
                      <a:r>
                        <a:rPr lang="en-US" sz="1600" dirty="0" err="1">
                          <a:effectLst/>
                          <a:latin typeface="verdana"/>
                        </a:rPr>
                        <a:t>pt</a:t>
                      </a:r>
                      <a:r>
                        <a:rPr lang="en-US" sz="1600" dirty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é o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mesmo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que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1/72 </a:t>
                      </a:r>
                      <a:r>
                        <a:rPr lang="en-US" sz="1600" dirty="0">
                          <a:effectLst/>
                          <a:latin typeface="verdana"/>
                        </a:rPr>
                        <a:t>inch)</a:t>
                      </a: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929">
                <a:tc>
                  <a:txBody>
                    <a:bodyPr/>
                    <a:lstStyle/>
                    <a:p>
                      <a:pPr fontAlgn="t"/>
                      <a:r>
                        <a:rPr lang="pt-BR" sz="1600" dirty="0" err="1" smtClean="0">
                          <a:effectLst/>
                          <a:latin typeface="verdana"/>
                        </a:rPr>
                        <a:t>pc</a:t>
                      </a:r>
                      <a:endParaRPr lang="pt-BR" sz="1600" dirty="0">
                        <a:effectLst/>
                        <a:latin typeface="verdana"/>
                      </a:endParaRP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  <a:latin typeface="verdana"/>
                        </a:rPr>
                        <a:t>pica (1 pc 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é o</a:t>
                      </a:r>
                      <a:r>
                        <a:rPr lang="en-US" sz="1600" baseline="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baseline="0" dirty="0" err="1" smtClean="0">
                          <a:effectLst/>
                          <a:latin typeface="verdana"/>
                        </a:rPr>
                        <a:t>mesmo</a:t>
                      </a:r>
                      <a:r>
                        <a:rPr lang="en-US" sz="1600" baseline="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baseline="0" dirty="0" err="1" smtClean="0">
                          <a:effectLst/>
                          <a:latin typeface="verdana"/>
                        </a:rPr>
                        <a:t>que</a:t>
                      </a:r>
                      <a:r>
                        <a:rPr lang="en-US" sz="1600" baseline="0" dirty="0" smtClean="0">
                          <a:effectLst/>
                          <a:latin typeface="verdana"/>
                        </a:rPr>
                        <a:t> 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12 </a:t>
                      </a:r>
                      <a:r>
                        <a:rPr lang="en-US" sz="1600" dirty="0">
                          <a:effectLst/>
                          <a:latin typeface="verdana"/>
                        </a:rPr>
                        <a:t>points)</a:t>
                      </a: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407929">
                <a:tc>
                  <a:txBody>
                    <a:bodyPr/>
                    <a:lstStyle/>
                    <a:p>
                      <a:pPr fontAlgn="t"/>
                      <a:r>
                        <a:rPr lang="pt-BR" sz="1600">
                          <a:effectLst/>
                          <a:latin typeface="verdana"/>
                        </a:rPr>
                        <a:t>px</a:t>
                      </a: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  <a:latin typeface="verdana"/>
                        </a:rPr>
                        <a:t>pixels 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(é um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ponto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 da </a:t>
                      </a:r>
                      <a:r>
                        <a:rPr lang="en-US" sz="1600" dirty="0" err="1" smtClean="0">
                          <a:effectLst/>
                          <a:latin typeface="verdana"/>
                        </a:rPr>
                        <a:t>tela</a:t>
                      </a:r>
                      <a:r>
                        <a:rPr lang="en-US" sz="1600" baseline="0" dirty="0" smtClean="0">
                          <a:effectLst/>
                          <a:latin typeface="verdana"/>
                        </a:rPr>
                        <a:t> do </a:t>
                      </a:r>
                      <a:r>
                        <a:rPr lang="en-US" sz="1600" baseline="0" dirty="0" err="1" smtClean="0">
                          <a:effectLst/>
                          <a:latin typeface="verdana"/>
                        </a:rPr>
                        <a:t>computador</a:t>
                      </a:r>
                      <a:r>
                        <a:rPr lang="en-US" sz="1600" dirty="0" smtClean="0">
                          <a:effectLst/>
                          <a:latin typeface="verdana"/>
                        </a:rPr>
                        <a:t>)</a:t>
                      </a:r>
                      <a:endParaRPr lang="en-US" sz="1600" dirty="0">
                        <a:effectLst/>
                        <a:latin typeface="verdana"/>
                      </a:endParaRPr>
                    </a:p>
                  </a:txBody>
                  <a:tcPr marL="28487" marR="28487" marT="39881" marB="39881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0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Cores</a:t>
            </a:r>
            <a:endParaRPr lang="pt-BR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38188" y="15922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pt-BR" altLang="pt-B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r>
              <a:rPr kumimoji="0" lang="pt-BR" altLang="pt-B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/>
            </a:r>
            <a:br>
              <a:rPr kumimoji="0" lang="pt-BR" altLang="pt-B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endParaRPr kumimoji="0" lang="pt-BR" alt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pt-BR" dirty="0"/>
              <a:t>Cores CSS são definidos </a:t>
            </a:r>
            <a:r>
              <a:rPr lang="pt-BR" dirty="0" smtClean="0"/>
              <a:t>utilizando o </a:t>
            </a:r>
            <a:r>
              <a:rPr lang="pt-BR" dirty="0"/>
              <a:t>hexadecimal (</a:t>
            </a:r>
            <a:r>
              <a:rPr lang="pt-BR" dirty="0" err="1"/>
              <a:t>hex</a:t>
            </a:r>
            <a:r>
              <a:rPr lang="pt-BR" dirty="0"/>
              <a:t>) </a:t>
            </a:r>
            <a:r>
              <a:rPr lang="pt-BR" dirty="0" smtClean="0"/>
              <a:t>com notação </a:t>
            </a:r>
            <a:r>
              <a:rPr lang="pt-BR" dirty="0"/>
              <a:t>para a combinação de </a:t>
            </a:r>
            <a:r>
              <a:rPr lang="pt-BR" dirty="0" smtClean="0"/>
              <a:t>vermelho(</a:t>
            </a:r>
            <a:r>
              <a:rPr lang="pt-BR" dirty="0" err="1" smtClean="0"/>
              <a:t>Red</a:t>
            </a:r>
            <a:r>
              <a:rPr lang="pt-BR" dirty="0" smtClean="0"/>
              <a:t>), verde (Green), </a:t>
            </a:r>
            <a:r>
              <a:rPr lang="pt-BR" dirty="0"/>
              <a:t>e </a:t>
            </a:r>
            <a:r>
              <a:rPr lang="pt-BR" dirty="0" smtClean="0"/>
              <a:t>azul (Blue) conhecido também com RGB. </a:t>
            </a:r>
            <a:r>
              <a:rPr lang="pt-BR" dirty="0"/>
              <a:t>O menor valor que pode ser dada a uma das fontes de luz é 0 (hexadecimal 00). O valor mais alto é 255 (FF hexadecimal</a:t>
            </a:r>
            <a:r>
              <a:rPr lang="pt-BR" dirty="0" smtClean="0"/>
              <a:t>).</a:t>
            </a:r>
            <a:endParaRPr lang="pt-BR" dirty="0"/>
          </a:p>
          <a:p>
            <a:r>
              <a:rPr lang="pt-BR" dirty="0"/>
              <a:t>Valores hexadecimais são escritos </a:t>
            </a:r>
            <a:r>
              <a:rPr lang="pt-BR" dirty="0" smtClean="0"/>
              <a:t>com </a:t>
            </a:r>
            <a:r>
              <a:rPr lang="pt-BR" dirty="0"/>
              <a:t>3 </a:t>
            </a:r>
            <a:r>
              <a:rPr lang="pt-BR" dirty="0" smtClean="0"/>
              <a:t>conjunto de números com </a:t>
            </a:r>
            <a:r>
              <a:rPr lang="pt-BR" dirty="0"/>
              <a:t>dois </a:t>
            </a:r>
            <a:r>
              <a:rPr lang="pt-BR" dirty="0" smtClean="0"/>
              <a:t>dígitos cada conjunto, </a:t>
            </a:r>
            <a:r>
              <a:rPr lang="pt-BR" dirty="0"/>
              <a:t>começando com o</a:t>
            </a:r>
            <a:r>
              <a:rPr lang="pt-BR" dirty="0" smtClean="0"/>
              <a:t> </a:t>
            </a:r>
            <a:r>
              <a:rPr lang="pt-BR" dirty="0"/>
              <a:t>sinal </a:t>
            </a:r>
            <a:r>
              <a:rPr lang="pt-BR" dirty="0" smtClean="0"/>
              <a:t>#.</a:t>
            </a:r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.</a:t>
            </a:r>
            <a:endParaRPr lang="pt-BR" dirty="0"/>
          </a:p>
        </p:txBody>
      </p:sp>
      <p:graphicFrame>
        <p:nvGraphicFramePr>
          <p:cNvPr id="7" name="Espaço Reservado para Conteúdo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1559759"/>
              </p:ext>
            </p:extLst>
          </p:nvPr>
        </p:nvGraphicFramePr>
        <p:xfrm>
          <a:off x="1295400" y="3200400"/>
          <a:ext cx="6096000" cy="3352800"/>
        </p:xfrm>
        <a:graphic>
          <a:graphicData uri="http://schemas.openxmlformats.org/drawingml/2006/table">
            <a:tbl>
              <a:tblPr/>
              <a:tblGrid>
                <a:gridCol w="1920345"/>
                <a:gridCol w="1676400"/>
                <a:gridCol w="2499255"/>
              </a:tblGrid>
              <a:tr h="278004">
                <a:tc>
                  <a:txBody>
                    <a:bodyPr/>
                    <a:lstStyle/>
                    <a:p>
                      <a:pPr algn="l" fontAlgn="t"/>
                      <a:r>
                        <a:rPr lang="pt-BR" sz="130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Cores</a:t>
                      </a:r>
                      <a:endParaRPr lang="pt-BR" sz="1300" dirty="0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28429" marR="28429" marT="28429" marB="28429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30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Cor </a:t>
                      </a:r>
                      <a:r>
                        <a:rPr lang="pt-BR" sz="1300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HEX</a:t>
                      </a:r>
                    </a:p>
                  </a:txBody>
                  <a:tcPr marL="28429" marR="28429" marT="28429" marB="28429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300" dirty="0" smtClean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Cor </a:t>
                      </a:r>
                      <a:r>
                        <a:rPr lang="pt-BR" sz="1300" dirty="0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RGB</a:t>
                      </a:r>
                    </a:p>
                  </a:txBody>
                  <a:tcPr marL="28429" marR="28429" marT="28429" marB="28429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341644"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 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#000000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rgb(0,0,0)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644"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 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#FF0000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rgb(255,0,0)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41644"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 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#00FF00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rgb(0,255,0)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644"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 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#0000FF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rgb(0,0,255)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41644"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 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#FFFF00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rgb(255,255,0)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644"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 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#00FFFF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rgb(0,255,255)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41644"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 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#FF00FF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 dirty="0" err="1">
                          <a:effectLst/>
                          <a:latin typeface="verdana"/>
                        </a:rPr>
                        <a:t>rgb</a:t>
                      </a:r>
                      <a:r>
                        <a:rPr lang="pt-BR" sz="1300" dirty="0">
                          <a:effectLst/>
                          <a:latin typeface="verdana"/>
                        </a:rPr>
                        <a:t>(255,0,255)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1644"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 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#C0C0C0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rgb(192,192,192)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341644"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 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>
                          <a:effectLst/>
                          <a:latin typeface="verdana"/>
                        </a:rPr>
                        <a:t>#FFFFFF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sz="1300" dirty="0" err="1">
                          <a:effectLst/>
                          <a:latin typeface="verdana"/>
                        </a:rPr>
                        <a:t>rgb</a:t>
                      </a:r>
                      <a:r>
                        <a:rPr lang="pt-BR" sz="1300" dirty="0">
                          <a:effectLst/>
                          <a:latin typeface="verdana"/>
                        </a:rPr>
                        <a:t>(255,255,255)</a:t>
                      </a:r>
                    </a:p>
                  </a:txBody>
                  <a:tcPr marL="47382" marR="47382" marT="66335" marB="66335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1028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Cores com Hexadecimal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681" y="1337563"/>
            <a:ext cx="5399719" cy="52156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de cantos arredondados 6">
            <a:hlinkClick r:id="rId3" action="ppaction://hlinkfile"/>
          </p:cNvPr>
          <p:cNvSpPr/>
          <p:nvPr/>
        </p:nvSpPr>
        <p:spPr>
          <a:xfrm>
            <a:off x="7620000" y="5943600"/>
            <a:ext cx="1219200" cy="6858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Testar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5496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Cores com RGB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4182" y="1371600"/>
            <a:ext cx="5215637" cy="52002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de cantos arredondados 5">
            <a:hlinkClick r:id="rId3" action="ppaction://hlinkfile"/>
          </p:cNvPr>
          <p:cNvSpPr/>
          <p:nvPr/>
        </p:nvSpPr>
        <p:spPr>
          <a:xfrm>
            <a:off x="7620000" y="5943600"/>
            <a:ext cx="1219200" cy="6858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Testar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2788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Cores com RGB e alpha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2821" y="1183662"/>
            <a:ext cx="5338358" cy="54457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de cantos arredondados 6">
            <a:hlinkClick r:id="rId3" action="ppaction://hlinkfile"/>
          </p:cNvPr>
          <p:cNvSpPr/>
          <p:nvPr/>
        </p:nvSpPr>
        <p:spPr>
          <a:xfrm>
            <a:off x="7620000" y="5943600"/>
            <a:ext cx="1219200" cy="6858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Testar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7209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Cores com RGB e alpha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151" y="1219200"/>
            <a:ext cx="5353698" cy="54764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de cantos arredondados 6">
            <a:hlinkClick r:id="rId3" action="ppaction://hlinkfile"/>
          </p:cNvPr>
          <p:cNvSpPr/>
          <p:nvPr/>
        </p:nvSpPr>
        <p:spPr>
          <a:xfrm>
            <a:off x="7620000" y="5943600"/>
            <a:ext cx="1219200" cy="6858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u="sng" dirty="0" smtClean="0"/>
              <a:t>Testar</a:t>
            </a:r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4244957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Seletor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que é um seletor?</a:t>
            </a:r>
          </a:p>
          <a:p>
            <a:pPr lvl="1"/>
            <a:r>
              <a:rPr lang="pt-BR" dirty="0"/>
              <a:t>O seletor representa uma estrutura. Essa estrutura é usada como uma condição para determinar quais elementos de um grupo de elementos serão formatados.</a:t>
            </a:r>
          </a:p>
          <a:p>
            <a:pPr lvl="1"/>
            <a:r>
              <a:rPr lang="pt-BR" dirty="0"/>
              <a:t>Seletores encadeados e seletores agrupados são a base do CSS. </a:t>
            </a:r>
          </a:p>
        </p:txBody>
      </p:sp>
    </p:spTree>
    <p:extLst>
      <p:ext uri="{BB962C8B-B14F-4D97-AF65-F5344CB8AC3E}">
        <p14:creationId xmlns:p14="http://schemas.microsoft.com/office/powerpoint/2010/main" val="2566823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Seletor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Para você lembrar o que são seletores encadeados e agrupados segue um exemplo:</a:t>
            </a:r>
            <a:endParaRPr lang="en-US" dirty="0" smtClean="0"/>
          </a:p>
          <a:p>
            <a:pPr lvl="1"/>
            <a:r>
              <a:rPr lang="en-US" dirty="0" err="1" smtClean="0"/>
              <a:t>Exemplo</a:t>
            </a:r>
            <a:r>
              <a:rPr lang="en-US" dirty="0" smtClean="0"/>
              <a:t> </a:t>
            </a:r>
            <a:r>
              <a:rPr lang="en-US" dirty="0"/>
              <a:t>de </a:t>
            </a:r>
            <a:r>
              <a:rPr lang="en-US" dirty="0" err="1"/>
              <a:t>seletor</a:t>
            </a:r>
            <a:r>
              <a:rPr lang="en-US" dirty="0"/>
              <a:t> </a:t>
            </a:r>
            <a:r>
              <a:rPr lang="en-US" dirty="0" err="1"/>
              <a:t>encadeado</a:t>
            </a:r>
            <a:r>
              <a:rPr lang="en-US" dirty="0"/>
              <a:t>:</a:t>
            </a:r>
          </a:p>
          <a:p>
            <a:pPr marL="914400" lvl="2" indent="0">
              <a:buNone/>
            </a:pPr>
            <a:r>
              <a:rPr lang="en-US" dirty="0"/>
              <a:t>div p strong a { </a:t>
            </a:r>
          </a:p>
          <a:p>
            <a:pPr marL="914400" lvl="2" indent="0">
              <a:buNone/>
            </a:pPr>
            <a:r>
              <a:rPr lang="en-US" dirty="0" smtClean="0"/>
              <a:t>  color</a:t>
            </a:r>
            <a:r>
              <a:rPr lang="en-US" dirty="0"/>
              <a:t>: red;</a:t>
            </a:r>
          </a:p>
          <a:p>
            <a:pPr marL="914400" lvl="2" indent="0">
              <a:buNone/>
            </a:pPr>
            <a:r>
              <a:rPr lang="en-US" dirty="0" smtClean="0"/>
              <a:t>}</a:t>
            </a:r>
          </a:p>
          <a:p>
            <a:pPr lvl="2"/>
            <a:r>
              <a:rPr lang="pt-BR" dirty="0" smtClean="0"/>
              <a:t>Este </a:t>
            </a:r>
            <a:r>
              <a:rPr lang="pt-BR" dirty="0"/>
              <a:t>seletor formata o link (a), que está dentro de um </a:t>
            </a:r>
            <a:r>
              <a:rPr lang="pt-BR" dirty="0" err="1"/>
              <a:t>strong</a:t>
            </a:r>
            <a:r>
              <a:rPr lang="pt-BR" dirty="0"/>
              <a:t>, que está dentro de P e que por sua vez está dentro de um DIV. </a:t>
            </a:r>
            <a:endParaRPr lang="pt-BR" dirty="0" smtClean="0"/>
          </a:p>
          <a:p>
            <a:pPr lvl="1"/>
            <a:endParaRPr lang="pt-BR" dirty="0"/>
          </a:p>
          <a:p>
            <a:pPr lvl="1"/>
            <a:r>
              <a:rPr lang="en-US" dirty="0" err="1"/>
              <a:t>Exemplo</a:t>
            </a:r>
            <a:r>
              <a:rPr lang="en-US" dirty="0"/>
              <a:t> de </a:t>
            </a:r>
            <a:r>
              <a:rPr lang="en-US" dirty="0" err="1"/>
              <a:t>seletor</a:t>
            </a:r>
            <a:r>
              <a:rPr lang="en-US" dirty="0"/>
              <a:t> </a:t>
            </a:r>
            <a:r>
              <a:rPr lang="en-US" dirty="0" err="1"/>
              <a:t>agrupado</a:t>
            </a:r>
            <a:r>
              <a:rPr lang="en-US" dirty="0"/>
              <a:t>:</a:t>
            </a:r>
          </a:p>
          <a:p>
            <a:pPr marL="914400" lvl="2" indent="0">
              <a:buNone/>
            </a:pPr>
            <a:r>
              <a:rPr lang="en-US" dirty="0" smtClean="0"/>
              <a:t>strong</a:t>
            </a:r>
            <a:r>
              <a:rPr lang="en-US" dirty="0"/>
              <a:t>, </a:t>
            </a:r>
            <a:r>
              <a:rPr lang="en-US" dirty="0" err="1"/>
              <a:t>em</a:t>
            </a:r>
            <a:r>
              <a:rPr lang="en-US" dirty="0"/>
              <a:t>, span { </a:t>
            </a:r>
          </a:p>
          <a:p>
            <a:pPr marL="914400" lvl="2" indent="0">
              <a:buNone/>
            </a:pPr>
            <a:r>
              <a:rPr lang="en-US" dirty="0" smtClean="0"/>
              <a:t>  color</a:t>
            </a:r>
            <a:r>
              <a:rPr lang="en-US" dirty="0"/>
              <a:t>: red;</a:t>
            </a:r>
          </a:p>
          <a:p>
            <a:pPr marL="914400" lvl="2" indent="0">
              <a:buNone/>
            </a:pPr>
            <a:r>
              <a:rPr lang="en-US" dirty="0"/>
              <a:t>}</a:t>
            </a:r>
          </a:p>
          <a:p>
            <a:r>
              <a:rPr lang="pt-BR" dirty="0"/>
              <a:t>Você agrupa elementos separados por vírgula para que herdem a mesma formatação</a:t>
            </a:r>
            <a:r>
              <a:rPr lang="pt-BR" dirty="0" smtClean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49654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Seletor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Estes </a:t>
            </a:r>
            <a:r>
              <a:rPr lang="pt-BR" dirty="0"/>
              <a:t>seletores são para cobrir suas necessidades básicas de formatação de elementos. Eles fazem o simples. O que vai fazer você trabalhar menos, escrever menos código CSS e também menos código </a:t>
            </a:r>
            <a:r>
              <a:rPr lang="pt-BR" dirty="0" err="1"/>
              <a:t>Javascript</a:t>
            </a:r>
            <a:r>
              <a:rPr lang="pt-BR" dirty="0"/>
              <a:t> são os seletores complexos. </a:t>
            </a:r>
          </a:p>
          <a:p>
            <a:r>
              <a:rPr lang="pt-BR" dirty="0"/>
              <a:t>Os </a:t>
            </a:r>
            <a:r>
              <a:rPr lang="pt-BR" dirty="0" smtClean="0"/>
              <a:t>seletores selecionam </a:t>
            </a:r>
            <a:r>
              <a:rPr lang="pt-BR" dirty="0"/>
              <a:t>elementos que talvez você precisaria fazer algum script em </a:t>
            </a:r>
            <a:r>
              <a:rPr lang="pt-BR" dirty="0" err="1"/>
              <a:t>Javascript</a:t>
            </a:r>
            <a:r>
              <a:rPr lang="pt-BR" dirty="0"/>
              <a:t> para poder marcá-lo com uma CLASS ou um ID para então você formatá-lo. Com os seletores complexos você consegue formatar elementos que antes eram inalcançáveis.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6021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Seletor id</a:t>
            </a:r>
          </a:p>
          <a:p>
            <a:pPr lvl="1"/>
            <a:r>
              <a:rPr lang="en-US" dirty="0" smtClean="0"/>
              <a:t>O </a:t>
            </a:r>
            <a:r>
              <a:rPr lang="en-US" dirty="0" err="1" smtClean="0"/>
              <a:t>seletor</a:t>
            </a:r>
            <a:r>
              <a:rPr lang="en-US" dirty="0" smtClean="0"/>
              <a:t> id é </a:t>
            </a:r>
            <a:r>
              <a:rPr lang="en-US" dirty="0" err="1" smtClean="0"/>
              <a:t>utilizado</a:t>
            </a:r>
            <a:r>
              <a:rPr lang="en-US" dirty="0" smtClean="0"/>
              <a:t> para </a:t>
            </a:r>
            <a:r>
              <a:rPr lang="en-US" dirty="0" err="1" smtClean="0"/>
              <a:t>especificar</a:t>
            </a:r>
            <a:r>
              <a:rPr lang="en-US" dirty="0" smtClean="0"/>
              <a:t> um </a:t>
            </a:r>
            <a:r>
              <a:rPr lang="en-US" dirty="0" err="1" smtClean="0"/>
              <a:t>estilo</a:t>
            </a:r>
            <a:r>
              <a:rPr lang="en-US" dirty="0" smtClean="0"/>
              <a:t> para um </a:t>
            </a:r>
            <a:r>
              <a:rPr lang="en-US" dirty="0" err="1" smtClean="0"/>
              <a:t>único</a:t>
            </a:r>
            <a:r>
              <a:rPr lang="en-US" dirty="0" smtClean="0"/>
              <a:t> </a:t>
            </a:r>
            <a:r>
              <a:rPr lang="en-US" dirty="0" err="1" smtClean="0"/>
              <a:t>elemento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O </a:t>
            </a:r>
            <a:r>
              <a:rPr lang="en-US" dirty="0" err="1" smtClean="0"/>
              <a:t>seletor</a:t>
            </a:r>
            <a:r>
              <a:rPr lang="en-US" dirty="0" smtClean="0"/>
              <a:t> id </a:t>
            </a:r>
            <a:r>
              <a:rPr lang="en-US" dirty="0" err="1" smtClean="0"/>
              <a:t>utiliza</a:t>
            </a:r>
            <a:r>
              <a:rPr lang="en-US" dirty="0" smtClean="0"/>
              <a:t> o </a:t>
            </a:r>
            <a:r>
              <a:rPr lang="en-US" dirty="0" err="1" smtClean="0"/>
              <a:t>atributo</a:t>
            </a:r>
            <a:r>
              <a:rPr lang="en-US" dirty="0" smtClean="0"/>
              <a:t> id do </a:t>
            </a:r>
            <a:r>
              <a:rPr lang="en-US" dirty="0" err="1" smtClean="0"/>
              <a:t>elemento</a:t>
            </a:r>
            <a:r>
              <a:rPr lang="en-US" dirty="0" smtClean="0"/>
              <a:t> HTML e </a:t>
            </a:r>
            <a:r>
              <a:rPr lang="en-US" dirty="0" err="1" smtClean="0"/>
              <a:t>utiliza</a:t>
            </a:r>
            <a:r>
              <a:rPr lang="en-US" dirty="0" smtClean="0"/>
              <a:t> o </a:t>
            </a:r>
            <a:r>
              <a:rPr lang="en-US" dirty="0" err="1" smtClean="0"/>
              <a:t>símbolo</a:t>
            </a:r>
            <a:r>
              <a:rPr lang="en-US" dirty="0" smtClean="0"/>
              <a:t> “#” antes do </a:t>
            </a:r>
            <a:r>
              <a:rPr lang="en-US" dirty="0" err="1" smtClean="0"/>
              <a:t>elemento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136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</a:t>
            </a:r>
            <a:endParaRPr lang="pt-BR" dirty="0"/>
          </a:p>
        </p:txBody>
      </p:sp>
      <p:sp>
        <p:nvSpPr>
          <p:cNvPr id="6" name="Espaço Reservado para Text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Seletor id</a:t>
            </a:r>
            <a:endParaRPr lang="pt-BR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111041"/>
            <a:ext cx="4699652" cy="45183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tângulo de cantos arredondados 8">
            <a:hlinkClick r:id="rId3" action="ppaction://hlinkfile"/>
          </p:cNvPr>
          <p:cNvSpPr/>
          <p:nvPr/>
        </p:nvSpPr>
        <p:spPr>
          <a:xfrm>
            <a:off x="7620000" y="5943600"/>
            <a:ext cx="1219200" cy="6858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u="sng" dirty="0" smtClean="0"/>
              <a:t>Testar</a:t>
            </a:r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4000047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 smtClean="0"/>
              <a:t>Seletor</a:t>
            </a:r>
            <a:r>
              <a:rPr lang="en-US" dirty="0" smtClean="0"/>
              <a:t> class</a:t>
            </a:r>
            <a:endParaRPr lang="en-US" dirty="0"/>
          </a:p>
          <a:p>
            <a:pPr lvl="1"/>
            <a:r>
              <a:rPr lang="en-US" dirty="0" smtClean="0"/>
              <a:t>O </a:t>
            </a:r>
            <a:r>
              <a:rPr lang="en-US" dirty="0" err="1" smtClean="0"/>
              <a:t>seletor</a:t>
            </a:r>
            <a:r>
              <a:rPr lang="en-US" dirty="0" smtClean="0"/>
              <a:t> class é </a:t>
            </a:r>
            <a:r>
              <a:rPr lang="en-US" dirty="0" err="1" smtClean="0"/>
              <a:t>utilizado</a:t>
            </a:r>
            <a:r>
              <a:rPr lang="en-US" dirty="0" smtClean="0"/>
              <a:t> para </a:t>
            </a:r>
            <a:r>
              <a:rPr lang="en-US" dirty="0" err="1" smtClean="0"/>
              <a:t>especificarT</a:t>
            </a:r>
            <a:r>
              <a:rPr lang="en-US" dirty="0" smtClean="0"/>
              <a:t> um </a:t>
            </a:r>
            <a:r>
              <a:rPr lang="en-US" dirty="0" err="1" smtClean="0"/>
              <a:t>estilo</a:t>
            </a:r>
            <a:r>
              <a:rPr lang="en-US" dirty="0" smtClean="0"/>
              <a:t> para um </a:t>
            </a:r>
            <a:r>
              <a:rPr lang="en-US" dirty="0" err="1" smtClean="0"/>
              <a:t>grupo</a:t>
            </a:r>
            <a:r>
              <a:rPr lang="en-US" dirty="0" smtClean="0"/>
              <a:t> de </a:t>
            </a:r>
            <a:r>
              <a:rPr lang="en-US" dirty="0" err="1" smtClean="0"/>
              <a:t>elementos</a:t>
            </a:r>
            <a:r>
              <a:rPr lang="en-US" dirty="0" smtClean="0"/>
              <a:t>. </a:t>
            </a:r>
            <a:r>
              <a:rPr lang="en-US" dirty="0" err="1" smtClean="0"/>
              <a:t>Diferente</a:t>
            </a:r>
            <a:r>
              <a:rPr lang="en-US" dirty="0" smtClean="0"/>
              <a:t> do </a:t>
            </a:r>
            <a:r>
              <a:rPr lang="en-US" dirty="0" err="1" smtClean="0"/>
              <a:t>seletor</a:t>
            </a:r>
            <a:r>
              <a:rPr lang="en-US" dirty="0" smtClean="0"/>
              <a:t> id, o </a:t>
            </a:r>
            <a:r>
              <a:rPr lang="en-US" dirty="0" err="1" smtClean="0"/>
              <a:t>seletor</a:t>
            </a:r>
            <a:r>
              <a:rPr lang="en-US" dirty="0" smtClean="0"/>
              <a:t> class é </a:t>
            </a:r>
            <a:r>
              <a:rPr lang="en-US" dirty="0" err="1" smtClean="0"/>
              <a:t>utilizado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muitos</a:t>
            </a:r>
            <a:r>
              <a:rPr lang="en-US" dirty="0" smtClean="0"/>
              <a:t> </a:t>
            </a:r>
            <a:r>
              <a:rPr lang="en-US" dirty="0" err="1" smtClean="0"/>
              <a:t>elementos</a:t>
            </a:r>
            <a:r>
              <a:rPr lang="en-US" dirty="0" smtClean="0"/>
              <a:t>. </a:t>
            </a:r>
            <a:endParaRPr lang="en-US" dirty="0"/>
          </a:p>
          <a:p>
            <a:r>
              <a:rPr lang="pt-BR" dirty="0"/>
              <a:t>Isso permite que </a:t>
            </a:r>
            <a:r>
              <a:rPr lang="pt-BR" dirty="0"/>
              <a:t>se </a:t>
            </a:r>
            <a:r>
              <a:rPr lang="pt-BR" dirty="0"/>
              <a:t>defina um estilo particular para muitos elementos HTML com a mesma classe</a:t>
            </a:r>
            <a:r>
              <a:rPr lang="pt-BR" dirty="0"/>
              <a:t>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3200" dirty="0" smtClean="0"/>
              <a:t>O </a:t>
            </a:r>
            <a:r>
              <a:rPr lang="en-US" sz="3200" dirty="0" err="1"/>
              <a:t>seletor</a:t>
            </a:r>
            <a:r>
              <a:rPr lang="en-US" sz="3200" dirty="0"/>
              <a:t> class </a:t>
            </a:r>
            <a:r>
              <a:rPr lang="en-US" sz="3200" dirty="0" err="1"/>
              <a:t>utiliza</a:t>
            </a:r>
            <a:r>
              <a:rPr lang="en-US" sz="3200" dirty="0"/>
              <a:t> o </a:t>
            </a:r>
            <a:r>
              <a:rPr lang="en-US" sz="3200" dirty="0" err="1"/>
              <a:t>atributo</a:t>
            </a:r>
            <a:r>
              <a:rPr lang="en-US" sz="3200" dirty="0"/>
              <a:t> class do </a:t>
            </a:r>
            <a:r>
              <a:rPr lang="en-US" sz="3200" dirty="0" err="1"/>
              <a:t>elemento</a:t>
            </a:r>
            <a:r>
              <a:rPr lang="en-US" sz="3200" dirty="0"/>
              <a:t> HTML e </a:t>
            </a:r>
            <a:r>
              <a:rPr lang="en-US" sz="3200" dirty="0" err="1"/>
              <a:t>utiliza</a:t>
            </a:r>
            <a:r>
              <a:rPr lang="en-US" sz="3200" dirty="0"/>
              <a:t> o </a:t>
            </a:r>
            <a:r>
              <a:rPr lang="en-US" sz="3200" dirty="0" err="1"/>
              <a:t>sínal</a:t>
            </a:r>
            <a:r>
              <a:rPr lang="en-US" sz="3200" dirty="0"/>
              <a:t> “.” antes do </a:t>
            </a:r>
            <a:r>
              <a:rPr lang="en-US" sz="3200" dirty="0" err="1"/>
              <a:t>elemento</a:t>
            </a:r>
            <a:r>
              <a:rPr lang="en-US" sz="3200" dirty="0" smtClean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56305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Seletor </a:t>
            </a:r>
            <a:r>
              <a:rPr lang="pt-BR" dirty="0" err="1" smtClean="0"/>
              <a:t>class</a:t>
            </a:r>
            <a:endParaRPr lang="pt-BR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390319"/>
            <a:ext cx="6567088" cy="38920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tângulo de cantos arredondados 4">
            <a:hlinkClick r:id="rId3" action="ppaction://hlinkfile"/>
          </p:cNvPr>
          <p:cNvSpPr/>
          <p:nvPr/>
        </p:nvSpPr>
        <p:spPr>
          <a:xfrm>
            <a:off x="7620000" y="5943600"/>
            <a:ext cx="1219200" cy="6858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u="sng" dirty="0" smtClean="0"/>
              <a:t>Testar</a:t>
            </a:r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10085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Seletor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 smtClean="0"/>
              <a:t>Seletor </a:t>
            </a:r>
            <a:r>
              <a:rPr lang="pt-BR" dirty="0" err="1" smtClean="0"/>
              <a:t>class</a:t>
            </a:r>
            <a:r>
              <a:rPr lang="pt-BR" dirty="0" smtClean="0"/>
              <a:t> com um específico elemento HTML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.</a:t>
            </a:r>
            <a:endParaRPr lang="pt-BR" dirty="0"/>
          </a:p>
        </p:txBody>
      </p:sp>
      <p:sp>
        <p:nvSpPr>
          <p:cNvPr id="5" name="Retângulo de cantos arredondados 4">
            <a:hlinkClick r:id="rId2" action="ppaction://hlinkfile"/>
          </p:cNvPr>
          <p:cNvSpPr/>
          <p:nvPr/>
        </p:nvSpPr>
        <p:spPr>
          <a:xfrm>
            <a:off x="7620000" y="5943600"/>
            <a:ext cx="1219200" cy="6858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u="sng" dirty="0" smtClean="0"/>
              <a:t>Testar</a:t>
            </a:r>
            <a:endParaRPr lang="pt-BR" u="sng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258" y="2514600"/>
            <a:ext cx="6546342" cy="37111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5187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CSS Externa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90" y="2214181"/>
            <a:ext cx="8498421" cy="15800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tângulo de cantos arredondados 4">
            <a:hlinkClick r:id="rId3" action="ppaction://hlinkfile"/>
          </p:cNvPr>
          <p:cNvSpPr/>
          <p:nvPr/>
        </p:nvSpPr>
        <p:spPr>
          <a:xfrm>
            <a:off x="7620000" y="5943600"/>
            <a:ext cx="1219200" cy="6858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u="sng" dirty="0" smtClean="0"/>
              <a:t>Testar</a:t>
            </a:r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2251189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CSS Interna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073" y="1165545"/>
            <a:ext cx="5159855" cy="56162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de cantos arredondados 5">
            <a:hlinkClick r:id="rId3" action="ppaction://hlinkfile"/>
          </p:cNvPr>
          <p:cNvSpPr/>
          <p:nvPr/>
        </p:nvSpPr>
        <p:spPr>
          <a:xfrm>
            <a:off x="7620000" y="5943600"/>
            <a:ext cx="1219200" cy="6858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u="sng" dirty="0" smtClean="0"/>
              <a:t>Testar</a:t>
            </a:r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4221868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CSS </a:t>
            </a:r>
            <a:r>
              <a:rPr lang="pt-BR" dirty="0" err="1" smtClean="0"/>
              <a:t>Inline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092" y="1828800"/>
            <a:ext cx="8054229" cy="27314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tângulo de cantos arredondados 4">
            <a:hlinkClick r:id="rId3" action="ppaction://hlinkfile"/>
          </p:cNvPr>
          <p:cNvSpPr/>
          <p:nvPr/>
        </p:nvSpPr>
        <p:spPr>
          <a:xfrm>
            <a:off x="7620000" y="5943600"/>
            <a:ext cx="1219200" cy="68580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u="sng" dirty="0" smtClean="0"/>
              <a:t>Testar</a:t>
            </a:r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4285771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</TotalTime>
  <Words>1251</Words>
  <Application>Microsoft Office PowerPoint</Application>
  <PresentationFormat>Apresentação na tela (4:3)</PresentationFormat>
  <Paragraphs>228</Paragraphs>
  <Slides>30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1" baseType="lpstr">
      <vt:lpstr>Tema do Office</vt:lpstr>
      <vt:lpstr>HTML5 e CSS3</vt:lpstr>
      <vt:lpstr>CSS3</vt:lpstr>
      <vt:lpstr>CSS3</vt:lpstr>
      <vt:lpstr>CSS</vt:lpstr>
      <vt:lpstr>Uma situação</vt:lpstr>
      <vt:lpstr>CSS</vt:lpstr>
      <vt:lpstr>CSS</vt:lpstr>
      <vt:lpstr>CSS</vt:lpstr>
      <vt:lpstr>Sintaxe</vt:lpstr>
      <vt:lpstr>Sintaxe</vt:lpstr>
      <vt:lpstr>Sintaxe</vt:lpstr>
      <vt:lpstr>Exercitando</vt:lpstr>
      <vt:lpstr>Exercitando</vt:lpstr>
      <vt:lpstr>Unidades de Medida</vt:lpstr>
      <vt:lpstr>Cores</vt:lpstr>
      <vt:lpstr>Cores com Hexadecimal</vt:lpstr>
      <vt:lpstr>Cores com RGB</vt:lpstr>
      <vt:lpstr>Cores com RGB e alpha</vt:lpstr>
      <vt:lpstr>Cores com RGB e alpha</vt:lpstr>
      <vt:lpstr>Seletor</vt:lpstr>
      <vt:lpstr>Seletor</vt:lpstr>
      <vt:lpstr>Seletor</vt:lpstr>
      <vt:lpstr>Seletor</vt:lpstr>
      <vt:lpstr>Seletor</vt:lpstr>
      <vt:lpstr>Seletor</vt:lpstr>
      <vt:lpstr>Seletor</vt:lpstr>
      <vt:lpstr>Seletor</vt:lpstr>
      <vt:lpstr>CSS Externa</vt:lpstr>
      <vt:lpstr>CSS Interna</vt:lpstr>
      <vt:lpstr>CSS Inline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Windows User</dc:creator>
  <cp:lastModifiedBy>Daniel Y. Kawasaki</cp:lastModifiedBy>
  <cp:revision>32</cp:revision>
  <dcterms:created xsi:type="dcterms:W3CDTF">2013-11-27T13:32:50Z</dcterms:created>
  <dcterms:modified xsi:type="dcterms:W3CDTF">2013-11-30T15:02:40Z</dcterms:modified>
</cp:coreProperties>
</file>