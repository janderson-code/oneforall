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34" r:id="rId4"/>
    <p:sldId id="296" r:id="rId5"/>
    <p:sldId id="297" r:id="rId6"/>
    <p:sldId id="298" r:id="rId7"/>
    <p:sldId id="300" r:id="rId8"/>
    <p:sldId id="299" r:id="rId9"/>
    <p:sldId id="303" r:id="rId10"/>
    <p:sldId id="304" r:id="rId11"/>
    <p:sldId id="301" r:id="rId12"/>
    <p:sldId id="302" r:id="rId13"/>
    <p:sldId id="311" r:id="rId14"/>
    <p:sldId id="312" r:id="rId15"/>
    <p:sldId id="306" r:id="rId16"/>
    <p:sldId id="308" r:id="rId17"/>
    <p:sldId id="309" r:id="rId18"/>
    <p:sldId id="310" r:id="rId19"/>
    <p:sldId id="313" r:id="rId20"/>
    <p:sldId id="319" r:id="rId21"/>
    <p:sldId id="314" r:id="rId22"/>
    <p:sldId id="315" r:id="rId23"/>
    <p:sldId id="316" r:id="rId24"/>
    <p:sldId id="320" r:id="rId25"/>
    <p:sldId id="317" r:id="rId26"/>
    <p:sldId id="321" r:id="rId27"/>
    <p:sldId id="322" r:id="rId28"/>
    <p:sldId id="323" r:id="rId29"/>
    <p:sldId id="324" r:id="rId30"/>
    <p:sldId id="325" r:id="rId31"/>
    <p:sldId id="326" r:id="rId32"/>
    <p:sldId id="329" r:id="rId33"/>
    <p:sldId id="330" r:id="rId34"/>
    <p:sldId id="331" r:id="rId35"/>
    <p:sldId id="332" r:id="rId36"/>
    <p:sldId id="333" r:id="rId37"/>
    <p:sldId id="335" r:id="rId38"/>
    <p:sldId id="336" r:id="rId39"/>
    <p:sldId id="33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594" y="-3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B17CB-50A9-4A4B-AA96-638DC3BE41DF}" type="datetimeFigureOut">
              <a:rPr lang="pt-BR" smtClean="0"/>
              <a:t>07/12/2013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7D3F3-1767-405A-B14B-1CD92BD73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17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7D3F3-1767-405A-B14B-1CD92BD73FE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0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8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6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0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8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10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7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2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8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1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2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7CB96-E941-41BE-B278-0B778258BA9B}" type="datetimeFigureOut">
              <a:rPr lang="en-US" smtClean="0"/>
              <a:t>12/7/2013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1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odelos/css_font_family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odelos/css_font_size_px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odelos/css_font_size_em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odelos/css_font_size_em_perc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odelos/css_font_style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odelos/css_font_variant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modelos/css_font_weight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odelos/css_fon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modelos/css_font_compilado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modelos/css_text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modelos/css_list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odelos/css_list_position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odelos/css_pseudoclass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modelos/css_pseudoclass_focus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modelos/css_pseudoclass_firstletter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modelos/css_pseudoclass_firstline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modelos/css_pseudoclass_firstchild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modelos/css_pseudoclass_before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modelos/css_pseudoclass_after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modelos/css_text_shadow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modelos/css_word_wrap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HTML5 e CSS3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Criando </a:t>
            </a:r>
            <a:r>
              <a:rPr lang="pt-BR" dirty="0" err="1" smtClean="0"/>
              <a:t>WebSites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872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CSS3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HTML5 e </a:t>
            </a:r>
            <a:r>
              <a:rPr lang="pt-BR" dirty="0" smtClean="0"/>
              <a:t>CSS3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770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Fontes</a:t>
            </a:r>
          </a:p>
          <a:p>
            <a:pPr lvl="1"/>
            <a:r>
              <a:rPr lang="pt-BR" dirty="0" err="1" smtClean="0"/>
              <a:t>Font-family</a:t>
            </a:r>
            <a:endParaRPr lang="pt-BR" dirty="0" smtClean="0"/>
          </a:p>
          <a:p>
            <a:pPr lvl="1"/>
            <a:r>
              <a:rPr lang="pt-BR" dirty="0" err="1" smtClean="0"/>
              <a:t>Font-size</a:t>
            </a:r>
            <a:endParaRPr lang="pt-BR" dirty="0" smtClean="0"/>
          </a:p>
          <a:p>
            <a:pPr lvl="1"/>
            <a:r>
              <a:rPr lang="pt-BR" dirty="0" err="1" smtClean="0"/>
              <a:t>Font-style</a:t>
            </a:r>
            <a:endParaRPr lang="pt-BR" dirty="0" smtClean="0"/>
          </a:p>
          <a:p>
            <a:pPr lvl="1"/>
            <a:r>
              <a:rPr lang="pt-BR" dirty="0" err="1" smtClean="0"/>
              <a:t>Font-variant</a:t>
            </a:r>
            <a:endParaRPr lang="pt-BR" dirty="0" smtClean="0"/>
          </a:p>
          <a:p>
            <a:pPr lvl="1"/>
            <a:r>
              <a:rPr lang="pt-BR" dirty="0" err="1" smtClean="0"/>
              <a:t>Font-weight</a:t>
            </a:r>
            <a:endParaRPr lang="pt-BR" dirty="0" smtClean="0"/>
          </a:p>
          <a:p>
            <a:r>
              <a:rPr lang="pt-BR" dirty="0" smtClean="0"/>
              <a:t>Texto</a:t>
            </a:r>
          </a:p>
          <a:p>
            <a:r>
              <a:rPr lang="pt-BR" dirty="0" err="1" smtClean="0"/>
              <a:t>List</a:t>
            </a:r>
            <a:endParaRPr lang="pt-BR" dirty="0" smtClean="0"/>
          </a:p>
          <a:p>
            <a:r>
              <a:rPr lang="pt-BR" dirty="0" err="1" smtClean="0"/>
              <a:t>Pseudo-Classes</a:t>
            </a:r>
            <a:endParaRPr lang="pt-BR" dirty="0" smtClean="0"/>
          </a:p>
          <a:p>
            <a:r>
              <a:rPr lang="pt-BR" dirty="0" smtClean="0"/>
              <a:t>Efeitos de Texto</a:t>
            </a:r>
          </a:p>
          <a:p>
            <a:endParaRPr lang="pt-BR" dirty="0" smtClean="0"/>
          </a:p>
          <a:p>
            <a:endParaRPr lang="pt-BR" dirty="0" smtClean="0"/>
          </a:p>
          <a:p>
            <a:pPr marL="457200" lvl="1" indent="0">
              <a:buNone/>
            </a:pPr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967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Nas</a:t>
            </a:r>
            <a:r>
              <a:rPr lang="en-US" dirty="0" smtClean="0"/>
              <a:t> </a:t>
            </a:r>
            <a:r>
              <a:rPr lang="en-US" dirty="0" err="1" smtClean="0"/>
              <a:t>propriedades</a:t>
            </a:r>
            <a:r>
              <a:rPr lang="en-US" dirty="0" smtClean="0"/>
              <a:t> de font do CSS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definidas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seguintes</a:t>
            </a:r>
            <a:r>
              <a:rPr lang="en-US" dirty="0" smtClean="0"/>
              <a:t> </a:t>
            </a:r>
            <a:r>
              <a:rPr lang="en-US" dirty="0" err="1" smtClean="0"/>
              <a:t>itens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endParaRPr lang="en-US" dirty="0" smtClean="0"/>
          </a:p>
          <a:p>
            <a:pPr lvl="1"/>
            <a:r>
              <a:rPr lang="en-US" dirty="0" smtClean="0"/>
              <a:t>boldness</a:t>
            </a:r>
          </a:p>
          <a:p>
            <a:pPr lvl="1"/>
            <a:r>
              <a:rPr lang="en-US" dirty="0" err="1" smtClean="0"/>
              <a:t>tamanho</a:t>
            </a:r>
            <a:endParaRPr lang="en-US" dirty="0" smtClean="0"/>
          </a:p>
          <a:p>
            <a:pPr lvl="1"/>
            <a:r>
              <a:rPr lang="en-US" dirty="0" err="1" smtClean="0"/>
              <a:t>estilo</a:t>
            </a:r>
            <a:r>
              <a:rPr lang="en-US" dirty="0" smtClean="0"/>
              <a:t> do </a:t>
            </a:r>
            <a:r>
              <a:rPr lang="en-US" dirty="0" err="1" smtClean="0"/>
              <a:t>texto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 smtClean="0"/>
              <a:t>Diferenças</a:t>
            </a:r>
            <a:r>
              <a:rPr lang="en-US" dirty="0" smtClean="0"/>
              <a:t> entre </a:t>
            </a:r>
            <a:r>
              <a:rPr lang="en-US" dirty="0" err="1" smtClean="0"/>
              <a:t>fontes</a:t>
            </a:r>
            <a:r>
              <a:rPr lang="en-US" dirty="0" smtClean="0"/>
              <a:t> Serif e Sans-serif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6" name="Picture 2" descr="C:\Users\daniel.ykawasaki\Downloads\serif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586" y="4191000"/>
            <a:ext cx="37909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82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/>
              <a:t>F</a:t>
            </a:r>
            <a:r>
              <a:rPr lang="pt-BR" dirty="0" smtClean="0"/>
              <a:t>amily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Font Family</a:t>
            </a:r>
            <a:endParaRPr lang="en-US" dirty="0"/>
          </a:p>
          <a:p>
            <a:pPr lvl="1"/>
            <a:r>
              <a:rPr lang="en-US" dirty="0" smtClean="0"/>
              <a:t>No CSS </a:t>
            </a:r>
            <a:r>
              <a:rPr lang="en-US" dirty="0" err="1" smtClean="0"/>
              <a:t>existem</a:t>
            </a:r>
            <a:r>
              <a:rPr lang="en-US" dirty="0" smtClean="0"/>
              <a:t> </a:t>
            </a:r>
            <a:r>
              <a:rPr lang="en-US" dirty="0" err="1" smtClean="0"/>
              <a:t>dois</a:t>
            </a:r>
            <a:r>
              <a:rPr lang="en-US" dirty="0" smtClean="0"/>
              <a:t> </a:t>
            </a:r>
            <a:r>
              <a:rPr lang="en-US" dirty="0" err="1" smtClean="0"/>
              <a:t>tipos</a:t>
            </a:r>
            <a:r>
              <a:rPr lang="en-US" dirty="0" smtClean="0"/>
              <a:t> de </a:t>
            </a:r>
            <a:r>
              <a:rPr lang="en-US" dirty="0" err="1" smtClean="0"/>
              <a:t>nomes</a:t>
            </a:r>
            <a:r>
              <a:rPr lang="en-US" dirty="0" smtClean="0"/>
              <a:t> para </a:t>
            </a:r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:</a:t>
            </a:r>
            <a:endParaRPr lang="en-US" dirty="0"/>
          </a:p>
          <a:p>
            <a:pPr lvl="2"/>
            <a:r>
              <a:rPr lang="en-US" b="1" dirty="0"/>
              <a:t>generic family</a:t>
            </a:r>
            <a:r>
              <a:rPr lang="en-US" dirty="0"/>
              <a:t> - </a:t>
            </a:r>
            <a:r>
              <a:rPr lang="en-US" dirty="0" smtClean="0"/>
              <a:t>um </a:t>
            </a:r>
            <a:r>
              <a:rPr lang="en-US" dirty="0" err="1" smtClean="0"/>
              <a:t>grupo</a:t>
            </a:r>
            <a:r>
              <a:rPr lang="en-US" dirty="0" smtClean="0"/>
              <a:t> de </a:t>
            </a:r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 com o visual similar (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exemplo</a:t>
            </a:r>
            <a:r>
              <a:rPr lang="en-US" dirty="0" smtClean="0"/>
              <a:t> “Serif” </a:t>
            </a:r>
            <a:r>
              <a:rPr lang="en-US" dirty="0" err="1" smtClean="0"/>
              <a:t>ou</a:t>
            </a:r>
            <a:r>
              <a:rPr lang="en-US" dirty="0" smtClean="0"/>
              <a:t> “</a:t>
            </a:r>
            <a:r>
              <a:rPr lang="en-US" dirty="0" err="1" smtClean="0"/>
              <a:t>Monospace</a:t>
            </a:r>
            <a:r>
              <a:rPr lang="en-US" dirty="0" smtClean="0"/>
              <a:t>”)</a:t>
            </a:r>
          </a:p>
          <a:p>
            <a:pPr lvl="2"/>
            <a:r>
              <a:rPr lang="en-US" b="1" dirty="0" smtClean="0"/>
              <a:t>font </a:t>
            </a:r>
            <a:r>
              <a:rPr lang="en-US" b="1" dirty="0"/>
              <a:t>family</a:t>
            </a:r>
            <a:r>
              <a:rPr lang="en-US" dirty="0"/>
              <a:t> - </a:t>
            </a:r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 </a:t>
            </a:r>
            <a:r>
              <a:rPr lang="en-US" dirty="0" err="1" smtClean="0"/>
              <a:t>específica</a:t>
            </a:r>
            <a:r>
              <a:rPr lang="en-US" dirty="0" smtClean="0"/>
              <a:t> (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exemplo</a:t>
            </a:r>
            <a:r>
              <a:rPr lang="en-US" dirty="0" smtClean="0"/>
              <a:t> “Times New Roman” </a:t>
            </a:r>
            <a:r>
              <a:rPr lang="en-US" dirty="0" err="1" smtClean="0"/>
              <a:t>ou</a:t>
            </a:r>
            <a:r>
              <a:rPr lang="en-US" dirty="0" smtClean="0"/>
              <a:t> “Arial”)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388452"/>
              </p:ext>
            </p:extLst>
          </p:nvPr>
        </p:nvGraphicFramePr>
        <p:xfrm>
          <a:off x="628132" y="3276600"/>
          <a:ext cx="8058668" cy="2438276"/>
        </p:xfrm>
        <a:graphic>
          <a:graphicData uri="http://schemas.openxmlformats.org/drawingml/2006/table">
            <a:tbl>
              <a:tblPr/>
              <a:tblGrid>
                <a:gridCol w="1752600"/>
                <a:gridCol w="2019300"/>
                <a:gridCol w="4286768"/>
              </a:tblGrid>
              <a:tr h="331346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Generic</a:t>
                      </a:r>
                      <a:r>
                        <a:rPr lang="pt-BR" sz="1600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family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Font</a:t>
                      </a:r>
                      <a:r>
                        <a:rPr lang="pt-BR" sz="1600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family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506854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Serif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>
                          <a:effectLst/>
                          <a:latin typeface="Times New Roman"/>
                        </a:rPr>
                        <a:t>Times New Roman</a:t>
                      </a:r>
                      <a:r>
                        <a:rPr lang="pt-BR" sz="1600" dirty="0">
                          <a:effectLst/>
                          <a:latin typeface="verdana"/>
                        </a:rPr>
                        <a:t/>
                      </a:r>
                      <a:br>
                        <a:rPr lang="pt-BR" sz="1600" dirty="0">
                          <a:effectLst/>
                          <a:latin typeface="verdana"/>
                        </a:rPr>
                      </a:br>
                      <a:r>
                        <a:rPr lang="pt-BR" sz="1600" dirty="0" err="1">
                          <a:effectLst/>
                          <a:latin typeface="Georgia"/>
                        </a:rPr>
                        <a:t>Georgia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Fontes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com “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Serif” tem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algumas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linhas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pequenas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no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fim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alguns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caracteres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624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Sans-serif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Arial"/>
                        </a:rPr>
                        <a:t>Arial</a:t>
                      </a:r>
                      <a:r>
                        <a:rPr lang="pt-BR" sz="1600">
                          <a:effectLst/>
                          <a:latin typeface="verdana"/>
                        </a:rPr>
                        <a:t/>
                      </a:r>
                      <a:br>
                        <a:rPr lang="pt-BR" sz="1600">
                          <a:effectLst/>
                          <a:latin typeface="verdana"/>
                        </a:rPr>
                      </a:br>
                      <a:r>
                        <a:rPr lang="pt-BR" sz="1600">
                          <a:effectLst/>
                          <a:latin typeface="Verdana"/>
                        </a:rPr>
                        <a:t>Verdana</a:t>
                      </a:r>
                      <a:endParaRPr lang="pt-BR" sz="160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/>
                        </a:rPr>
                        <a:t>"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Sans-serif"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significa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“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Sem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serif” –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essas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fontes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não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possuem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linhas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no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fim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dos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caracters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16354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Monospace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>
                          <a:effectLst/>
                          <a:latin typeface="Courier New"/>
                        </a:rPr>
                        <a:t>Courier New</a:t>
                      </a:r>
                      <a:r>
                        <a:rPr lang="pt-BR" sz="1600" dirty="0">
                          <a:effectLst/>
                          <a:latin typeface="verdana"/>
                        </a:rPr>
                        <a:t/>
                      </a:r>
                      <a:br>
                        <a:rPr lang="pt-BR" sz="1600" dirty="0">
                          <a:effectLst/>
                          <a:latin typeface="verdana"/>
                        </a:rPr>
                      </a:br>
                      <a:r>
                        <a:rPr lang="pt-BR" sz="1600" dirty="0">
                          <a:effectLst/>
                          <a:latin typeface="Lucida Console"/>
                        </a:rPr>
                        <a:t>Lucida Console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Todos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os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caracteres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“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monospace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” tem o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mesmo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tamanho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609599" y="5967203"/>
            <a:ext cx="807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Obs.:</a:t>
            </a:r>
            <a:r>
              <a:rPr lang="en-US" dirty="0"/>
              <a:t> </a:t>
            </a:r>
            <a:r>
              <a:rPr lang="en-US" dirty="0" smtClean="0"/>
              <a:t>Na </a:t>
            </a:r>
            <a:r>
              <a:rPr lang="en-US" dirty="0" err="1" smtClean="0"/>
              <a:t>tela</a:t>
            </a:r>
            <a:r>
              <a:rPr lang="en-US" dirty="0" smtClean="0"/>
              <a:t> de </a:t>
            </a:r>
            <a:r>
              <a:rPr lang="en-US" dirty="0" err="1" smtClean="0"/>
              <a:t>computadores</a:t>
            </a:r>
            <a:r>
              <a:rPr lang="en-US" dirty="0" smtClean="0"/>
              <a:t>, as </a:t>
            </a:r>
            <a:r>
              <a:rPr lang="en-US" dirty="0" err="1" smtClean="0"/>
              <a:t>fontes</a:t>
            </a:r>
            <a:r>
              <a:rPr lang="en-US" dirty="0" smtClean="0"/>
              <a:t> sans-serif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considerados</a:t>
            </a:r>
            <a:r>
              <a:rPr lang="en-US" dirty="0" smtClean="0"/>
              <a:t> </a:t>
            </a:r>
            <a:r>
              <a:rPr lang="en-US" dirty="0" err="1" smtClean="0"/>
              <a:t>melhores</a:t>
            </a:r>
            <a:r>
              <a:rPr lang="en-US" dirty="0" smtClean="0"/>
              <a:t> para </a:t>
            </a:r>
            <a:r>
              <a:rPr lang="en-US" dirty="0" err="1" smtClean="0"/>
              <a:t>leitura</a:t>
            </a:r>
            <a:r>
              <a:rPr lang="en-US" dirty="0"/>
              <a:t> </a:t>
            </a:r>
            <a:r>
              <a:rPr lang="en-US" dirty="0" smtClean="0"/>
              <a:t>do </a:t>
            </a:r>
            <a:r>
              <a:rPr lang="en-US" dirty="0" err="1" smtClean="0"/>
              <a:t>que</a:t>
            </a:r>
            <a:r>
              <a:rPr lang="en-US" dirty="0" smtClean="0"/>
              <a:t> as </a:t>
            </a:r>
            <a:r>
              <a:rPr lang="en-US" dirty="0" err="1" smtClean="0"/>
              <a:t>fontes</a:t>
            </a:r>
            <a:r>
              <a:rPr lang="en-US" dirty="0" smtClean="0"/>
              <a:t> serif.</a:t>
            </a:r>
          </a:p>
        </p:txBody>
      </p:sp>
    </p:spTree>
    <p:extLst>
      <p:ext uri="{BB962C8B-B14F-4D97-AF65-F5344CB8AC3E}">
        <p14:creationId xmlns:p14="http://schemas.microsoft.com/office/powerpoint/2010/main" val="172592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Font</a:t>
            </a:r>
            <a:r>
              <a:rPr lang="pt-BR" dirty="0"/>
              <a:t> </a:t>
            </a:r>
            <a:r>
              <a:rPr lang="pt-BR" dirty="0" smtClean="0"/>
              <a:t>Family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 do </a:t>
            </a:r>
            <a:r>
              <a:rPr lang="en-US" dirty="0" err="1" smtClean="0"/>
              <a:t>texto</a:t>
            </a:r>
            <a:r>
              <a:rPr lang="en-US" dirty="0" smtClean="0"/>
              <a:t> é </a:t>
            </a:r>
            <a:r>
              <a:rPr lang="en-US" dirty="0" err="1" smtClean="0"/>
              <a:t>configurado</a:t>
            </a:r>
            <a:r>
              <a:rPr lang="en-US" dirty="0" smtClean="0"/>
              <a:t> com a </a:t>
            </a:r>
            <a:r>
              <a:rPr lang="en-US" dirty="0" err="1" smtClean="0"/>
              <a:t>propriedade</a:t>
            </a:r>
            <a:r>
              <a:rPr lang="en-US" dirty="0" smtClean="0"/>
              <a:t> font-family.</a:t>
            </a:r>
          </a:p>
          <a:p>
            <a:r>
              <a:rPr lang="en-US" dirty="0" smtClean="0"/>
              <a:t>A </a:t>
            </a:r>
            <a:r>
              <a:rPr lang="en-US" dirty="0" err="1" smtClean="0"/>
              <a:t>propriedade</a:t>
            </a:r>
            <a:r>
              <a:rPr lang="en-US" dirty="0" smtClean="0"/>
              <a:t> font-family </a:t>
            </a:r>
            <a:r>
              <a:rPr lang="en-US" dirty="0" err="1" smtClean="0"/>
              <a:t>deve</a:t>
            </a:r>
            <a:r>
              <a:rPr lang="en-US" dirty="0" smtClean="0"/>
              <a:t> </a:t>
            </a:r>
            <a:r>
              <a:rPr lang="en-US" dirty="0" err="1" smtClean="0"/>
              <a:t>conter</a:t>
            </a:r>
            <a:r>
              <a:rPr lang="en-US" dirty="0" smtClean="0"/>
              <a:t> </a:t>
            </a:r>
            <a:r>
              <a:rPr lang="en-US" dirty="0" err="1" smtClean="0"/>
              <a:t>vários</a:t>
            </a:r>
            <a:r>
              <a:rPr lang="en-US" dirty="0" smtClean="0"/>
              <a:t> </a:t>
            </a:r>
            <a:r>
              <a:rPr lang="en-US" dirty="0" err="1" smtClean="0"/>
              <a:t>nomes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. Se o </a:t>
            </a:r>
            <a:r>
              <a:rPr lang="en-US" dirty="0" err="1" smtClean="0"/>
              <a:t>navegador</a:t>
            </a:r>
            <a:r>
              <a:rPr lang="en-US" dirty="0" smtClean="0"/>
              <a:t>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suportar</a:t>
            </a:r>
            <a:r>
              <a:rPr lang="en-US" dirty="0" smtClean="0"/>
              <a:t> a </a:t>
            </a:r>
            <a:r>
              <a:rPr lang="en-US" dirty="0" err="1" smtClean="0"/>
              <a:t>primeira</a:t>
            </a:r>
            <a:r>
              <a:rPr lang="en-US" dirty="0" smtClean="0"/>
              <a:t> </a:t>
            </a:r>
            <a:r>
              <a:rPr lang="en-US" dirty="0" err="1" smtClean="0"/>
              <a:t>fonte</a:t>
            </a:r>
            <a:r>
              <a:rPr lang="en-US" dirty="0" smtClean="0"/>
              <a:t> da </a:t>
            </a:r>
            <a:r>
              <a:rPr lang="en-US" dirty="0" err="1" smtClean="0"/>
              <a:t>lista</a:t>
            </a:r>
            <a:r>
              <a:rPr lang="en-US" dirty="0" smtClean="0"/>
              <a:t>, </a:t>
            </a:r>
            <a:r>
              <a:rPr lang="en-US" dirty="0" err="1" smtClean="0"/>
              <a:t>tentará</a:t>
            </a:r>
            <a:r>
              <a:rPr lang="en-US" dirty="0" smtClean="0"/>
              <a:t> a </a:t>
            </a:r>
            <a:r>
              <a:rPr lang="en-US" dirty="0" err="1" smtClean="0"/>
              <a:t>seguinte</a:t>
            </a:r>
            <a:r>
              <a:rPr lang="en-US" dirty="0" smtClean="0"/>
              <a:t> </a:t>
            </a:r>
            <a:r>
              <a:rPr lang="en-US" dirty="0" err="1" smtClean="0"/>
              <a:t>fonte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Coloque</a:t>
            </a:r>
            <a:r>
              <a:rPr lang="en-US" dirty="0" smtClean="0"/>
              <a:t> a </a:t>
            </a:r>
            <a:r>
              <a:rPr lang="en-US" dirty="0" err="1" smtClean="0"/>
              <a:t>fonte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você</a:t>
            </a:r>
            <a:r>
              <a:rPr lang="en-US" dirty="0" smtClean="0"/>
              <a:t> </a:t>
            </a:r>
            <a:r>
              <a:rPr lang="en-US" dirty="0" err="1" smtClean="0"/>
              <a:t>quer</a:t>
            </a:r>
            <a:r>
              <a:rPr lang="en-US" dirty="0" smtClean="0"/>
              <a:t> e </a:t>
            </a:r>
            <a:r>
              <a:rPr lang="en-US" dirty="0" err="1" smtClean="0"/>
              <a:t>termine</a:t>
            </a:r>
            <a:r>
              <a:rPr lang="en-US" dirty="0" smtClean="0"/>
              <a:t> com a “generic family”, para </a:t>
            </a:r>
            <a:r>
              <a:rPr lang="en-US" dirty="0" err="1" smtClean="0"/>
              <a:t>que</a:t>
            </a:r>
            <a:r>
              <a:rPr lang="en-US" dirty="0" smtClean="0"/>
              <a:t> o </a:t>
            </a:r>
            <a:r>
              <a:rPr lang="en-US" dirty="0" err="1" smtClean="0"/>
              <a:t>navegador</a:t>
            </a:r>
            <a:r>
              <a:rPr lang="en-US" dirty="0" smtClean="0"/>
              <a:t> </a:t>
            </a:r>
            <a:r>
              <a:rPr lang="en-US" dirty="0" err="1" smtClean="0"/>
              <a:t>escolha</a:t>
            </a:r>
            <a:r>
              <a:rPr lang="en-US" dirty="0" smtClean="0"/>
              <a:t> a </a:t>
            </a:r>
            <a:r>
              <a:rPr lang="en-US" dirty="0" err="1" smtClean="0"/>
              <a:t>fonte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“generic family”, s</a:t>
            </a:r>
            <a:r>
              <a:rPr lang="pt-BR" dirty="0" smtClean="0"/>
              <a:t>e </a:t>
            </a:r>
            <a:r>
              <a:rPr lang="pt-BR" dirty="0"/>
              <a:t>não houver </a:t>
            </a:r>
            <a:r>
              <a:rPr lang="pt-BR" dirty="0" smtClean="0"/>
              <a:t>outras fontes disponíveis.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Obs.: </a:t>
            </a:r>
            <a:r>
              <a:rPr lang="pt-BR" dirty="0"/>
              <a:t>Se o nome </a:t>
            </a:r>
            <a:r>
              <a:rPr lang="pt-BR" dirty="0" smtClean="0"/>
              <a:t>da </a:t>
            </a:r>
            <a:r>
              <a:rPr lang="pt-BR" dirty="0"/>
              <a:t>família de fontes </a:t>
            </a:r>
            <a:r>
              <a:rPr lang="pt-BR" dirty="0" smtClean="0"/>
              <a:t>houver mais </a:t>
            </a:r>
            <a:r>
              <a:rPr lang="pt-BR" dirty="0"/>
              <a:t>do que uma palavra, </a:t>
            </a:r>
            <a:r>
              <a:rPr lang="pt-BR" dirty="0" smtClean="0"/>
              <a:t>deve </a:t>
            </a:r>
            <a:r>
              <a:rPr lang="pt-BR" dirty="0"/>
              <a:t>estar entre aspas, como: "Times New Roman</a:t>
            </a:r>
            <a:r>
              <a:rPr lang="pt-BR" dirty="0" smtClean="0"/>
              <a:t>".</a:t>
            </a:r>
          </a:p>
          <a:p>
            <a:endParaRPr lang="pt-BR" dirty="0" smtClean="0"/>
          </a:p>
          <a:p>
            <a:r>
              <a:rPr lang="pt-BR" dirty="0" smtClean="0"/>
              <a:t>Se mais </a:t>
            </a:r>
            <a:r>
              <a:rPr lang="pt-BR" dirty="0"/>
              <a:t>do que uma família de fonte </a:t>
            </a:r>
            <a:r>
              <a:rPr lang="pt-BR" dirty="0" smtClean="0"/>
              <a:t>for especificado, a </a:t>
            </a:r>
            <a:r>
              <a:rPr lang="pt-BR" dirty="0"/>
              <a:t>lista </a:t>
            </a:r>
            <a:r>
              <a:rPr lang="pt-BR" dirty="0" smtClean="0"/>
              <a:t>deve ser separada </a:t>
            </a:r>
            <a:r>
              <a:rPr lang="pt-BR" dirty="0"/>
              <a:t>por </a:t>
            </a:r>
            <a:r>
              <a:rPr lang="pt-BR" dirty="0" smtClean="0"/>
              <a:t>vírgulas.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2570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F</a:t>
            </a:r>
            <a:r>
              <a:rPr lang="pt-BR" dirty="0" err="1" smtClean="0"/>
              <a:t>ont</a:t>
            </a:r>
            <a:r>
              <a:rPr lang="pt-BR" dirty="0" smtClean="0"/>
              <a:t> Family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75" y="1378839"/>
            <a:ext cx="6961251" cy="47023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947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Combinações mais comuns de fontes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Fonte </a:t>
            </a:r>
            <a:r>
              <a:rPr lang="pt-BR" dirty="0" err="1" smtClean="0"/>
              <a:t>Serif</a:t>
            </a:r>
            <a:endParaRPr lang="pt-BR" dirty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498282"/>
              </p:ext>
            </p:extLst>
          </p:nvPr>
        </p:nvGraphicFramePr>
        <p:xfrm>
          <a:off x="661987" y="2731611"/>
          <a:ext cx="7820025" cy="2049780"/>
        </p:xfrm>
        <a:graphic>
          <a:graphicData uri="http://schemas.openxmlformats.org/drawingml/2006/table">
            <a:tbl>
              <a:tblPr/>
              <a:tblGrid>
                <a:gridCol w="4229100"/>
                <a:gridCol w="3590925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font-family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Exemplo com</a:t>
                      </a:r>
                      <a:r>
                        <a:rPr lang="pt-BR" sz="1600" baseline="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texto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Georgia, serif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Georgia"/>
                        </a:rPr>
                        <a:t>Cabeçalho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Georgia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Georgia"/>
                        </a:rPr>
                        <a:t>Parágrafo</a:t>
                      </a:r>
                      <a:endParaRPr lang="en-US" sz="1600" dirty="0">
                        <a:effectLst/>
                        <a:latin typeface="Georgia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it-IT" sz="1600">
                          <a:effectLst/>
                          <a:latin typeface="verdana"/>
                        </a:rPr>
                        <a:t>"Palatino Linotype", "Book Antiqua", Palatino, serif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Palatino Linotype"/>
                        </a:rPr>
                        <a:t>Cabeçalho</a:t>
                      </a:r>
                      <a:endParaRPr lang="en-US" sz="1600" b="1" dirty="0" smtClean="0">
                        <a:solidFill>
                          <a:srgbClr val="000000"/>
                        </a:solidFill>
                        <a:effectLst/>
                        <a:latin typeface="Palatino Linotype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Palatino Linotype"/>
                        </a:rPr>
                        <a:t>Parágrafo</a:t>
                      </a:r>
                      <a:endParaRPr lang="en-US" sz="1600" dirty="0">
                        <a:effectLst/>
                        <a:latin typeface="Palatino Linotype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verdana"/>
                        </a:rPr>
                        <a:t>"Times New Roman", Times, serif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Cabeçalho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Times New Roman"/>
                        </a:rPr>
                        <a:t>Parágrafo</a:t>
                      </a:r>
                      <a:endParaRPr lang="en-US" sz="1600" dirty="0">
                        <a:effectLst/>
                        <a:latin typeface="Times New Roman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31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Combinações mais comuns de fontes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Fonte </a:t>
            </a:r>
            <a:r>
              <a:rPr lang="pt-BR" dirty="0" err="1" smtClean="0"/>
              <a:t>Sans-Serif</a:t>
            </a:r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787674"/>
              </p:ext>
            </p:extLst>
          </p:nvPr>
        </p:nvGraphicFramePr>
        <p:xfrm>
          <a:off x="1295400" y="2286000"/>
          <a:ext cx="6455551" cy="4316434"/>
        </p:xfrm>
        <a:graphic>
          <a:graphicData uri="http://schemas.openxmlformats.org/drawingml/2006/table">
            <a:tbl>
              <a:tblPr/>
              <a:tblGrid>
                <a:gridCol w="3491187"/>
                <a:gridCol w="2964364"/>
              </a:tblGrid>
              <a:tr h="273634">
                <a:tc>
                  <a:txBody>
                    <a:bodyPr/>
                    <a:lstStyle/>
                    <a:p>
                      <a:pPr algn="l" fontAlgn="t"/>
                      <a:r>
                        <a:rPr lang="pt-BR" sz="14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font-family</a:t>
                      </a:r>
                      <a:endParaRPr lang="pt-BR" sz="14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3589" marR="23589" marT="23589" marB="2358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4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Exemplo com</a:t>
                      </a:r>
                      <a:r>
                        <a:rPr lang="pt-BR" sz="1400" baseline="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texto</a:t>
                      </a:r>
                      <a:endParaRPr lang="pt-BR" sz="14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3589" marR="23589" marT="23589" marB="2358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35966">
                <a:tc>
                  <a:txBody>
                    <a:bodyPr/>
                    <a:lstStyle/>
                    <a:p>
                      <a:pPr fontAlgn="t"/>
                      <a:r>
                        <a:rPr lang="pt-BR" sz="1400">
                          <a:effectLst/>
                          <a:latin typeface="verdana"/>
                        </a:rPr>
                        <a:t>Arial, Helvetica, sans-serif</a:t>
                      </a: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Arial"/>
                        </a:rPr>
                        <a:t>Parágrafo</a:t>
                      </a:r>
                      <a:endParaRPr lang="en-US" sz="1400" dirty="0">
                        <a:effectLst/>
                        <a:latin typeface="Arial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1616">
                <a:tc>
                  <a:txBody>
                    <a:bodyPr/>
                    <a:lstStyle/>
                    <a:p>
                      <a:pPr fontAlgn="t"/>
                      <a:r>
                        <a:rPr lang="pt-BR" sz="1400">
                          <a:effectLst/>
                          <a:latin typeface="verdana"/>
                        </a:rPr>
                        <a:t>"Arial Black", Gadget, sans-serif</a:t>
                      </a: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dirty="0" err="1" smtClean="0">
                          <a:solidFill>
                            <a:srgbClr val="000000"/>
                          </a:solidFill>
                          <a:effectLst/>
                          <a:latin typeface="Arial Black"/>
                        </a:rPr>
                        <a:t>Cabeçalho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Arial Black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Arial Black"/>
                        </a:rPr>
                        <a:t>Parágrafo</a:t>
                      </a:r>
                      <a:endParaRPr lang="en-US" sz="1400" dirty="0">
                        <a:effectLst/>
                        <a:latin typeface="Arial Black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fr-FR" sz="1400" dirty="0">
                          <a:effectLst/>
                          <a:latin typeface="verdana"/>
                        </a:rPr>
                        <a:t>"Comic Sans MS", cursive, sans-serif</a:t>
                      </a: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Comic Sans MS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Comic Sans MS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Comic Sans MS"/>
                        </a:rPr>
                        <a:t>Parágrafo</a:t>
                      </a:r>
                      <a:endParaRPr lang="en-US" sz="1400" dirty="0">
                        <a:effectLst/>
                        <a:latin typeface="Comic Sans MS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316">
                <a:tc>
                  <a:txBody>
                    <a:bodyPr/>
                    <a:lstStyle/>
                    <a:p>
                      <a:pPr fontAlgn="t"/>
                      <a:r>
                        <a:rPr lang="pt-BR" sz="1400" dirty="0" err="1">
                          <a:effectLst/>
                          <a:latin typeface="verdana"/>
                        </a:rPr>
                        <a:t>Impact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Charcoal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sans-serif</a:t>
                      </a:r>
                      <a:endParaRPr lang="pt-BR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dirty="0" err="1" smtClean="0">
                          <a:solidFill>
                            <a:srgbClr val="000000"/>
                          </a:solidFill>
                          <a:effectLst/>
                          <a:latin typeface="Impact"/>
                        </a:rPr>
                        <a:t>Cabeçalho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effectLst/>
                        <a:latin typeface="Impact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Impact"/>
                        </a:rPr>
                        <a:t>Parágrafo</a:t>
                      </a:r>
                      <a:endParaRPr lang="en-US" sz="1400" dirty="0">
                        <a:effectLst/>
                        <a:latin typeface="Impact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19566">
                <a:tc>
                  <a:txBody>
                    <a:bodyPr/>
                    <a:lstStyle/>
                    <a:p>
                      <a:pPr fontAlgn="t"/>
                      <a:r>
                        <a:rPr lang="pt-BR" sz="1400">
                          <a:effectLst/>
                          <a:latin typeface="verdana"/>
                        </a:rPr>
                        <a:t>"Lucida Sans Unicode", "Lucida Grande", sans-serif</a:t>
                      </a: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Lucida Sans Unicode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Lucida Sans Unicode"/>
                        </a:rPr>
                        <a:t>Parágrafo</a:t>
                      </a:r>
                      <a:endParaRPr lang="en-US" sz="1400" dirty="0">
                        <a:effectLst/>
                        <a:latin typeface="Lucida Sans Unicode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16">
                <a:tc>
                  <a:txBody>
                    <a:bodyPr/>
                    <a:lstStyle/>
                    <a:p>
                      <a:pPr fontAlgn="t"/>
                      <a:r>
                        <a:rPr lang="pt-BR" sz="1400" dirty="0" err="1">
                          <a:effectLst/>
                          <a:latin typeface="verdana"/>
                        </a:rPr>
                        <a:t>Tahoma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Geneva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sans-serif</a:t>
                      </a:r>
                      <a:endParaRPr lang="pt-BR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Tahoma"/>
                        </a:rPr>
                        <a:t>Parágrafo</a:t>
                      </a:r>
                      <a:endParaRPr lang="en-US" sz="1400" dirty="0">
                        <a:effectLst/>
                        <a:latin typeface="Tahom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1866">
                <a:tc>
                  <a:txBody>
                    <a:bodyPr/>
                    <a:lstStyle/>
                    <a:p>
                      <a:pPr fontAlgn="t"/>
                      <a:r>
                        <a:rPr lang="pt-BR" sz="1400" dirty="0">
                          <a:effectLst/>
                          <a:latin typeface="verdana"/>
                        </a:rPr>
                        <a:t>"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Trebuchet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 MS",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Helvetica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sans-serif</a:t>
                      </a:r>
                      <a:endParaRPr lang="pt-BR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rebuchet MS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Trebuchet MS"/>
                        </a:rPr>
                        <a:t>Parágrafo</a:t>
                      </a:r>
                      <a:endParaRPr lang="en-US" sz="1400" dirty="0">
                        <a:effectLst/>
                        <a:latin typeface="Trebuchet MS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516">
                <a:tc>
                  <a:txBody>
                    <a:bodyPr/>
                    <a:lstStyle/>
                    <a:p>
                      <a:pPr fontAlgn="t"/>
                      <a:r>
                        <a:rPr lang="pt-BR" sz="1400" dirty="0" err="1">
                          <a:effectLst/>
                          <a:latin typeface="verdana"/>
                        </a:rPr>
                        <a:t>Verdana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Geneva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sans-serif</a:t>
                      </a:r>
                      <a:endParaRPr lang="pt-BR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Cabeçalho</a:t>
                      </a:r>
                      <a:endParaRPr lang="en-US" sz="1400" b="1" dirty="0" smtClean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Verdana"/>
                        </a:rPr>
                        <a:t>Parágrafo</a:t>
                      </a:r>
                      <a:endParaRPr lang="en-US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0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Combinações mais comuns de fontes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Fonte </a:t>
            </a:r>
            <a:r>
              <a:rPr lang="pt-BR" dirty="0" err="1" smtClean="0"/>
              <a:t>Monospace</a:t>
            </a:r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775747"/>
              </p:ext>
            </p:extLst>
          </p:nvPr>
        </p:nvGraphicFramePr>
        <p:xfrm>
          <a:off x="661987" y="3053556"/>
          <a:ext cx="7820025" cy="1466850"/>
        </p:xfrm>
        <a:graphic>
          <a:graphicData uri="http://schemas.openxmlformats.org/drawingml/2006/table">
            <a:tbl>
              <a:tblPr/>
              <a:tblGrid>
                <a:gridCol w="4229100"/>
                <a:gridCol w="3590925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font-family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Exemplo com</a:t>
                      </a:r>
                      <a:r>
                        <a:rPr lang="pt-BR" sz="1600" baseline="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texto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>
                          <a:effectLst/>
                          <a:latin typeface="verdana"/>
                        </a:rPr>
                        <a:t>"Courier New", Courier, </a:t>
                      </a:r>
                      <a:r>
                        <a:rPr lang="pt-BR" sz="1600" dirty="0" err="1">
                          <a:effectLst/>
                          <a:latin typeface="verdana"/>
                        </a:rPr>
                        <a:t>monospace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Cabeçalho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Courier New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Courier New"/>
                        </a:rPr>
                        <a:t>Parágrafo</a:t>
                      </a:r>
                      <a:endParaRPr lang="en-US" sz="1600" dirty="0">
                        <a:effectLst/>
                        <a:latin typeface="Courier New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>
                          <a:effectLst/>
                          <a:latin typeface="verdana"/>
                        </a:rPr>
                        <a:t>"Lucida Console", </a:t>
                      </a:r>
                      <a:r>
                        <a:rPr lang="pt-BR" sz="1600" dirty="0" err="1">
                          <a:effectLst/>
                          <a:latin typeface="verdana"/>
                        </a:rPr>
                        <a:t>Monaco</a:t>
                      </a:r>
                      <a:r>
                        <a:rPr lang="pt-BR" sz="16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600" dirty="0" err="1">
                          <a:effectLst/>
                          <a:latin typeface="verdana"/>
                        </a:rPr>
                        <a:t>monospace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Lucida Console"/>
                        </a:rPr>
                        <a:t>Cabeçalho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Lucida Console"/>
                        </a:rPr>
                        <a:t>Parágrafo</a:t>
                      </a:r>
                      <a:endParaRPr lang="en-US" sz="1600" dirty="0">
                        <a:effectLst/>
                        <a:latin typeface="Lucida Console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14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Size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tamanho da fonte é definido pela propriedade </a:t>
            </a:r>
            <a:r>
              <a:rPr lang="pt-BR" dirty="0" err="1"/>
              <a:t>font-size</a:t>
            </a:r>
            <a:r>
              <a:rPr lang="pt-BR" dirty="0"/>
              <a:t>. </a:t>
            </a:r>
            <a:r>
              <a:rPr lang="pt-BR" dirty="0" smtClean="0"/>
              <a:t>Existem </a:t>
            </a:r>
            <a:r>
              <a:rPr lang="pt-BR" dirty="0"/>
              <a:t>muitas unidades (p. ex.:. pixels e porcentagens) que podem ser usadas para </a:t>
            </a:r>
            <a:r>
              <a:rPr lang="pt-BR" dirty="0" smtClean="0"/>
              <a:t>definir </a:t>
            </a:r>
            <a:r>
              <a:rPr lang="pt-BR" dirty="0"/>
              <a:t>o tamanho da fonte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valores</a:t>
            </a:r>
            <a:r>
              <a:rPr lang="en-US" dirty="0" smtClean="0"/>
              <a:t> do font-size </a:t>
            </a:r>
            <a:r>
              <a:rPr lang="en-US" dirty="0" err="1" smtClean="0"/>
              <a:t>podem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absoluto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relativo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Absoluto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Configurar</a:t>
            </a:r>
            <a:r>
              <a:rPr lang="en-US" dirty="0" smtClean="0"/>
              <a:t> o </a:t>
            </a:r>
            <a:r>
              <a:rPr lang="en-US" dirty="0" err="1" smtClean="0"/>
              <a:t>texto</a:t>
            </a:r>
            <a:r>
              <a:rPr lang="en-US" dirty="0" smtClean="0"/>
              <a:t> com </a:t>
            </a:r>
            <a:r>
              <a:rPr lang="en-US" dirty="0" err="1" smtClean="0"/>
              <a:t>tamanho</a:t>
            </a:r>
            <a:r>
              <a:rPr lang="en-US" dirty="0" smtClean="0"/>
              <a:t> </a:t>
            </a:r>
            <a:r>
              <a:rPr lang="en-US" dirty="0" err="1" smtClean="0"/>
              <a:t>específico</a:t>
            </a:r>
            <a:endParaRPr lang="en-US" dirty="0" smtClean="0"/>
          </a:p>
          <a:p>
            <a:pPr lvl="2"/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possibilita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usuários</a:t>
            </a:r>
            <a:r>
              <a:rPr lang="en-US" dirty="0" smtClean="0"/>
              <a:t> </a:t>
            </a:r>
            <a:r>
              <a:rPr lang="en-US" dirty="0" err="1" smtClean="0"/>
              <a:t>alterem</a:t>
            </a:r>
            <a:r>
              <a:rPr lang="en-US" dirty="0" smtClean="0"/>
              <a:t> o </a:t>
            </a:r>
            <a:r>
              <a:rPr lang="en-US" dirty="0" err="1" smtClean="0"/>
              <a:t>tamanho</a:t>
            </a:r>
            <a:r>
              <a:rPr lang="en-US" dirty="0" smtClean="0"/>
              <a:t> do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navegadores</a:t>
            </a:r>
            <a:r>
              <a:rPr lang="en-US" dirty="0" smtClean="0"/>
              <a:t> (</a:t>
            </a:r>
            <a:r>
              <a:rPr lang="en-US" dirty="0" err="1" smtClean="0"/>
              <a:t>ruim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acessibilidade</a:t>
            </a:r>
            <a:r>
              <a:rPr lang="en-US" dirty="0" smtClean="0"/>
              <a:t>).</a:t>
            </a:r>
          </a:p>
          <a:p>
            <a:pPr lvl="1"/>
            <a:r>
              <a:rPr lang="en-US" dirty="0" err="1" smtClean="0"/>
              <a:t>Relativo</a:t>
            </a:r>
            <a:r>
              <a:rPr lang="en-US" dirty="0" smtClean="0"/>
              <a:t>:</a:t>
            </a:r>
            <a:endParaRPr lang="en-US" dirty="0"/>
          </a:p>
          <a:p>
            <a:pPr lvl="2"/>
            <a:r>
              <a:rPr lang="en-US" dirty="0"/>
              <a:t>Sets the size relative to surrounding elements</a:t>
            </a:r>
          </a:p>
          <a:p>
            <a:pPr lvl="2"/>
            <a:r>
              <a:rPr lang="en-US" dirty="0" err="1" smtClean="0"/>
              <a:t>Possibilita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usuários</a:t>
            </a:r>
            <a:r>
              <a:rPr lang="en-US" dirty="0" smtClean="0"/>
              <a:t> </a:t>
            </a:r>
            <a:r>
              <a:rPr lang="en-US" dirty="0" err="1" smtClean="0"/>
              <a:t>alterem</a:t>
            </a:r>
            <a:r>
              <a:rPr lang="en-US" dirty="0" smtClean="0"/>
              <a:t> o </a:t>
            </a:r>
            <a:r>
              <a:rPr lang="en-US" dirty="0" err="1" smtClean="0"/>
              <a:t>tamanho</a:t>
            </a:r>
            <a:r>
              <a:rPr lang="en-US" dirty="0" smtClean="0"/>
              <a:t> do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navegadores</a:t>
            </a:r>
            <a:endParaRPr lang="en-US" dirty="0"/>
          </a:p>
        </p:txBody>
      </p:sp>
      <p:sp>
        <p:nvSpPr>
          <p:cNvPr id="4" name="CaixaDeTexto 3"/>
          <p:cNvSpPr txBox="1"/>
          <p:nvPr/>
        </p:nvSpPr>
        <p:spPr>
          <a:xfrm>
            <a:off x="609599" y="5967203"/>
            <a:ext cx="807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Obs</a:t>
            </a:r>
            <a:r>
              <a:rPr lang="en-US" b="1" dirty="0" smtClean="0"/>
              <a:t>.:</a:t>
            </a:r>
            <a:r>
              <a:rPr lang="en-US" dirty="0"/>
              <a:t> </a:t>
            </a:r>
            <a:r>
              <a:rPr lang="en-US" dirty="0" smtClean="0"/>
              <a:t>Se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especificar</a:t>
            </a:r>
            <a:r>
              <a:rPr lang="en-US" dirty="0" smtClean="0"/>
              <a:t> o </a:t>
            </a:r>
            <a:r>
              <a:rPr lang="en-US" dirty="0" err="1" smtClean="0"/>
              <a:t>tamanho</a:t>
            </a:r>
            <a:r>
              <a:rPr lang="en-US" dirty="0" smtClean="0"/>
              <a:t> da </a:t>
            </a:r>
            <a:r>
              <a:rPr lang="en-US" dirty="0" err="1" smtClean="0"/>
              <a:t>fonte</a:t>
            </a:r>
            <a:r>
              <a:rPr lang="en-US" dirty="0" smtClean="0"/>
              <a:t>, o </a:t>
            </a:r>
            <a:r>
              <a:rPr lang="en-US" dirty="0" err="1" smtClean="0"/>
              <a:t>tamanho</a:t>
            </a:r>
            <a:r>
              <a:rPr lang="en-US" dirty="0" smtClean="0"/>
              <a:t> </a:t>
            </a:r>
            <a:r>
              <a:rPr lang="en-US" dirty="0" err="1" smtClean="0"/>
              <a:t>padrão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textos</a:t>
            </a:r>
            <a:r>
              <a:rPr lang="en-US" dirty="0" smtClean="0"/>
              <a:t> </a:t>
            </a:r>
            <a:r>
              <a:rPr lang="en-US" dirty="0" err="1" smtClean="0"/>
              <a:t>normais</a:t>
            </a:r>
            <a:r>
              <a:rPr lang="en-US" dirty="0" smtClean="0"/>
              <a:t>,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pa</a:t>
            </a:r>
            <a:r>
              <a:rPr lang="en-US" dirty="0" err="1" smtClean="0"/>
              <a:t>rágrafos</a:t>
            </a:r>
            <a:r>
              <a:rPr lang="en-US" dirty="0" smtClean="0"/>
              <a:t>, é de 16px (16ps=1em)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2517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Size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Font-size</a:t>
            </a:r>
            <a:r>
              <a:rPr lang="pt-BR" dirty="0" smtClean="0"/>
              <a:t> em pixel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7" y="2209800"/>
            <a:ext cx="6443663" cy="4107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89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Size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Font-size</a:t>
            </a:r>
            <a:r>
              <a:rPr lang="pt-BR" dirty="0" smtClean="0"/>
              <a:t> em “em”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7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2" y="2209800"/>
            <a:ext cx="6503987" cy="4152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74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Size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Font-size</a:t>
            </a:r>
            <a:r>
              <a:rPr lang="pt-BR" dirty="0" smtClean="0"/>
              <a:t> em “%” combinado com “em”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104" y="2192482"/>
            <a:ext cx="5878079" cy="4208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322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 propriedade </a:t>
            </a:r>
            <a:r>
              <a:rPr lang="pt-BR" dirty="0" err="1"/>
              <a:t>font-style</a:t>
            </a:r>
            <a:r>
              <a:rPr lang="pt-BR" dirty="0"/>
              <a:t> é usado principalmente para especificar o texto em itálico</a:t>
            </a:r>
            <a:r>
              <a:rPr lang="pt-BR" dirty="0" smtClean="0"/>
              <a:t>.</a:t>
            </a:r>
            <a:endParaRPr lang="pt-BR" dirty="0"/>
          </a:p>
          <a:p>
            <a:r>
              <a:rPr lang="en-US" dirty="0" err="1" smtClean="0"/>
              <a:t>Essa</a:t>
            </a:r>
            <a:r>
              <a:rPr lang="en-US" dirty="0" smtClean="0"/>
              <a:t> </a:t>
            </a:r>
            <a:r>
              <a:rPr lang="en-US" dirty="0" err="1" smtClean="0"/>
              <a:t>propriedade</a:t>
            </a:r>
            <a:r>
              <a:rPr lang="en-US" dirty="0" smtClean="0"/>
              <a:t> tem </a:t>
            </a:r>
            <a:r>
              <a:rPr lang="en-US" dirty="0" err="1" smtClean="0"/>
              <a:t>três</a:t>
            </a:r>
            <a:r>
              <a:rPr lang="en-US" dirty="0" smtClean="0"/>
              <a:t> </a:t>
            </a:r>
            <a:r>
              <a:rPr lang="en-US" dirty="0" err="1" smtClean="0"/>
              <a:t>valores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normal </a:t>
            </a:r>
            <a:r>
              <a:rPr lang="en-US" dirty="0" smtClean="0"/>
              <a:t>– </a:t>
            </a:r>
            <a:r>
              <a:rPr lang="en-US" dirty="0" smtClean="0"/>
              <a:t>Como o </a:t>
            </a:r>
            <a:r>
              <a:rPr lang="en-US" dirty="0" err="1" smtClean="0"/>
              <a:t>t</a:t>
            </a:r>
            <a:r>
              <a:rPr lang="en-US" dirty="0" err="1" smtClean="0"/>
              <a:t>exto</a:t>
            </a:r>
            <a:r>
              <a:rPr lang="en-US" dirty="0" smtClean="0"/>
              <a:t> é </a:t>
            </a:r>
            <a:r>
              <a:rPr lang="en-US" dirty="0" err="1" smtClean="0"/>
              <a:t>visualizado</a:t>
            </a:r>
            <a:r>
              <a:rPr lang="en-US" dirty="0" smtClean="0"/>
              <a:t> </a:t>
            </a:r>
            <a:r>
              <a:rPr lang="en-US" dirty="0" err="1" smtClean="0"/>
              <a:t>normalmente</a:t>
            </a:r>
            <a:endParaRPr lang="en-US" dirty="0"/>
          </a:p>
          <a:p>
            <a:pPr lvl="1"/>
            <a:r>
              <a:rPr lang="en-US" dirty="0"/>
              <a:t>italic </a:t>
            </a:r>
            <a:r>
              <a:rPr lang="en-US" dirty="0" smtClean="0"/>
              <a:t>– O </a:t>
            </a:r>
            <a:r>
              <a:rPr lang="en-US" dirty="0" err="1" smtClean="0"/>
              <a:t>texto</a:t>
            </a:r>
            <a:r>
              <a:rPr lang="en-US" dirty="0" smtClean="0"/>
              <a:t> é </a:t>
            </a:r>
            <a:r>
              <a:rPr lang="en-US" dirty="0" err="1" smtClean="0"/>
              <a:t>visualizado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i="1" dirty="0" err="1" smtClean="0"/>
              <a:t>itálico</a:t>
            </a:r>
            <a:endParaRPr lang="en-US" dirty="0"/>
          </a:p>
          <a:p>
            <a:pPr lvl="1"/>
            <a:r>
              <a:rPr lang="en-US" dirty="0"/>
              <a:t>oblique </a:t>
            </a:r>
            <a:r>
              <a:rPr lang="en-US" dirty="0" smtClean="0"/>
              <a:t>– O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fica</a:t>
            </a:r>
            <a:r>
              <a:rPr lang="en-US" dirty="0" smtClean="0"/>
              <a:t> </a:t>
            </a:r>
            <a:r>
              <a:rPr lang="en-US" dirty="0" err="1" smtClean="0"/>
              <a:t>inclinado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relação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texto</a:t>
            </a:r>
            <a:r>
              <a:rPr lang="en-US" dirty="0" smtClean="0"/>
              <a:t> normal (oblique é </a:t>
            </a:r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parecido</a:t>
            </a:r>
            <a:r>
              <a:rPr lang="en-US" dirty="0" smtClean="0"/>
              <a:t> com o italic, mas </a:t>
            </a:r>
            <a:r>
              <a:rPr lang="en-US" dirty="0" err="1" smtClean="0"/>
              <a:t>pouco</a:t>
            </a:r>
            <a:r>
              <a:rPr lang="en-US" dirty="0" smtClean="0"/>
              <a:t> </a:t>
            </a:r>
            <a:r>
              <a:rPr lang="en-US" dirty="0" err="1" smtClean="0"/>
              <a:t>utilizado</a:t>
            </a:r>
            <a:r>
              <a:rPr lang="en-US" dirty="0" smtClean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692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95" y="1693508"/>
            <a:ext cx="6554411" cy="4120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06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Variant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propriedade </a:t>
            </a:r>
            <a:r>
              <a:rPr lang="pt-BR" dirty="0" err="1"/>
              <a:t>font-variant</a:t>
            </a:r>
            <a:r>
              <a:rPr lang="pt-BR" dirty="0"/>
              <a:t> é usada para escolher as variantes normal ou </a:t>
            </a:r>
            <a:r>
              <a:rPr lang="pt-BR" dirty="0" err="1"/>
              <a:t>smallcaps</a:t>
            </a:r>
            <a:r>
              <a:rPr lang="pt-BR" dirty="0"/>
              <a:t>. </a:t>
            </a:r>
          </a:p>
          <a:p>
            <a:r>
              <a:rPr lang="pt-BR" dirty="0"/>
              <a:t>Uma fonte </a:t>
            </a:r>
            <a:r>
              <a:rPr lang="pt-BR" dirty="0" err="1"/>
              <a:t>small-caps</a:t>
            </a:r>
            <a:r>
              <a:rPr lang="pt-BR" dirty="0"/>
              <a:t> é aquela que usa letras maiúsculas de tamanhos reduzidos.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6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Variant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17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76" y="1623965"/>
            <a:ext cx="6903049" cy="4113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410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/>
              <a:t>W</a:t>
            </a:r>
            <a:r>
              <a:rPr lang="pt-BR" dirty="0" err="1" smtClean="0"/>
              <a:t>eight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propriedade </a:t>
            </a:r>
            <a:r>
              <a:rPr lang="pt-BR" dirty="0" err="1"/>
              <a:t>font-weight</a:t>
            </a:r>
            <a:r>
              <a:rPr lang="pt-BR" dirty="0"/>
              <a:t> define se a fonte será </a:t>
            </a:r>
            <a:r>
              <a:rPr lang="pt-BR" dirty="0" smtClean="0"/>
              <a:t>visualizado fino ou grosso. Alguns </a:t>
            </a:r>
            <a:r>
              <a:rPr lang="pt-BR" dirty="0"/>
              <a:t>navegadores suportam números de 100-900 (em intervalos de </a:t>
            </a:r>
            <a:r>
              <a:rPr lang="pt-BR" dirty="0" smtClean="0"/>
              <a:t>100 </a:t>
            </a:r>
            <a:r>
              <a:rPr lang="pt-BR" dirty="0"/>
              <a:t>em 100) para definir o peso da fonte. </a:t>
            </a:r>
          </a:p>
        </p:txBody>
      </p:sp>
    </p:spTree>
    <p:extLst>
      <p:ext uri="{BB962C8B-B14F-4D97-AF65-F5344CB8AC3E}">
        <p14:creationId xmlns:p14="http://schemas.microsoft.com/office/powerpoint/2010/main" val="377070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/>
              <a:t>W</a:t>
            </a:r>
            <a:r>
              <a:rPr lang="pt-BR" dirty="0" err="1" smtClean="0"/>
              <a:t>eight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62" y="1667827"/>
            <a:ext cx="7060089" cy="3970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271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Usar </a:t>
            </a:r>
            <a:r>
              <a:rPr lang="pt-BR" dirty="0" err="1"/>
              <a:t>font</a:t>
            </a:r>
            <a:r>
              <a:rPr lang="pt-BR" dirty="0"/>
              <a:t> é uma abreviação que permite definir várias propriedades em uma só. </a:t>
            </a:r>
            <a:endParaRPr lang="pt-BR" dirty="0" smtClean="0"/>
          </a:p>
          <a:p>
            <a:r>
              <a:rPr lang="pt-BR" dirty="0" smtClean="0"/>
              <a:t>Utiliza-se as seguintes ordem de valores:</a:t>
            </a:r>
          </a:p>
          <a:p>
            <a:pPr lvl="1"/>
            <a:r>
              <a:rPr lang="fr-FR" dirty="0"/>
              <a:t>font-style </a:t>
            </a:r>
          </a:p>
          <a:p>
            <a:pPr lvl="1"/>
            <a:r>
              <a:rPr lang="fr-FR" dirty="0"/>
              <a:t>font-variant </a:t>
            </a:r>
          </a:p>
          <a:p>
            <a:pPr lvl="1"/>
            <a:r>
              <a:rPr lang="fr-FR" dirty="0"/>
              <a:t>font-weight </a:t>
            </a:r>
          </a:p>
          <a:p>
            <a:pPr lvl="1"/>
            <a:r>
              <a:rPr lang="fr-FR" dirty="0"/>
              <a:t>font-size </a:t>
            </a:r>
          </a:p>
          <a:p>
            <a:pPr lvl="1"/>
            <a:r>
              <a:rPr lang="fr-FR" dirty="0" smtClean="0"/>
              <a:t>font-family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738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9004"/>
            <a:ext cx="4737453" cy="2848196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991" y="3581400"/>
            <a:ext cx="5628409" cy="2970068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69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</a:t>
            </a:r>
            <a:r>
              <a:rPr lang="pt-BR" dirty="0"/>
              <a:t>texto </a:t>
            </a:r>
            <a:r>
              <a:rPr lang="pt-BR" dirty="0" smtClean="0"/>
              <a:t>pode decorado </a:t>
            </a:r>
            <a:r>
              <a:rPr lang="pt-BR" dirty="0"/>
              <a:t>com algumas das propriedades de formatação de texto. </a:t>
            </a:r>
            <a:endParaRPr lang="pt-BR" dirty="0" smtClean="0"/>
          </a:p>
          <a:p>
            <a:pPr marL="0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70476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As propriedades de texto: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r>
              <a:rPr lang="pt-BR" dirty="0"/>
              <a:t>.</a:t>
            </a:r>
            <a:endParaRPr lang="pt-BR" dirty="0" smtClean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387685"/>
              </p:ext>
            </p:extLst>
          </p:nvPr>
        </p:nvGraphicFramePr>
        <p:xfrm>
          <a:off x="533400" y="1981203"/>
          <a:ext cx="8077200" cy="458723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20013"/>
                <a:gridCol w="6557187"/>
              </a:tblGrid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>
                          <a:effectLst/>
                        </a:rPr>
                        <a:t>color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Cor</a:t>
                      </a:r>
                      <a:r>
                        <a:rPr lang="en-US" sz="1600" dirty="0" smtClean="0">
                          <a:effectLst/>
                        </a:rPr>
                        <a:t> do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direction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Direção</a:t>
                      </a:r>
                      <a:r>
                        <a:rPr lang="en-US" sz="1600" dirty="0" smtClean="0">
                          <a:effectLst/>
                        </a:rPr>
                        <a:t> da </a:t>
                      </a:r>
                      <a:r>
                        <a:rPr lang="en-US" sz="1600" dirty="0" err="1" smtClean="0">
                          <a:effectLst/>
                        </a:rPr>
                        <a:t>escrita</a:t>
                      </a:r>
                      <a:r>
                        <a:rPr lang="en-US" sz="1600" dirty="0" smtClean="0">
                          <a:effectLst/>
                        </a:rPr>
                        <a:t>  do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letter-spacing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Aumenta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ou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diminui</a:t>
                      </a:r>
                      <a:r>
                        <a:rPr lang="en-US" sz="1600" dirty="0" smtClean="0">
                          <a:effectLst/>
                        </a:rPr>
                        <a:t> o </a:t>
                      </a:r>
                      <a:r>
                        <a:rPr lang="en-US" sz="1600" dirty="0" err="1" smtClean="0">
                          <a:effectLst/>
                        </a:rPr>
                        <a:t>espaço</a:t>
                      </a:r>
                      <a:r>
                        <a:rPr lang="en-US" sz="1600" dirty="0" smtClean="0">
                          <a:effectLst/>
                        </a:rPr>
                        <a:t> entre </a:t>
                      </a:r>
                      <a:r>
                        <a:rPr lang="en-US" sz="1600" dirty="0" err="1" smtClean="0">
                          <a:effectLst/>
                        </a:rPr>
                        <a:t>os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caracteres</a:t>
                      </a:r>
                      <a:r>
                        <a:rPr lang="en-US" sz="1600" dirty="0" smtClean="0">
                          <a:effectLst/>
                        </a:rPr>
                        <a:t> no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line-height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</a:rPr>
                        <a:t>Altura da</a:t>
                      </a:r>
                      <a:r>
                        <a:rPr lang="pt-BR" sz="1600" baseline="0" dirty="0" smtClean="0">
                          <a:effectLst/>
                        </a:rPr>
                        <a:t> linha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text-align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Alinhamento</a:t>
                      </a:r>
                      <a:r>
                        <a:rPr lang="en-US" sz="1600" dirty="0" smtClean="0">
                          <a:effectLst/>
                        </a:rPr>
                        <a:t> horizontal do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text-decoration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</a:rPr>
                        <a:t> a </a:t>
                      </a:r>
                      <a:r>
                        <a:rPr lang="en-US" sz="1600" dirty="0" err="1" smtClean="0">
                          <a:effectLst/>
                        </a:rPr>
                        <a:t>decoração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adicionada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ao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text-indent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</a:rPr>
                        <a:t> o </a:t>
                      </a:r>
                      <a:r>
                        <a:rPr lang="en-US" sz="1600" dirty="0" err="1" smtClean="0">
                          <a:effectLst/>
                        </a:rPr>
                        <a:t>recuo</a:t>
                      </a:r>
                      <a:r>
                        <a:rPr lang="en-US" sz="1600" dirty="0" smtClean="0">
                          <a:effectLst/>
                        </a:rPr>
                        <a:t> da </a:t>
                      </a:r>
                      <a:r>
                        <a:rPr lang="en-US" sz="1600" dirty="0" err="1" smtClean="0">
                          <a:effectLst/>
                        </a:rPr>
                        <a:t>primeira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linha</a:t>
                      </a:r>
                      <a:r>
                        <a:rPr lang="en-US" sz="1600" dirty="0" smtClean="0">
                          <a:effectLst/>
                        </a:rPr>
                        <a:t> de um </a:t>
                      </a:r>
                      <a:r>
                        <a:rPr lang="en-US" sz="1600" dirty="0" err="1" smtClean="0">
                          <a:effectLst/>
                        </a:rPr>
                        <a:t>bloco</a:t>
                      </a:r>
                      <a:r>
                        <a:rPr lang="en-US" sz="1600" dirty="0" smtClean="0">
                          <a:effectLst/>
                        </a:rPr>
                        <a:t> de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text-shadow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</a:rPr>
                        <a:t>Especifica o efeito de sombra adicionado ao 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text-transform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Controle</a:t>
                      </a:r>
                      <a:r>
                        <a:rPr lang="en-US" sz="1600" dirty="0" smtClean="0">
                          <a:effectLst/>
                        </a:rPr>
                        <a:t> de </a:t>
                      </a:r>
                      <a:r>
                        <a:rPr lang="en-US" sz="1600" dirty="0" err="1" smtClean="0">
                          <a:effectLst/>
                        </a:rPr>
                        <a:t>letras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maíusculas</a:t>
                      </a:r>
                      <a:r>
                        <a:rPr lang="en-US" sz="1600" dirty="0" smtClean="0">
                          <a:effectLst/>
                        </a:rPr>
                        <a:t> e </a:t>
                      </a:r>
                      <a:r>
                        <a:rPr lang="en-US" sz="1600" dirty="0" err="1" smtClean="0">
                          <a:effectLst/>
                        </a:rPr>
                        <a:t>minúsculas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89341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unicode-bidi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>
                          <a:effectLst/>
                        </a:rPr>
                        <a:t>Usado em conjunto com a propriedade de direção para definir ou retornar se o texto deve ser substituído para suportar vários idiomas no mesmo documento</a:t>
                      </a:r>
                      <a:endParaRPr lang="pt-BR" sz="1600" dirty="0" smtClean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smtClean="0">
                          <a:effectLst/>
                        </a:rPr>
                        <a:t>vertical-</a:t>
                      </a:r>
                      <a:r>
                        <a:rPr lang="pt-BR" sz="1600" u="none" dirty="0" err="1" smtClean="0">
                          <a:effectLst/>
                        </a:rPr>
                        <a:t>align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Alinhamento</a:t>
                      </a:r>
                      <a:r>
                        <a:rPr lang="en-US" sz="1600" dirty="0" smtClean="0">
                          <a:effectLst/>
                        </a:rPr>
                        <a:t> vertical do </a:t>
                      </a:r>
                      <a:r>
                        <a:rPr lang="en-US" sz="1600" dirty="0" err="1" smtClean="0">
                          <a:effectLst/>
                        </a:rPr>
                        <a:t>elemento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na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linha</a:t>
                      </a:r>
                      <a:endParaRPr lang="en-US" sz="1600" dirty="0" smtClean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white-space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como</a:t>
                      </a:r>
                      <a:r>
                        <a:rPr lang="en-US" sz="1600" dirty="0" smtClean="0">
                          <a:effectLst/>
                        </a:rPr>
                        <a:t> o </a:t>
                      </a:r>
                      <a:r>
                        <a:rPr lang="en-US" sz="1600" dirty="0" err="1" smtClean="0">
                          <a:effectLst/>
                        </a:rPr>
                        <a:t>espaço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em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branco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dentro</a:t>
                      </a:r>
                      <a:r>
                        <a:rPr lang="en-US" sz="1600" dirty="0" smtClean="0">
                          <a:effectLst/>
                        </a:rPr>
                        <a:t> do </a:t>
                      </a:r>
                      <a:r>
                        <a:rPr lang="en-US" sz="1600" dirty="0" err="1" smtClean="0">
                          <a:effectLst/>
                        </a:rPr>
                        <a:t>elemento</a:t>
                      </a:r>
                      <a:r>
                        <a:rPr lang="en-US" sz="1600" dirty="0" smtClean="0">
                          <a:effectLst/>
                        </a:rPr>
                        <a:t> é </a:t>
                      </a:r>
                      <a:r>
                        <a:rPr lang="en-US" sz="1600" dirty="0" err="1" smtClean="0">
                          <a:effectLst/>
                        </a:rPr>
                        <a:t>tratado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word-spacing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effectLst/>
                        </a:rPr>
                        <a:t>Aumenta</a:t>
                      </a:r>
                      <a:r>
                        <a:rPr lang="en-US" sz="1600" kern="1200" dirty="0" smtClean="0">
                          <a:effectLst/>
                        </a:rPr>
                        <a:t> </a:t>
                      </a:r>
                      <a:r>
                        <a:rPr lang="en-US" sz="1600" kern="1200" dirty="0" err="1" smtClean="0">
                          <a:effectLst/>
                        </a:rPr>
                        <a:t>ou</a:t>
                      </a:r>
                      <a:r>
                        <a:rPr lang="en-US" sz="1600" kern="1200" dirty="0" smtClean="0">
                          <a:effectLst/>
                        </a:rPr>
                        <a:t> </a:t>
                      </a:r>
                      <a:r>
                        <a:rPr lang="en-US" sz="1600" kern="1200" dirty="0" err="1" smtClean="0">
                          <a:effectLst/>
                        </a:rPr>
                        <a:t>diminui</a:t>
                      </a:r>
                      <a:r>
                        <a:rPr lang="en-US" sz="1600" kern="1200" dirty="0" smtClean="0">
                          <a:effectLst/>
                        </a:rPr>
                        <a:t> </a:t>
                      </a:r>
                      <a:r>
                        <a:rPr lang="en-US" sz="1600" kern="1200" dirty="0" err="1" smtClean="0">
                          <a:effectLst/>
                        </a:rPr>
                        <a:t>os</a:t>
                      </a:r>
                      <a:r>
                        <a:rPr lang="en-US" sz="1600" kern="1200" baseline="0" dirty="0" smtClean="0">
                          <a:effectLst/>
                        </a:rPr>
                        <a:t> </a:t>
                      </a:r>
                      <a:r>
                        <a:rPr lang="en-US" sz="1600" kern="1200" baseline="0" dirty="0" err="1" smtClean="0">
                          <a:effectLst/>
                        </a:rPr>
                        <a:t>espaço</a:t>
                      </a:r>
                      <a:r>
                        <a:rPr lang="en-US" sz="1600" kern="1200" baseline="0" dirty="0" smtClean="0">
                          <a:effectLst/>
                        </a:rPr>
                        <a:t> entre as </a:t>
                      </a:r>
                      <a:r>
                        <a:rPr lang="en-US" sz="1600" kern="1200" baseline="0" dirty="0" err="1" smtClean="0">
                          <a:effectLst/>
                        </a:rPr>
                        <a:t>palavras</a:t>
                      </a:r>
                      <a:r>
                        <a:rPr lang="en-US" sz="1600" kern="1200" baseline="0" dirty="0" smtClean="0">
                          <a:effectLst/>
                        </a:rPr>
                        <a:t> no </a:t>
                      </a:r>
                      <a:r>
                        <a:rPr lang="en-US" sz="1600" kern="1200" baseline="0" dirty="0" err="1" smtClean="0">
                          <a:effectLst/>
                        </a:rPr>
                        <a:t>texto</a:t>
                      </a:r>
                      <a:endParaRPr lang="pt-BR" sz="1600" kern="1200" dirty="0">
                        <a:solidFill>
                          <a:schemeClr val="tx1"/>
                        </a:solidFill>
                        <a:effectLst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43959" marR="43959" marT="21980" marB="2198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17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44" y="1467165"/>
            <a:ext cx="5367325" cy="495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918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List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 propriedades da lista de CSS permitem que você:</a:t>
            </a:r>
          </a:p>
          <a:p>
            <a:pPr lvl="1"/>
            <a:r>
              <a:rPr lang="pt-BR" dirty="0" smtClean="0"/>
              <a:t>Configure </a:t>
            </a:r>
            <a:r>
              <a:rPr lang="pt-BR" dirty="0"/>
              <a:t>diferentes marcadores de item de lista para listas ordenadas</a:t>
            </a:r>
          </a:p>
          <a:p>
            <a:pPr lvl="1"/>
            <a:r>
              <a:rPr lang="pt-BR" dirty="0"/>
              <a:t>Configure</a:t>
            </a:r>
            <a:r>
              <a:rPr lang="pt-BR" dirty="0" smtClean="0"/>
              <a:t> </a:t>
            </a:r>
            <a:r>
              <a:rPr lang="pt-BR" dirty="0"/>
              <a:t>diferentes marcadores de item de lista para listas não ordenadas</a:t>
            </a:r>
          </a:p>
          <a:p>
            <a:pPr lvl="1"/>
            <a:r>
              <a:rPr lang="pt-BR" dirty="0"/>
              <a:t>Configure</a:t>
            </a:r>
            <a:r>
              <a:rPr lang="pt-BR" dirty="0" smtClean="0"/>
              <a:t> </a:t>
            </a:r>
            <a:r>
              <a:rPr lang="pt-BR" dirty="0"/>
              <a:t>uma imagem como marcador de item da </a:t>
            </a:r>
            <a:r>
              <a:rPr lang="pt-BR" dirty="0" smtClean="0"/>
              <a:t>lista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113788"/>
              </p:ext>
            </p:extLst>
          </p:nvPr>
        </p:nvGraphicFramePr>
        <p:xfrm>
          <a:off x="838200" y="3810000"/>
          <a:ext cx="7820025" cy="2541270"/>
        </p:xfrm>
        <a:graphic>
          <a:graphicData uri="http://schemas.openxmlformats.org/drawingml/2006/table">
            <a:tbl>
              <a:tblPr/>
              <a:tblGrid>
                <a:gridCol w="2309813"/>
                <a:gridCol w="5510212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Propriedades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list-style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Configura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todas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as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propriedades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da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lista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em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uma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única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declaração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list-style-image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uma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imagem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como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marcador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do item da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lista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list</a:t>
                      </a:r>
                      <a:r>
                        <a:rPr lang="pt-BR" sz="16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-</a:t>
                      </a:r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style</a:t>
                      </a:r>
                      <a:r>
                        <a:rPr lang="pt-BR" sz="16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-position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  <a:latin typeface="verdana"/>
                        </a:rPr>
                        <a:t>Especifica se os marcadores do item da lista deve aparecer dentro ou fora do fluxo de conteúdo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list-style-type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o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tipo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do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marcador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do item da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lista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52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List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219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103" y="1171683"/>
            <a:ext cx="4157795" cy="5381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738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List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List</a:t>
            </a:r>
            <a:r>
              <a:rPr lang="pt-BR" dirty="0" smtClean="0"/>
              <a:t>-</a:t>
            </a:r>
            <a:r>
              <a:rPr lang="pt-BR" dirty="0" err="1" smtClean="0"/>
              <a:t>style</a:t>
            </a:r>
            <a:r>
              <a:rPr lang="pt-BR" dirty="0" smtClean="0"/>
              <a:t>-position</a:t>
            </a:r>
            <a:endParaRPr lang="pt-BR" dirty="0"/>
          </a:p>
        </p:txBody>
      </p:sp>
      <p:pic>
        <p:nvPicPr>
          <p:cNvPr id="1024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284" y="2362200"/>
            <a:ext cx="4459432" cy="41563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831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Pseudo-classes </a:t>
            </a:r>
            <a:r>
              <a:rPr lang="en-US" dirty="0"/>
              <a:t>CSS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utilizados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adicionar</a:t>
            </a:r>
            <a:r>
              <a:rPr lang="en-US" dirty="0" smtClean="0"/>
              <a:t> </a:t>
            </a:r>
            <a:r>
              <a:rPr lang="en-US" dirty="0" err="1" smtClean="0"/>
              <a:t>efeitos</a:t>
            </a:r>
            <a:r>
              <a:rPr lang="en-US" dirty="0" smtClean="0"/>
              <a:t> </a:t>
            </a:r>
            <a:r>
              <a:rPr lang="en-US" dirty="0" err="1" smtClean="0"/>
              <a:t>especiais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alguns</a:t>
            </a:r>
            <a:r>
              <a:rPr lang="en-US" dirty="0" smtClean="0"/>
              <a:t> </a:t>
            </a:r>
            <a:r>
              <a:rPr lang="en-US" dirty="0" err="1" smtClean="0"/>
              <a:t>seletores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160247"/>
              </p:ext>
            </p:extLst>
          </p:nvPr>
        </p:nvGraphicFramePr>
        <p:xfrm>
          <a:off x="838200" y="2729284"/>
          <a:ext cx="7620001" cy="3214316"/>
        </p:xfrm>
        <a:graphic>
          <a:graphicData uri="http://schemas.openxmlformats.org/drawingml/2006/table">
            <a:tbl>
              <a:tblPr/>
              <a:tblGrid>
                <a:gridCol w="1531515"/>
                <a:gridCol w="1531515"/>
                <a:gridCol w="4556971"/>
              </a:tblGrid>
              <a:tr h="242462"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Selector</a:t>
                      </a:r>
                      <a:endParaRPr lang="pt-BR" sz="13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0902" marR="20902" marT="20902" marB="2090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Exemplo</a:t>
                      </a:r>
                      <a:endParaRPr lang="pt-BR" sz="13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0902" marR="20902" marT="20902" marB="2090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 do exemplo</a:t>
                      </a:r>
                      <a:endParaRPr lang="pt-BR" sz="13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0902" marR="20902" marT="20902" marB="2090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:link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a:link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smtClean="0">
                          <a:effectLst/>
                          <a:latin typeface="verdana"/>
                        </a:rPr>
                        <a:t>Seleciona todos</a:t>
                      </a:r>
                      <a:r>
                        <a:rPr lang="pt-BR" sz="1300" baseline="0" dirty="0" smtClean="0">
                          <a:effectLst/>
                          <a:latin typeface="verdana"/>
                        </a:rPr>
                        <a:t> links não visitados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visited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a:visited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smtClean="0">
                          <a:effectLst/>
                          <a:latin typeface="verdana"/>
                        </a:rPr>
                        <a:t>Seleciona todos links visitados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active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a:active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smtClean="0">
                          <a:effectLst/>
                          <a:latin typeface="verdana"/>
                        </a:rPr>
                        <a:t>Seleciona os links ativos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hover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a:hover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links com mouse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sobre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focus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input:focus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elementos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entrada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com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foco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first-letter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p:first-letter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a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primeira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letra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o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baseline="0" dirty="0" err="1" smtClean="0">
                          <a:effectLst/>
                          <a:latin typeface="verdana"/>
                        </a:rPr>
                        <a:t>elemento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&lt;p&gt;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first-line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p:first-line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a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primeira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linha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elemtno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&lt;p&gt;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first-child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p:first-child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primeira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parte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</a:t>
                      </a:r>
                      <a:r>
                        <a:rPr lang="en-US" sz="1300" baseline="0" dirty="0" err="1" smtClean="0">
                          <a:effectLst/>
                          <a:latin typeface="verdana"/>
                        </a:rPr>
                        <a:t>s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baseline="0" dirty="0" err="1" smtClean="0">
                          <a:effectLst/>
                          <a:latin typeface="verdana"/>
                        </a:rPr>
                        <a:t>elementos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&lt;p&gt;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before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p:before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Insere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conteúdo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antes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elementos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&lt;p&gt;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after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p:after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 smtClean="0">
                          <a:effectLst/>
                          <a:latin typeface="verdana"/>
                        </a:rPr>
                        <a:t>Insere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conteúdo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depois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elementos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&lt;p&gt;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23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 err="1" smtClean="0"/>
              <a:t>Pseudo-classes</a:t>
            </a:r>
            <a:endParaRPr lang="pt-BR" u="sng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26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051" y="1714500"/>
            <a:ext cx="6799898" cy="461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092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focus</a:t>
            </a:r>
            <a:endParaRPr lang="pt-BR" dirty="0"/>
          </a:p>
        </p:txBody>
      </p:sp>
      <p:pic>
        <p:nvPicPr>
          <p:cNvPr id="1331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2286000"/>
            <a:ext cx="5686425" cy="4124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64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first-letter</a:t>
            </a:r>
            <a:endParaRPr lang="pt-BR" dirty="0"/>
          </a:p>
        </p:txBody>
      </p:sp>
      <p:pic>
        <p:nvPicPr>
          <p:cNvPr id="1433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604" y="2376487"/>
            <a:ext cx="4054793" cy="3719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16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first-line</a:t>
            </a:r>
            <a:endParaRPr lang="pt-BR" dirty="0"/>
          </a:p>
        </p:txBody>
      </p:sp>
      <p:pic>
        <p:nvPicPr>
          <p:cNvPr id="1536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2657475"/>
            <a:ext cx="5657850" cy="351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599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first-child</a:t>
            </a:r>
            <a:endParaRPr lang="pt-BR" dirty="0"/>
          </a:p>
        </p:txBody>
      </p:sp>
      <p:pic>
        <p:nvPicPr>
          <p:cNvPr id="1638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2209800"/>
            <a:ext cx="5495925" cy="4429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049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before</a:t>
            </a:r>
            <a:endParaRPr lang="pt-BR" dirty="0"/>
          </a:p>
        </p:txBody>
      </p:sp>
      <p:pic>
        <p:nvPicPr>
          <p:cNvPr id="5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143" y="2438400"/>
            <a:ext cx="5286375" cy="3371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17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after</a:t>
            </a:r>
            <a:endParaRPr lang="pt-BR" dirty="0"/>
          </a:p>
        </p:txBody>
      </p:sp>
      <p:pic>
        <p:nvPicPr>
          <p:cNvPr id="17411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505075"/>
            <a:ext cx="5048250" cy="3362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791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CSS3 contém vários novos recursos de texto</a:t>
            </a:r>
            <a:r>
              <a:rPr lang="pt-BR" dirty="0" smtClean="0"/>
              <a:t>.</a:t>
            </a:r>
          </a:p>
          <a:p>
            <a:pPr lvl="1"/>
            <a:r>
              <a:rPr lang="pt-BR" dirty="0" err="1" smtClean="0"/>
              <a:t>text-shadow</a:t>
            </a:r>
            <a:r>
              <a:rPr lang="pt-BR" dirty="0" smtClean="0"/>
              <a:t> – Adiciona sombra ao texto.</a:t>
            </a:r>
            <a:endParaRPr lang="pt-BR" dirty="0"/>
          </a:p>
          <a:p>
            <a:pPr lvl="1"/>
            <a:r>
              <a:rPr lang="pt-BR" dirty="0" err="1" smtClean="0"/>
              <a:t>word-wrap</a:t>
            </a:r>
            <a:r>
              <a:rPr lang="pt-BR" dirty="0" smtClean="0"/>
              <a:t> </a:t>
            </a:r>
            <a:r>
              <a:rPr lang="pt-BR" dirty="0"/>
              <a:t>– Permite que palavras </a:t>
            </a:r>
            <a:r>
              <a:rPr lang="pt-BR" dirty="0" smtClean="0"/>
              <a:t>longas sejam quebrados para </a:t>
            </a:r>
            <a:r>
              <a:rPr lang="pt-BR" dirty="0"/>
              <a:t>a próxima </a:t>
            </a:r>
            <a:r>
              <a:rPr lang="pt-BR" dirty="0" smtClean="0"/>
              <a:t>linha.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83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Text-shadow</a:t>
            </a:r>
            <a:endParaRPr lang="pt-BR" dirty="0"/>
          </a:p>
        </p:txBody>
      </p:sp>
      <p:pic>
        <p:nvPicPr>
          <p:cNvPr id="1843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440" y="2455355"/>
            <a:ext cx="6673120" cy="3734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81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Word-</a:t>
            </a:r>
            <a:r>
              <a:rPr lang="pt-BR" dirty="0" err="1" smtClean="0"/>
              <a:t>wrap</a:t>
            </a:r>
            <a:endParaRPr lang="pt-BR" dirty="0"/>
          </a:p>
        </p:txBody>
      </p:sp>
      <p:pic>
        <p:nvPicPr>
          <p:cNvPr id="1945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044" y="2209800"/>
            <a:ext cx="5395913" cy="4044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809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1095</Words>
  <Application>Microsoft Office PowerPoint</Application>
  <PresentationFormat>Apresentação na tela (4:3)</PresentationFormat>
  <Paragraphs>316</Paragraphs>
  <Slides>39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0" baseType="lpstr">
      <vt:lpstr>Tema do Office</vt:lpstr>
      <vt:lpstr>HTML5 e CSS3</vt:lpstr>
      <vt:lpstr>CSS3</vt:lpstr>
      <vt:lpstr>CSS3</vt:lpstr>
      <vt:lpstr>Fontes</vt:lpstr>
      <vt:lpstr>Font Family</vt:lpstr>
      <vt:lpstr>Font Family</vt:lpstr>
      <vt:lpstr>Font Family</vt:lpstr>
      <vt:lpstr>Combinações mais comuns de fontes</vt:lpstr>
      <vt:lpstr>Combinações mais comuns de fontes</vt:lpstr>
      <vt:lpstr>Combinações mais comuns de fontes</vt:lpstr>
      <vt:lpstr>Font Size</vt:lpstr>
      <vt:lpstr>Font Size</vt:lpstr>
      <vt:lpstr>Font Size</vt:lpstr>
      <vt:lpstr>Font Size</vt:lpstr>
      <vt:lpstr>Font Style</vt:lpstr>
      <vt:lpstr>Font Style</vt:lpstr>
      <vt:lpstr>Font Variant</vt:lpstr>
      <vt:lpstr>Font Variant</vt:lpstr>
      <vt:lpstr>Font Weight</vt:lpstr>
      <vt:lpstr>Font Weight</vt:lpstr>
      <vt:lpstr>Font</vt:lpstr>
      <vt:lpstr>Font</vt:lpstr>
      <vt:lpstr>Texto</vt:lpstr>
      <vt:lpstr>Texto</vt:lpstr>
      <vt:lpstr>Texto</vt:lpstr>
      <vt:lpstr>List</vt:lpstr>
      <vt:lpstr>List</vt:lpstr>
      <vt:lpstr>List</vt:lpstr>
      <vt:lpstr>Pseudo-classes</vt:lpstr>
      <vt:lpstr>Pseudo-classes</vt:lpstr>
      <vt:lpstr>Pseudo-classes</vt:lpstr>
      <vt:lpstr>Pseudo-classes</vt:lpstr>
      <vt:lpstr>Pseudo-classes</vt:lpstr>
      <vt:lpstr>Pseudo-classes</vt:lpstr>
      <vt:lpstr>Pseudo-classes</vt:lpstr>
      <vt:lpstr>Pseudo-classes</vt:lpstr>
      <vt:lpstr>Efeitos de Texto</vt:lpstr>
      <vt:lpstr>Efeitos de Texto</vt:lpstr>
      <vt:lpstr>Efeitos de Texto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User</dc:creator>
  <cp:lastModifiedBy>Daniel Yuthaka Kawasaki</cp:lastModifiedBy>
  <cp:revision>65</cp:revision>
  <dcterms:created xsi:type="dcterms:W3CDTF">2013-11-27T13:32:50Z</dcterms:created>
  <dcterms:modified xsi:type="dcterms:W3CDTF">2013-12-07T14:36:04Z</dcterms:modified>
</cp:coreProperties>
</file>