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259" r:id="rId4"/>
    <p:sldId id="258" r:id="rId5"/>
    <p:sldId id="260" r:id="rId6"/>
    <p:sldId id="261" r:id="rId7"/>
    <p:sldId id="262" r:id="rId8"/>
    <p:sldId id="263" r:id="rId9"/>
    <p:sldId id="270" r:id="rId10"/>
    <p:sldId id="267" r:id="rId11"/>
    <p:sldId id="264" r:id="rId12"/>
    <p:sldId id="272" r:id="rId13"/>
    <p:sldId id="266" r:id="rId14"/>
    <p:sldId id="271" r:id="rId15"/>
    <p:sldId id="265" r:id="rId16"/>
    <p:sldId id="268" r:id="rId17"/>
    <p:sldId id="269" r:id="rId18"/>
    <p:sldId id="273" r:id="rId19"/>
    <p:sldId id="274" r:id="rId20"/>
    <p:sldId id="277" r:id="rId21"/>
    <p:sldId id="278" r:id="rId22"/>
    <p:sldId id="276" r:id="rId23"/>
    <p:sldId id="279" r:id="rId24"/>
    <p:sldId id="280" r:id="rId25"/>
    <p:sldId id="281" r:id="rId26"/>
    <p:sldId id="282" r:id="rId27"/>
    <p:sldId id="288" r:id="rId28"/>
    <p:sldId id="287" r:id="rId29"/>
    <p:sldId id="286" r:id="rId30"/>
    <p:sldId id="283" r:id="rId31"/>
    <p:sldId id="289" r:id="rId32"/>
    <p:sldId id="285" r:id="rId33"/>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7" d="100"/>
          <a:sy n="107" d="100"/>
        </p:scale>
        <p:origin x="-84"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44D2BF7-7195-4CD1-A1C0-43B3C9FA7D44}" type="datetimeFigureOut">
              <a:rPr lang="pt-BR" smtClean="0"/>
              <a:t>19/10/2013</a:t>
            </a:fld>
            <a:endParaRPr lang="pt-BR"/>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EB75F33-7873-49FB-96B1-6ED5259D4980}" type="slidenum">
              <a:rPr lang="pt-BR" smtClean="0"/>
              <a:t>‹nº›</a:t>
            </a:fld>
            <a:endParaRPr lang="pt-BR"/>
          </a:p>
        </p:txBody>
      </p:sp>
    </p:spTree>
    <p:extLst>
      <p:ext uri="{BB962C8B-B14F-4D97-AF65-F5344CB8AC3E}">
        <p14:creationId xmlns:p14="http://schemas.microsoft.com/office/powerpoint/2010/main" val="3644420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1EB75F33-7873-49FB-96B1-6ED5259D4980}" type="slidenum">
              <a:rPr lang="pt-BR" smtClean="0"/>
              <a:t>2</a:t>
            </a:fld>
            <a:endParaRPr lang="pt-BR"/>
          </a:p>
        </p:txBody>
      </p:sp>
    </p:spTree>
    <p:extLst>
      <p:ext uri="{BB962C8B-B14F-4D97-AF65-F5344CB8AC3E}">
        <p14:creationId xmlns:p14="http://schemas.microsoft.com/office/powerpoint/2010/main" val="1225703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smtClean="0"/>
              <a:t>Clique para editar o título mestre</a:t>
            </a:r>
            <a:endParaRPr lang="pt-B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40D8C1CA-55C1-49C2-B2F3-B78E3CB53FDE}" type="datetimeFigureOut">
              <a:rPr lang="pt-BR" smtClean="0"/>
              <a:t>19/10/2013</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EFAB64C5-631D-4BA7-9584-100E3B71A24B}" type="slidenum">
              <a:rPr lang="pt-BR" smtClean="0"/>
              <a:t>‹nº›</a:t>
            </a:fld>
            <a:endParaRPr lang="pt-BR"/>
          </a:p>
        </p:txBody>
      </p:sp>
    </p:spTree>
    <p:extLst>
      <p:ext uri="{BB962C8B-B14F-4D97-AF65-F5344CB8AC3E}">
        <p14:creationId xmlns:p14="http://schemas.microsoft.com/office/powerpoint/2010/main" val="15894679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idx="1"/>
          </p:nvPr>
        </p:nvSpPr>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40D8C1CA-55C1-49C2-B2F3-B78E3CB53FDE}" type="datetimeFigureOut">
              <a:rPr lang="pt-BR" smtClean="0"/>
              <a:t>19/10/2013</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EFAB64C5-631D-4BA7-9584-100E3B71A24B}" type="slidenum">
              <a:rPr lang="pt-BR" smtClean="0"/>
              <a:t>‹nº›</a:t>
            </a:fld>
            <a:endParaRPr lang="pt-BR"/>
          </a:p>
        </p:txBody>
      </p:sp>
    </p:spTree>
    <p:extLst>
      <p:ext uri="{BB962C8B-B14F-4D97-AF65-F5344CB8AC3E}">
        <p14:creationId xmlns:p14="http://schemas.microsoft.com/office/powerpoint/2010/main" val="115053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smtClean="0"/>
              <a:t>Clique para editar o título mestre</a:t>
            </a:r>
            <a:endParaRPr lang="pt-B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 texto mestre</a:t>
            </a:r>
          </a:p>
        </p:txBody>
      </p:sp>
      <p:sp>
        <p:nvSpPr>
          <p:cNvPr id="4" name="Espaço Reservado para Data 3"/>
          <p:cNvSpPr>
            <a:spLocks noGrp="1"/>
          </p:cNvSpPr>
          <p:nvPr>
            <p:ph type="dt" sz="half" idx="10"/>
          </p:nvPr>
        </p:nvSpPr>
        <p:spPr/>
        <p:txBody>
          <a:bodyPr/>
          <a:lstStyle/>
          <a:p>
            <a:fld id="{40D8C1CA-55C1-49C2-B2F3-B78E3CB53FDE}" type="datetimeFigureOut">
              <a:rPr lang="pt-BR" smtClean="0"/>
              <a:t>19/10/2013</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EFAB64C5-631D-4BA7-9584-100E3B71A24B}" type="slidenum">
              <a:rPr lang="pt-BR" smtClean="0"/>
              <a:t>‹nº›</a:t>
            </a:fld>
            <a:endParaRPr lang="pt-BR"/>
          </a:p>
        </p:txBody>
      </p:sp>
    </p:spTree>
    <p:extLst>
      <p:ext uri="{BB962C8B-B14F-4D97-AF65-F5344CB8AC3E}">
        <p14:creationId xmlns:p14="http://schemas.microsoft.com/office/powerpoint/2010/main" val="3600374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40D8C1CA-55C1-49C2-B2F3-B78E3CB53FDE}" type="datetimeFigureOut">
              <a:rPr lang="pt-BR" smtClean="0"/>
              <a:t>19/10/2013</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EFAB64C5-631D-4BA7-9584-100E3B71A24B}" type="slidenum">
              <a:rPr lang="pt-BR" smtClean="0"/>
              <a:t>‹nº›</a:t>
            </a:fld>
            <a:endParaRPr lang="pt-BR"/>
          </a:p>
        </p:txBody>
      </p:sp>
    </p:spTree>
    <p:extLst>
      <p:ext uri="{BB962C8B-B14F-4D97-AF65-F5344CB8AC3E}">
        <p14:creationId xmlns:p14="http://schemas.microsoft.com/office/powerpoint/2010/main" val="3455807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smtClean="0"/>
              <a:t>Clique para editar o título mestre</a:t>
            </a:r>
            <a:endParaRPr lang="pt-B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40D8C1CA-55C1-49C2-B2F3-B78E3CB53FDE}" type="datetimeFigureOut">
              <a:rPr lang="pt-BR" smtClean="0"/>
              <a:t>19/10/2013</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EFAB64C5-631D-4BA7-9584-100E3B71A24B}" type="slidenum">
              <a:rPr lang="pt-BR" smtClean="0"/>
              <a:t>‹nº›</a:t>
            </a:fld>
            <a:endParaRPr lang="pt-BR"/>
          </a:p>
        </p:txBody>
      </p:sp>
    </p:spTree>
    <p:extLst>
      <p:ext uri="{BB962C8B-B14F-4D97-AF65-F5344CB8AC3E}">
        <p14:creationId xmlns:p14="http://schemas.microsoft.com/office/powerpoint/2010/main" val="3242747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Data 2"/>
          <p:cNvSpPr>
            <a:spLocks noGrp="1"/>
          </p:cNvSpPr>
          <p:nvPr>
            <p:ph type="dt" sz="half" idx="10"/>
          </p:nvPr>
        </p:nvSpPr>
        <p:spPr/>
        <p:txBody>
          <a:bodyPr/>
          <a:lstStyle/>
          <a:p>
            <a:fld id="{40D8C1CA-55C1-49C2-B2F3-B78E3CB53FDE}" type="datetimeFigureOut">
              <a:rPr lang="pt-BR" smtClean="0"/>
              <a:t>19/10/2013</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EFAB64C5-631D-4BA7-9584-100E3B71A24B}" type="slidenum">
              <a:rPr lang="pt-BR" smtClean="0"/>
              <a:t>‹nº›</a:t>
            </a:fld>
            <a:endParaRPr lang="pt-BR"/>
          </a:p>
        </p:txBody>
      </p:sp>
    </p:spTree>
    <p:extLst>
      <p:ext uri="{BB962C8B-B14F-4D97-AF65-F5344CB8AC3E}">
        <p14:creationId xmlns:p14="http://schemas.microsoft.com/office/powerpoint/2010/main" val="2684221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40D8C1CA-55C1-49C2-B2F3-B78E3CB53FDE}" type="datetimeFigureOut">
              <a:rPr lang="pt-BR" smtClean="0"/>
              <a:t>19/10/2013</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EFAB64C5-631D-4BA7-9584-100E3B71A24B}" type="slidenum">
              <a:rPr lang="pt-BR" smtClean="0"/>
              <a:t>‹nº›</a:t>
            </a:fld>
            <a:endParaRPr lang="pt-BR"/>
          </a:p>
        </p:txBody>
      </p:sp>
    </p:spTree>
    <p:extLst>
      <p:ext uri="{BB962C8B-B14F-4D97-AF65-F5344CB8AC3E}">
        <p14:creationId xmlns:p14="http://schemas.microsoft.com/office/powerpoint/2010/main" val="3362434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smtClean="0"/>
              <a:t>Clique para editar o título mestre</a:t>
            </a:r>
            <a:endParaRPr lang="pt-B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40D8C1CA-55C1-49C2-B2F3-B78E3CB53FDE}" type="datetimeFigureOut">
              <a:rPr lang="pt-BR" smtClean="0"/>
              <a:t>19/10/2013</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EFAB64C5-631D-4BA7-9584-100E3B71A24B}" type="slidenum">
              <a:rPr lang="pt-BR" smtClean="0"/>
              <a:t>‹nº›</a:t>
            </a:fld>
            <a:endParaRPr lang="pt-BR"/>
          </a:p>
        </p:txBody>
      </p:sp>
    </p:spTree>
    <p:extLst>
      <p:ext uri="{BB962C8B-B14F-4D97-AF65-F5344CB8AC3E}">
        <p14:creationId xmlns:p14="http://schemas.microsoft.com/office/powerpoint/2010/main" val="3687594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smtClean="0"/>
              <a:t>Clique para editar o título mestre</a:t>
            </a:r>
            <a:endParaRPr lang="pt-BR"/>
          </a:p>
        </p:txBody>
      </p:sp>
      <p:sp>
        <p:nvSpPr>
          <p:cNvPr id="3" name="Espaço Reservado para Imagem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40D8C1CA-55C1-49C2-B2F3-B78E3CB53FDE}" type="datetimeFigureOut">
              <a:rPr lang="pt-BR" smtClean="0"/>
              <a:t>19/10/2013</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EFAB64C5-631D-4BA7-9584-100E3B71A24B}" type="slidenum">
              <a:rPr lang="pt-BR" smtClean="0"/>
              <a:t>‹nº›</a:t>
            </a:fld>
            <a:endParaRPr lang="pt-BR"/>
          </a:p>
        </p:txBody>
      </p:sp>
    </p:spTree>
    <p:extLst>
      <p:ext uri="{BB962C8B-B14F-4D97-AF65-F5344CB8AC3E}">
        <p14:creationId xmlns:p14="http://schemas.microsoft.com/office/powerpoint/2010/main" val="4223058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40D8C1CA-55C1-49C2-B2F3-B78E3CB53FDE}" type="datetimeFigureOut">
              <a:rPr lang="pt-BR" smtClean="0"/>
              <a:t>19/10/2013</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EFAB64C5-631D-4BA7-9584-100E3B71A24B}" type="slidenum">
              <a:rPr lang="pt-BR" smtClean="0"/>
              <a:t>‹nº›</a:t>
            </a:fld>
            <a:endParaRPr lang="pt-BR"/>
          </a:p>
        </p:txBody>
      </p:sp>
    </p:spTree>
    <p:extLst>
      <p:ext uri="{BB962C8B-B14F-4D97-AF65-F5344CB8AC3E}">
        <p14:creationId xmlns:p14="http://schemas.microsoft.com/office/powerpoint/2010/main" val="2364181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smtClean="0"/>
              <a:t>Clique para editar o título mestre</a:t>
            </a:r>
            <a:endParaRPr lang="pt-B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40D8C1CA-55C1-49C2-B2F3-B78E3CB53FDE}" type="datetimeFigureOut">
              <a:rPr lang="pt-BR" smtClean="0"/>
              <a:t>19/10/2013</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EFAB64C5-631D-4BA7-9584-100E3B71A24B}" type="slidenum">
              <a:rPr lang="pt-BR" smtClean="0"/>
              <a:t>‹nº›</a:t>
            </a:fld>
            <a:endParaRPr lang="pt-BR"/>
          </a:p>
        </p:txBody>
      </p:sp>
    </p:spTree>
    <p:extLst>
      <p:ext uri="{BB962C8B-B14F-4D97-AF65-F5344CB8AC3E}">
        <p14:creationId xmlns:p14="http://schemas.microsoft.com/office/powerpoint/2010/main" val="2548845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smtClean="0"/>
              <a:t>Clique para editar o título mestre</a:t>
            </a:r>
            <a:endParaRPr lang="pt-B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8C1CA-55C1-49C2-B2F3-B78E3CB53FDE}" type="datetimeFigureOut">
              <a:rPr lang="pt-BR" smtClean="0"/>
              <a:t>19/10/2013</a:t>
            </a:fld>
            <a:endParaRPr lang="pt-BR"/>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AB64C5-631D-4BA7-9584-100E3B71A24B}" type="slidenum">
              <a:rPr lang="pt-BR" smtClean="0"/>
              <a:t>‹nº›</a:t>
            </a:fld>
            <a:endParaRPr lang="pt-BR"/>
          </a:p>
        </p:txBody>
      </p:sp>
    </p:spTree>
    <p:extLst>
      <p:ext uri="{BB962C8B-B14F-4D97-AF65-F5344CB8AC3E}">
        <p14:creationId xmlns:p14="http://schemas.microsoft.com/office/powerpoint/2010/main" val="35086359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www.terra.com.br/" TargetMode="External"/><Relationship Id="rId2" Type="http://schemas.openxmlformats.org/officeDocument/2006/relationships/hyperlink" Target="http://www.uol.com.br/"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www.site.com/index.html"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pt-BR" dirty="0" smtClean="0"/>
              <a:t>HTML5 e CSS3</a:t>
            </a:r>
            <a:endParaRPr lang="pt-BR" dirty="0"/>
          </a:p>
        </p:txBody>
      </p:sp>
      <p:sp>
        <p:nvSpPr>
          <p:cNvPr id="3" name="Subtítulo 2"/>
          <p:cNvSpPr>
            <a:spLocks noGrp="1"/>
          </p:cNvSpPr>
          <p:nvPr>
            <p:ph type="subTitle" idx="1"/>
          </p:nvPr>
        </p:nvSpPr>
        <p:spPr/>
        <p:txBody>
          <a:bodyPr/>
          <a:lstStyle/>
          <a:p>
            <a:r>
              <a:rPr lang="pt-BR" dirty="0" smtClean="0"/>
              <a:t>Criando </a:t>
            </a:r>
            <a:r>
              <a:rPr lang="pt-BR" dirty="0" err="1" smtClean="0"/>
              <a:t>WebSites</a:t>
            </a:r>
            <a:endParaRPr lang="pt-BR" dirty="0"/>
          </a:p>
        </p:txBody>
      </p:sp>
    </p:spTree>
    <p:extLst>
      <p:ext uri="{BB962C8B-B14F-4D97-AF65-F5344CB8AC3E}">
        <p14:creationId xmlns:p14="http://schemas.microsoft.com/office/powerpoint/2010/main" val="128194856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Corpo Básico</a:t>
            </a:r>
            <a:endParaRPr lang="pt-BR" dirty="0"/>
          </a:p>
        </p:txBody>
      </p:sp>
      <p:sp>
        <p:nvSpPr>
          <p:cNvPr id="3" name="Espaço Reservado para Conteúdo 2"/>
          <p:cNvSpPr>
            <a:spLocks noGrp="1"/>
          </p:cNvSpPr>
          <p:nvPr>
            <p:ph sz="half" idx="1"/>
          </p:nvPr>
        </p:nvSpPr>
        <p:spPr/>
        <p:txBody>
          <a:bodyPr>
            <a:normAutofit fontScale="62500" lnSpcReduction="20000"/>
          </a:bodyPr>
          <a:lstStyle/>
          <a:p>
            <a:endParaRPr lang="pt-BR" dirty="0"/>
          </a:p>
        </p:txBody>
      </p:sp>
      <p:sp>
        <p:nvSpPr>
          <p:cNvPr id="4" name="Espaço Reservado para Conteúdo 3"/>
          <p:cNvSpPr>
            <a:spLocks noGrp="1"/>
          </p:cNvSpPr>
          <p:nvPr>
            <p:ph sz="half" idx="2"/>
          </p:nvPr>
        </p:nvSpPr>
        <p:spPr/>
        <p:txBody>
          <a:bodyPr>
            <a:normAutofit fontScale="62500" lnSpcReduction="20000"/>
          </a:bodyPr>
          <a:lstStyle/>
          <a:p>
            <a:r>
              <a:rPr lang="pt-BR" dirty="0" smtClean="0"/>
              <a:t>DOCTYPE – É a instrução na primeira linha de código do documento que indica para o browser quais os critérios que ele utilizará para processar o documento</a:t>
            </a:r>
          </a:p>
          <a:p>
            <a:r>
              <a:rPr lang="pt-BR" dirty="0" smtClean="0"/>
              <a:t>HTML Elemento Raiz – É o elemento raiz da estrutura de um </a:t>
            </a:r>
            <a:r>
              <a:rPr lang="pt-BR" dirty="0" err="1" smtClean="0"/>
              <a:t>documento.Ao</a:t>
            </a:r>
            <a:r>
              <a:rPr lang="pt-BR" dirty="0" smtClean="0"/>
              <a:t> exibir um documento web, o navegador também organiza um modelo dos objetos deste documento conhecido como DOM (</a:t>
            </a:r>
            <a:r>
              <a:rPr lang="pt-BR" dirty="0" err="1" smtClean="0"/>
              <a:t>Document</a:t>
            </a:r>
            <a:r>
              <a:rPr lang="pt-BR" dirty="0" smtClean="0"/>
              <a:t> </a:t>
            </a:r>
            <a:r>
              <a:rPr lang="pt-BR" dirty="0" err="1" smtClean="0"/>
              <a:t>Object</a:t>
            </a:r>
            <a:r>
              <a:rPr lang="pt-BR" dirty="0" smtClean="0"/>
              <a:t> </a:t>
            </a:r>
            <a:r>
              <a:rPr lang="pt-BR" dirty="0" err="1" smtClean="0"/>
              <a:t>Model</a:t>
            </a:r>
            <a:r>
              <a:rPr lang="pt-BR" dirty="0" smtClean="0"/>
              <a:t>).</a:t>
            </a:r>
          </a:p>
          <a:p>
            <a:r>
              <a:rPr lang="pt-BR" dirty="0" err="1" smtClean="0"/>
              <a:t>Charset</a:t>
            </a:r>
            <a:r>
              <a:rPr lang="pt-BR" dirty="0" smtClean="0"/>
              <a:t> – É o parâmetro que especifica a codificação de caracteres usada para distribuir ou armazenar um documento. O parâmetro UTF-8 da série Unicode é a indicação mais utilizada.</a:t>
            </a:r>
          </a:p>
          <a:p>
            <a:endParaRPr lang="pt-BR"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5" y="1590676"/>
            <a:ext cx="4032448" cy="154111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5" y="3131790"/>
            <a:ext cx="4032448" cy="1654825"/>
          </a:xfrm>
          <a:prstGeom prst="rect">
            <a:avLst/>
          </a:prstGeom>
          <a:ln w="12700">
            <a:solidFill>
              <a:schemeClr val="bg1">
                <a:lumMod val="65000"/>
              </a:schemeClr>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544" y="3917884"/>
            <a:ext cx="4032449" cy="1753795"/>
          </a:xfrm>
          <a:prstGeom prst="rect">
            <a:avLst/>
          </a:prstGeom>
          <a:ln w="12700">
            <a:solidFill>
              <a:schemeClr val="bg1">
                <a:lumMod val="65000"/>
              </a:schemeClr>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Lst>
        </p:spPr>
      </p:pic>
      <p:pic>
        <p:nvPicPr>
          <p:cNvPr id="103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6552" y="4805079"/>
            <a:ext cx="4032448" cy="1741864"/>
          </a:xfrm>
          <a:prstGeom prst="rect">
            <a:avLst/>
          </a:prstGeom>
          <a:ln w="12700">
            <a:solidFill>
              <a:schemeClr val="bg1">
                <a:lumMod val="65000"/>
              </a:schemeClr>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941445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fade">
                                      <p:cBhvr>
                                        <p:cTn id="11" dur="500"/>
                                        <p:tgtEl>
                                          <p:spTgt spid="4">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animEffect transition="in" filter="fade">
                                      <p:cBhvr>
                                        <p:cTn id="16" dur="500"/>
                                        <p:tgtEl>
                                          <p:spTgt spid="4">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500"/>
                                        <p:tgtEl>
                                          <p:spTgt spid="4">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028"/>
                                        </p:tgtEl>
                                        <p:attrNameLst>
                                          <p:attrName>style.visibility</p:attrName>
                                        </p:attrNameLst>
                                      </p:cBhvr>
                                      <p:to>
                                        <p:strVal val="visible"/>
                                      </p:to>
                                    </p:set>
                                    <p:animEffect transition="in" filter="fade">
                                      <p:cBhvr>
                                        <p:cTn id="26" dur="500"/>
                                        <p:tgtEl>
                                          <p:spTgt spid="102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029"/>
                                        </p:tgtEl>
                                        <p:attrNameLst>
                                          <p:attrName>style.visibility</p:attrName>
                                        </p:attrNameLst>
                                      </p:cBhvr>
                                      <p:to>
                                        <p:strVal val="visible"/>
                                      </p:to>
                                    </p:set>
                                    <p:animEffect transition="in" filter="fade">
                                      <p:cBhvr>
                                        <p:cTn id="31" dur="500"/>
                                        <p:tgtEl>
                                          <p:spTgt spid="102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030"/>
                                        </p:tgtEl>
                                        <p:attrNameLst>
                                          <p:attrName>style.visibility</p:attrName>
                                        </p:attrNameLst>
                                      </p:cBhvr>
                                      <p:to>
                                        <p:strVal val="visible"/>
                                      </p:to>
                                    </p:set>
                                    <p:animEffect transition="in" filter="fade">
                                      <p:cBhvr>
                                        <p:cTn id="36" dur="500"/>
                                        <p:tgtEl>
                                          <p:spTgt spid="1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Corpo Básico HTML5</a:t>
            </a:r>
            <a:endParaRPr lang="pt-BR" dirty="0"/>
          </a:p>
        </p:txBody>
      </p:sp>
      <p:sp>
        <p:nvSpPr>
          <p:cNvPr id="3" name="Espaço Reservado para Conteúdo 2"/>
          <p:cNvSpPr>
            <a:spLocks noGrp="1"/>
          </p:cNvSpPr>
          <p:nvPr>
            <p:ph idx="1"/>
          </p:nvPr>
        </p:nvSpPr>
        <p:spPr/>
        <p:txBody>
          <a:bodyPr/>
          <a:lstStyle/>
          <a:p>
            <a:r>
              <a:rPr lang="pt-BR" dirty="0" smtClean="0"/>
              <a:t>Deve conter:</a:t>
            </a:r>
          </a:p>
          <a:p>
            <a:pPr lvl="1"/>
            <a:r>
              <a:rPr lang="pt-BR" dirty="0" smtClean="0"/>
              <a:t>DOCTYPE;</a:t>
            </a:r>
          </a:p>
          <a:p>
            <a:pPr lvl="1"/>
            <a:r>
              <a:rPr lang="pt-BR" dirty="0" smtClean="0"/>
              <a:t>Elemento Raiz;</a:t>
            </a:r>
          </a:p>
          <a:p>
            <a:pPr lvl="1"/>
            <a:r>
              <a:rPr lang="pt-BR" dirty="0" smtClean="0"/>
              <a:t>Elementos </a:t>
            </a:r>
            <a:r>
              <a:rPr lang="pt-BR" dirty="0" err="1" smtClean="0"/>
              <a:t>head</a:t>
            </a:r>
            <a:r>
              <a:rPr lang="pt-BR" dirty="0" smtClean="0"/>
              <a:t>, </a:t>
            </a:r>
            <a:r>
              <a:rPr lang="pt-BR" dirty="0" err="1" smtClean="0"/>
              <a:t>title</a:t>
            </a:r>
            <a:r>
              <a:rPr lang="pt-BR" dirty="0" smtClean="0"/>
              <a:t> e </a:t>
            </a:r>
            <a:r>
              <a:rPr lang="pt-BR" dirty="0" err="1" smtClean="0"/>
              <a:t>body</a:t>
            </a:r>
            <a:r>
              <a:rPr lang="pt-BR" dirty="0" smtClean="0"/>
              <a:t>;</a:t>
            </a:r>
          </a:p>
          <a:p>
            <a:pPr lvl="1"/>
            <a:r>
              <a:rPr lang="pt-BR" dirty="0" smtClean="0"/>
              <a:t>Elementos permitidos com uso de caixa alta (</a:t>
            </a:r>
            <a:r>
              <a:rPr lang="pt-BR" dirty="0" err="1" smtClean="0"/>
              <a:t>maíusculas</a:t>
            </a:r>
            <a:r>
              <a:rPr lang="pt-BR" dirty="0" smtClean="0"/>
              <a:t>) ou caixa baixa (minúsculas);</a:t>
            </a:r>
          </a:p>
          <a:p>
            <a:pPr lvl="1"/>
            <a:r>
              <a:rPr lang="pt-BR" dirty="0" smtClean="0"/>
              <a:t>Elementos vazios podem ou não exibir a </a:t>
            </a:r>
            <a:r>
              <a:rPr lang="pt-BR" dirty="0" err="1" smtClean="0"/>
              <a:t>tag</a:t>
            </a:r>
            <a:r>
              <a:rPr lang="pt-BR" dirty="0" smtClean="0"/>
              <a:t> de fechamento final;</a:t>
            </a:r>
          </a:p>
          <a:p>
            <a:pPr lvl="1"/>
            <a:r>
              <a:rPr lang="pt-BR" dirty="0" smtClean="0"/>
              <a:t>Valores do atributos entre aspas duplas ou não;</a:t>
            </a:r>
            <a:endParaRPr lang="pt-BR" dirty="0"/>
          </a:p>
        </p:txBody>
      </p:sp>
    </p:spTree>
    <p:extLst>
      <p:ext uri="{BB962C8B-B14F-4D97-AF65-F5344CB8AC3E}">
        <p14:creationId xmlns:p14="http://schemas.microsoft.com/office/powerpoint/2010/main" val="7604454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Corpo Básico HTML5</a:t>
            </a:r>
            <a:endParaRPr lang="pt-BR" dirty="0"/>
          </a:p>
        </p:txBody>
      </p:sp>
      <p:sp>
        <p:nvSpPr>
          <p:cNvPr id="3" name="Espaço Reservado para Conteúdo 2"/>
          <p:cNvSpPr>
            <a:spLocks noGrp="1"/>
          </p:cNvSpPr>
          <p:nvPr>
            <p:ph idx="1"/>
          </p:nvPr>
        </p:nvSpPr>
        <p:spPr/>
        <p:txBody>
          <a:bodyPr>
            <a:normAutofit fontScale="70000" lnSpcReduction="20000"/>
          </a:bodyPr>
          <a:lstStyle/>
          <a:p>
            <a:r>
              <a:rPr lang="pt-BR" dirty="0" smtClean="0"/>
              <a:t>Criar uma pasta na área de trabalho com o nome: HTML5 e CSS3;</a:t>
            </a:r>
          </a:p>
          <a:p>
            <a:r>
              <a:rPr lang="pt-BR" dirty="0" smtClean="0"/>
              <a:t>Abrir o </a:t>
            </a:r>
            <a:r>
              <a:rPr lang="pt-BR" dirty="0" err="1" smtClean="0"/>
              <a:t>Notepad</a:t>
            </a:r>
            <a:r>
              <a:rPr lang="pt-BR" dirty="0" smtClean="0"/>
              <a:t>++ </a:t>
            </a:r>
            <a:r>
              <a:rPr lang="pt-BR" dirty="0" err="1" smtClean="0"/>
              <a:t>Portable</a:t>
            </a:r>
            <a:r>
              <a:rPr lang="pt-BR" dirty="0" smtClean="0"/>
              <a:t>;</a:t>
            </a:r>
          </a:p>
          <a:p>
            <a:r>
              <a:rPr lang="pt-BR" dirty="0" smtClean="0"/>
              <a:t>Digitar as seguintes linhas:</a:t>
            </a:r>
          </a:p>
          <a:p>
            <a:pPr marL="457200" lvl="1" indent="0">
              <a:buNone/>
            </a:pPr>
            <a:r>
              <a:rPr lang="pt-BR" dirty="0" smtClean="0"/>
              <a:t>&lt;!DOCTYPE </a:t>
            </a:r>
            <a:r>
              <a:rPr lang="pt-BR" dirty="0" err="1" smtClean="0"/>
              <a:t>html</a:t>
            </a:r>
            <a:r>
              <a:rPr lang="pt-BR" dirty="0" smtClean="0"/>
              <a:t>&gt;</a:t>
            </a:r>
          </a:p>
          <a:p>
            <a:pPr marL="457200" lvl="1" indent="0">
              <a:buNone/>
            </a:pPr>
            <a:r>
              <a:rPr lang="pt-BR" dirty="0" smtClean="0"/>
              <a:t>&lt;</a:t>
            </a:r>
            <a:r>
              <a:rPr lang="pt-BR" dirty="0" err="1" smtClean="0"/>
              <a:t>html</a:t>
            </a:r>
            <a:r>
              <a:rPr lang="pt-BR" dirty="0" smtClean="0"/>
              <a:t> </a:t>
            </a:r>
            <a:r>
              <a:rPr lang="pt-BR" dirty="0" err="1" smtClean="0"/>
              <a:t>lang</a:t>
            </a:r>
            <a:r>
              <a:rPr lang="pt-BR" dirty="0" smtClean="0"/>
              <a:t>="</a:t>
            </a:r>
            <a:r>
              <a:rPr lang="pt-BR" dirty="0" err="1" smtClean="0"/>
              <a:t>pt-br</a:t>
            </a:r>
            <a:r>
              <a:rPr lang="pt-BR" dirty="0" smtClean="0"/>
              <a:t>"&gt;</a:t>
            </a:r>
          </a:p>
          <a:p>
            <a:pPr marL="457200" lvl="1" indent="0">
              <a:buNone/>
            </a:pPr>
            <a:r>
              <a:rPr lang="pt-BR" dirty="0" smtClean="0"/>
              <a:t>&lt;</a:t>
            </a:r>
            <a:r>
              <a:rPr lang="pt-BR" dirty="0" err="1" smtClean="0"/>
              <a:t>head</a:t>
            </a:r>
            <a:r>
              <a:rPr lang="pt-BR" dirty="0" smtClean="0"/>
              <a:t>&gt;</a:t>
            </a:r>
          </a:p>
          <a:p>
            <a:pPr marL="457200" lvl="1" indent="0">
              <a:buNone/>
            </a:pPr>
            <a:r>
              <a:rPr lang="pt-BR" dirty="0" smtClean="0"/>
              <a:t>&lt;meta </a:t>
            </a:r>
            <a:r>
              <a:rPr lang="pt-BR" dirty="0" err="1" smtClean="0"/>
              <a:t>charset</a:t>
            </a:r>
            <a:r>
              <a:rPr lang="pt-BR" dirty="0" smtClean="0"/>
              <a:t>="utf-8"/&gt;</a:t>
            </a:r>
          </a:p>
          <a:p>
            <a:pPr marL="457200" lvl="1" indent="0">
              <a:buNone/>
            </a:pPr>
            <a:r>
              <a:rPr lang="pt-BR" dirty="0" smtClean="0"/>
              <a:t>&lt;</a:t>
            </a:r>
            <a:r>
              <a:rPr lang="pt-BR" dirty="0" err="1" smtClean="0"/>
              <a:t>title</a:t>
            </a:r>
            <a:r>
              <a:rPr lang="pt-BR" dirty="0" smtClean="0"/>
              <a:t>&gt;HTML5 – Estrutura básica&lt;/</a:t>
            </a:r>
            <a:r>
              <a:rPr lang="pt-BR" dirty="0" err="1" smtClean="0"/>
              <a:t>title</a:t>
            </a:r>
            <a:r>
              <a:rPr lang="pt-BR" dirty="0" smtClean="0"/>
              <a:t>&gt;</a:t>
            </a:r>
          </a:p>
          <a:p>
            <a:pPr marL="457200" lvl="1" indent="0">
              <a:buNone/>
            </a:pPr>
            <a:r>
              <a:rPr lang="pt-BR" dirty="0" smtClean="0"/>
              <a:t>&lt;/</a:t>
            </a:r>
            <a:r>
              <a:rPr lang="pt-BR" dirty="0" err="1" smtClean="0"/>
              <a:t>head</a:t>
            </a:r>
            <a:r>
              <a:rPr lang="pt-BR" dirty="0" smtClean="0"/>
              <a:t>&gt;</a:t>
            </a:r>
          </a:p>
          <a:p>
            <a:pPr marL="457200" lvl="1" indent="0">
              <a:buNone/>
            </a:pPr>
            <a:r>
              <a:rPr lang="pt-BR" dirty="0" smtClean="0"/>
              <a:t>&lt;</a:t>
            </a:r>
            <a:r>
              <a:rPr lang="pt-BR" dirty="0" err="1" smtClean="0"/>
              <a:t>body</a:t>
            </a:r>
            <a:r>
              <a:rPr lang="pt-BR" dirty="0" smtClean="0"/>
              <a:t>&gt;</a:t>
            </a:r>
          </a:p>
          <a:p>
            <a:pPr marL="457200" lvl="1" indent="0">
              <a:buNone/>
            </a:pPr>
            <a:r>
              <a:rPr lang="pt-BR" dirty="0" smtClean="0"/>
              <a:t>&lt;/</a:t>
            </a:r>
            <a:r>
              <a:rPr lang="pt-BR" dirty="0" err="1" smtClean="0"/>
              <a:t>body</a:t>
            </a:r>
            <a:r>
              <a:rPr lang="pt-BR" dirty="0" smtClean="0"/>
              <a:t>&gt;</a:t>
            </a:r>
          </a:p>
          <a:p>
            <a:pPr marL="457200" lvl="1" indent="0">
              <a:buNone/>
            </a:pPr>
            <a:r>
              <a:rPr lang="pt-BR" dirty="0" smtClean="0"/>
              <a:t>&lt;/</a:t>
            </a:r>
            <a:r>
              <a:rPr lang="pt-BR" dirty="0" err="1" smtClean="0"/>
              <a:t>html</a:t>
            </a:r>
            <a:r>
              <a:rPr lang="pt-BR" dirty="0" smtClean="0"/>
              <a:t>&gt;</a:t>
            </a:r>
          </a:p>
          <a:p>
            <a:pPr marL="514350" indent="-457200"/>
            <a:r>
              <a:rPr lang="pt-BR" dirty="0" smtClean="0"/>
              <a:t>Salvar como base.html na pasta HTML e CSS3.</a:t>
            </a:r>
            <a:endParaRPr lang="pt-BR" dirty="0"/>
          </a:p>
        </p:txBody>
      </p:sp>
    </p:spTree>
    <p:extLst>
      <p:ext uri="{BB962C8B-B14F-4D97-AF65-F5344CB8AC3E}">
        <p14:creationId xmlns:p14="http://schemas.microsoft.com/office/powerpoint/2010/main" val="5136666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Modelos de Conteúdo</a:t>
            </a:r>
            <a:endParaRPr lang="pt-BR" dirty="0"/>
          </a:p>
        </p:txBody>
      </p:sp>
      <p:sp>
        <p:nvSpPr>
          <p:cNvPr id="3" name="Espaço Reservado para Conteúdo 2"/>
          <p:cNvSpPr>
            <a:spLocks noGrp="1"/>
          </p:cNvSpPr>
          <p:nvPr>
            <p:ph idx="1"/>
          </p:nvPr>
        </p:nvSpPr>
        <p:spPr/>
        <p:txBody>
          <a:bodyPr>
            <a:normAutofit fontScale="70000" lnSpcReduction="20000"/>
          </a:bodyPr>
          <a:lstStyle/>
          <a:p>
            <a:r>
              <a:rPr lang="pt-BR" dirty="0" smtClean="0"/>
              <a:t>Os elementos HTML são </a:t>
            </a:r>
            <a:r>
              <a:rPr lang="pt-BR" dirty="0" err="1" smtClean="0"/>
              <a:t>renderizados</a:t>
            </a:r>
            <a:r>
              <a:rPr lang="pt-BR" dirty="0" smtClean="0"/>
              <a:t> pelo navegador em dois tipos de conteúdo:</a:t>
            </a:r>
          </a:p>
          <a:p>
            <a:pPr lvl="1"/>
            <a:r>
              <a:rPr lang="pt-BR" dirty="0" smtClean="0"/>
              <a:t>Elementos em linha (</a:t>
            </a:r>
            <a:r>
              <a:rPr lang="pt-BR" dirty="0" err="1" smtClean="0"/>
              <a:t>inline</a:t>
            </a:r>
            <a:r>
              <a:rPr lang="pt-BR" dirty="0" smtClean="0"/>
              <a:t>): normalmente marcam apenas o espaço que o seu conteúdo requer, descrevem pequenos trechos de texto e podem incluir outros elementos em linha. Ex.: a, </a:t>
            </a:r>
            <a:r>
              <a:rPr lang="pt-BR" dirty="0" err="1" smtClean="0"/>
              <a:t>strong</a:t>
            </a:r>
            <a:r>
              <a:rPr lang="pt-BR" dirty="0" smtClean="0"/>
              <a:t>, em, </a:t>
            </a:r>
            <a:r>
              <a:rPr lang="pt-BR" dirty="0" err="1" smtClean="0"/>
              <a:t>img</a:t>
            </a:r>
            <a:r>
              <a:rPr lang="pt-BR" dirty="0" smtClean="0"/>
              <a:t>, </a:t>
            </a:r>
            <a:r>
              <a:rPr lang="pt-BR" dirty="0" err="1" smtClean="0"/>
              <a:t>span</a:t>
            </a:r>
            <a:r>
              <a:rPr lang="pt-BR" dirty="0" smtClean="0"/>
              <a:t>.</a:t>
            </a:r>
          </a:p>
          <a:p>
            <a:pPr lvl="1"/>
            <a:r>
              <a:rPr lang="pt-BR" dirty="0" smtClean="0"/>
              <a:t>Elementos em Bloco (</a:t>
            </a:r>
            <a:r>
              <a:rPr lang="pt-BR" dirty="0" err="1" smtClean="0"/>
              <a:t>block</a:t>
            </a:r>
            <a:r>
              <a:rPr lang="pt-BR" dirty="0" smtClean="0"/>
              <a:t>): ocupam pelo menos uma linha inteira quando </a:t>
            </a:r>
            <a:r>
              <a:rPr lang="pt-BR" dirty="0" err="1" smtClean="0"/>
              <a:t>renderizados</a:t>
            </a:r>
            <a:r>
              <a:rPr lang="pt-BR" dirty="0" smtClean="0"/>
              <a:t>, indicam “caixas” ou “boxes” de organização de conteúdo e podem conter outros elementos em bloco e qualquer elemento em linha. Ex.: p, </a:t>
            </a:r>
            <a:r>
              <a:rPr lang="pt-BR" dirty="0" err="1" smtClean="0"/>
              <a:t>ul</a:t>
            </a:r>
            <a:r>
              <a:rPr lang="pt-BR" dirty="0" smtClean="0"/>
              <a:t>, </a:t>
            </a:r>
            <a:r>
              <a:rPr lang="pt-BR" dirty="0" err="1" smtClean="0"/>
              <a:t>div</a:t>
            </a:r>
            <a:r>
              <a:rPr lang="pt-BR" dirty="0" smtClean="0"/>
              <a:t>.</a:t>
            </a:r>
          </a:p>
          <a:p>
            <a:pPr lvl="1"/>
            <a:endParaRPr lang="pt-BR" dirty="0"/>
          </a:p>
          <a:p>
            <a:r>
              <a:rPr lang="pt-BR" dirty="0" smtClean="0"/>
              <a:t>O HTML amplia este conteúdo de bloco e linha classificando os elementos em uma estrutura chamada de modelo de conteúdo, que indica, em categorias, qual tipo de conteúdo cada um dos elementos pode conter.</a:t>
            </a:r>
            <a:endParaRPr lang="pt-BR" dirty="0"/>
          </a:p>
        </p:txBody>
      </p:sp>
    </p:spTree>
    <p:extLst>
      <p:ext uri="{BB962C8B-B14F-4D97-AF65-F5344CB8AC3E}">
        <p14:creationId xmlns:p14="http://schemas.microsoft.com/office/powerpoint/2010/main" val="14230197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Modelos de Conteúdo</a:t>
            </a:r>
            <a:endParaRPr lang="pt-BR" dirty="0"/>
          </a:p>
        </p:txBody>
      </p:sp>
      <p:sp>
        <p:nvSpPr>
          <p:cNvPr id="3" name="Espaço Reservado para Conteúdo 2"/>
          <p:cNvSpPr>
            <a:spLocks noGrp="1"/>
          </p:cNvSpPr>
          <p:nvPr>
            <p:ph idx="1"/>
          </p:nvPr>
        </p:nvSpPr>
        <p:spPr/>
        <p:txBody>
          <a:bodyPr>
            <a:normAutofit lnSpcReduction="10000"/>
          </a:bodyPr>
          <a:lstStyle/>
          <a:p>
            <a:r>
              <a:rPr lang="pt-BR" dirty="0" smtClean="0"/>
              <a:t>Os elementos do HTML5 podem ser agrupados em categorias que compartilham características semelhantes.</a:t>
            </a:r>
          </a:p>
          <a:p>
            <a:r>
              <a:rPr lang="pt-BR" dirty="0" smtClean="0"/>
              <a:t>Entretanto, um mesmo elemento pode pertencer a uma, várias ou mesmo a nenhuma categoria, visto que alguns elementos possuem características específicas e não permitem a sua atribuição a nenhuma categoria em particular.</a:t>
            </a:r>
            <a:endParaRPr lang="pt-BR" dirty="0"/>
          </a:p>
        </p:txBody>
      </p:sp>
    </p:spTree>
    <p:extLst>
      <p:ext uri="{BB962C8B-B14F-4D97-AF65-F5344CB8AC3E}">
        <p14:creationId xmlns:p14="http://schemas.microsoft.com/office/powerpoint/2010/main" val="2103140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Modelos de Conteúdo</a:t>
            </a:r>
            <a:endParaRPr lang="pt-BR" dirty="0"/>
          </a:p>
        </p:txBody>
      </p:sp>
      <p:sp>
        <p:nvSpPr>
          <p:cNvPr id="3" name="Espaço Reservado para Conteúdo 2"/>
          <p:cNvSpPr>
            <a:spLocks noGrp="1"/>
          </p:cNvSpPr>
          <p:nvPr>
            <p:ph idx="1"/>
          </p:nvPr>
        </p:nvSpPr>
        <p:spPr/>
        <p:txBody>
          <a:bodyPr>
            <a:normAutofit/>
          </a:bodyPr>
          <a:lstStyle/>
          <a:p>
            <a:r>
              <a:rPr lang="pt-BR" dirty="0" smtClean="0"/>
              <a:t>As categorias são:</a:t>
            </a:r>
          </a:p>
          <a:p>
            <a:pPr lvl="1"/>
            <a:r>
              <a:rPr lang="pt-BR" dirty="0" err="1" smtClean="0"/>
              <a:t>Metadata</a:t>
            </a:r>
            <a:r>
              <a:rPr lang="pt-BR" dirty="0" smtClean="0"/>
              <a:t> </a:t>
            </a:r>
            <a:r>
              <a:rPr lang="pt-BR" dirty="0" err="1" smtClean="0"/>
              <a:t>content</a:t>
            </a:r>
            <a:endParaRPr lang="pt-BR" dirty="0" smtClean="0"/>
          </a:p>
          <a:p>
            <a:pPr lvl="1"/>
            <a:r>
              <a:rPr lang="pt-BR" dirty="0" err="1" smtClean="0"/>
              <a:t>Sectioning</a:t>
            </a:r>
            <a:r>
              <a:rPr lang="pt-BR" dirty="0" smtClean="0"/>
              <a:t> </a:t>
            </a:r>
            <a:r>
              <a:rPr lang="pt-BR" dirty="0" err="1" smtClean="0"/>
              <a:t>content</a:t>
            </a:r>
            <a:endParaRPr lang="pt-BR" dirty="0" smtClean="0"/>
          </a:p>
          <a:p>
            <a:pPr lvl="1"/>
            <a:r>
              <a:rPr lang="pt-BR" dirty="0" err="1" smtClean="0"/>
              <a:t>Flow</a:t>
            </a:r>
            <a:r>
              <a:rPr lang="pt-BR" dirty="0" smtClean="0"/>
              <a:t> </a:t>
            </a:r>
            <a:r>
              <a:rPr lang="pt-BR" dirty="0" err="1" smtClean="0"/>
              <a:t>content</a:t>
            </a:r>
            <a:endParaRPr lang="pt-BR" dirty="0" smtClean="0"/>
          </a:p>
          <a:p>
            <a:pPr lvl="1"/>
            <a:r>
              <a:rPr lang="pt-BR" dirty="0" err="1" smtClean="0"/>
              <a:t>Heading</a:t>
            </a:r>
            <a:r>
              <a:rPr lang="pt-BR" dirty="0" smtClean="0"/>
              <a:t> </a:t>
            </a:r>
            <a:r>
              <a:rPr lang="pt-BR" dirty="0" err="1" smtClean="0"/>
              <a:t>content</a:t>
            </a:r>
            <a:endParaRPr lang="pt-BR" dirty="0" smtClean="0"/>
          </a:p>
          <a:p>
            <a:pPr lvl="1"/>
            <a:r>
              <a:rPr lang="pt-BR" dirty="0" err="1" smtClean="0"/>
              <a:t>Phrasing</a:t>
            </a:r>
            <a:r>
              <a:rPr lang="pt-BR" dirty="0" smtClean="0"/>
              <a:t> </a:t>
            </a:r>
            <a:r>
              <a:rPr lang="pt-BR" dirty="0" err="1" smtClean="0"/>
              <a:t>content</a:t>
            </a:r>
            <a:endParaRPr lang="pt-BR" dirty="0" smtClean="0"/>
          </a:p>
          <a:p>
            <a:pPr lvl="1"/>
            <a:r>
              <a:rPr lang="pt-BR" dirty="0" err="1" smtClean="0"/>
              <a:t>Embedded</a:t>
            </a:r>
            <a:r>
              <a:rPr lang="pt-BR" dirty="0" smtClean="0"/>
              <a:t> </a:t>
            </a:r>
            <a:r>
              <a:rPr lang="pt-BR" dirty="0" err="1" smtClean="0"/>
              <a:t>content</a:t>
            </a:r>
            <a:endParaRPr lang="pt-BR" dirty="0" smtClean="0"/>
          </a:p>
          <a:p>
            <a:pPr lvl="1"/>
            <a:r>
              <a:rPr lang="pt-BR" dirty="0" err="1" smtClean="0"/>
              <a:t>Interactive</a:t>
            </a:r>
            <a:r>
              <a:rPr lang="pt-BR" dirty="0" smtClean="0"/>
              <a:t> </a:t>
            </a:r>
            <a:r>
              <a:rPr lang="pt-BR" dirty="0" err="1" smtClean="0"/>
              <a:t>content</a:t>
            </a:r>
            <a:endParaRPr lang="pt-BR" dirty="0"/>
          </a:p>
        </p:txBody>
      </p:sp>
    </p:spTree>
    <p:extLst>
      <p:ext uri="{BB962C8B-B14F-4D97-AF65-F5344CB8AC3E}">
        <p14:creationId xmlns:p14="http://schemas.microsoft.com/office/powerpoint/2010/main" val="21516645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Modelos de Conteúdo</a:t>
            </a:r>
            <a:endParaRPr lang="pt-BR" dirty="0"/>
          </a:p>
        </p:txBody>
      </p:sp>
      <p:sp>
        <p:nvSpPr>
          <p:cNvPr id="3" name="Espaço Reservado para Conteúdo 2"/>
          <p:cNvSpPr>
            <a:spLocks noGrp="1"/>
          </p:cNvSpPr>
          <p:nvPr>
            <p:ph idx="1"/>
          </p:nvPr>
        </p:nvSpPr>
        <p:spPr/>
        <p:txBody>
          <a:bodyPr/>
          <a:lstStyle/>
          <a:p>
            <a:r>
              <a:rPr lang="pt-BR" dirty="0" err="1" smtClean="0"/>
              <a:t>Matadata</a:t>
            </a:r>
            <a:r>
              <a:rPr lang="pt-BR" dirty="0" smtClean="0"/>
              <a:t> </a:t>
            </a:r>
            <a:r>
              <a:rPr lang="pt-BR" dirty="0" err="1" smtClean="0"/>
              <a:t>content</a:t>
            </a:r>
            <a:r>
              <a:rPr lang="pt-BR" dirty="0" smtClean="0"/>
              <a:t>:</a:t>
            </a:r>
          </a:p>
          <a:p>
            <a:pPr lvl="1"/>
            <a:r>
              <a:rPr lang="pt-BR" dirty="0" smtClean="0"/>
              <a:t>Inclui os elementos que determinam a maneira como será exibido o conteúdo do documento,  de que forma este documento se comportará e como ele se relacionará com outros documentos.</a:t>
            </a:r>
            <a:endParaRPr lang="pt-BR" dirty="0"/>
          </a:p>
        </p:txBody>
      </p:sp>
      <p:graphicFrame>
        <p:nvGraphicFramePr>
          <p:cNvPr id="4" name="Tabela 3"/>
          <p:cNvGraphicFramePr>
            <a:graphicFrameLocks noGrp="1"/>
          </p:cNvGraphicFramePr>
          <p:nvPr>
            <p:extLst>
              <p:ext uri="{D42A27DB-BD31-4B8C-83A1-F6EECF244321}">
                <p14:modId xmlns:p14="http://schemas.microsoft.com/office/powerpoint/2010/main" val="1739970313"/>
              </p:ext>
            </p:extLst>
          </p:nvPr>
        </p:nvGraphicFramePr>
        <p:xfrm>
          <a:off x="1403648" y="4509120"/>
          <a:ext cx="6096000" cy="741680"/>
        </p:xfrm>
        <a:graphic>
          <a:graphicData uri="http://schemas.openxmlformats.org/drawingml/2006/table">
            <a:tbl>
              <a:tblPr firstRow="1" bandRow="1">
                <a:tableStyleId>{5940675A-B579-460E-94D1-54222C63F5DA}</a:tableStyleId>
              </a:tblPr>
              <a:tblGrid>
                <a:gridCol w="1524000"/>
                <a:gridCol w="1524000"/>
                <a:gridCol w="1524000"/>
                <a:gridCol w="1524000"/>
              </a:tblGrid>
              <a:tr h="370840">
                <a:tc>
                  <a:txBody>
                    <a:bodyPr/>
                    <a:lstStyle/>
                    <a:p>
                      <a:pPr algn="ctr"/>
                      <a:r>
                        <a:rPr lang="pt-BR" dirty="0" smtClean="0"/>
                        <a:t>base</a:t>
                      </a:r>
                      <a:endParaRPr lang="pt-BR" dirty="0"/>
                    </a:p>
                  </a:txBody>
                  <a:tcPr/>
                </a:tc>
                <a:tc>
                  <a:txBody>
                    <a:bodyPr/>
                    <a:lstStyle/>
                    <a:p>
                      <a:pPr algn="ctr"/>
                      <a:r>
                        <a:rPr lang="pt-BR" dirty="0" err="1" smtClean="0"/>
                        <a:t>command</a:t>
                      </a:r>
                      <a:endParaRPr lang="pt-BR" dirty="0"/>
                    </a:p>
                  </a:txBody>
                  <a:tcPr/>
                </a:tc>
                <a:tc>
                  <a:txBody>
                    <a:bodyPr/>
                    <a:lstStyle/>
                    <a:p>
                      <a:pPr algn="ctr"/>
                      <a:r>
                        <a:rPr lang="pt-BR" dirty="0" smtClean="0"/>
                        <a:t>link</a:t>
                      </a:r>
                      <a:endParaRPr lang="pt-BR" dirty="0"/>
                    </a:p>
                  </a:txBody>
                  <a:tcPr/>
                </a:tc>
                <a:tc>
                  <a:txBody>
                    <a:bodyPr/>
                    <a:lstStyle/>
                    <a:p>
                      <a:pPr algn="ctr"/>
                      <a:r>
                        <a:rPr lang="pt-BR" dirty="0" smtClean="0"/>
                        <a:t>meta</a:t>
                      </a:r>
                      <a:endParaRPr lang="pt-BR" dirty="0"/>
                    </a:p>
                  </a:txBody>
                  <a:tcPr/>
                </a:tc>
              </a:tr>
              <a:tr h="370840">
                <a:tc>
                  <a:txBody>
                    <a:bodyPr/>
                    <a:lstStyle/>
                    <a:p>
                      <a:pPr algn="ctr"/>
                      <a:r>
                        <a:rPr lang="pt-BR" dirty="0" err="1" smtClean="0"/>
                        <a:t>noscript</a:t>
                      </a:r>
                      <a:endParaRPr lang="pt-BR" dirty="0"/>
                    </a:p>
                  </a:txBody>
                  <a:tcPr/>
                </a:tc>
                <a:tc>
                  <a:txBody>
                    <a:bodyPr/>
                    <a:lstStyle/>
                    <a:p>
                      <a:pPr algn="ctr"/>
                      <a:r>
                        <a:rPr lang="pt-BR" dirty="0" smtClean="0"/>
                        <a:t>script</a:t>
                      </a:r>
                      <a:endParaRPr lang="pt-BR" dirty="0"/>
                    </a:p>
                  </a:txBody>
                  <a:tcPr/>
                </a:tc>
                <a:tc>
                  <a:txBody>
                    <a:bodyPr/>
                    <a:lstStyle/>
                    <a:p>
                      <a:pPr algn="ctr"/>
                      <a:r>
                        <a:rPr lang="pt-BR" dirty="0" err="1" smtClean="0"/>
                        <a:t>style</a:t>
                      </a:r>
                      <a:endParaRPr lang="pt-BR" dirty="0"/>
                    </a:p>
                  </a:txBody>
                  <a:tcPr/>
                </a:tc>
                <a:tc>
                  <a:txBody>
                    <a:bodyPr/>
                    <a:lstStyle/>
                    <a:p>
                      <a:pPr algn="ctr"/>
                      <a:r>
                        <a:rPr lang="pt-BR" dirty="0" err="1" smtClean="0"/>
                        <a:t>title</a:t>
                      </a:r>
                      <a:endParaRPr lang="pt-BR" dirty="0"/>
                    </a:p>
                  </a:txBody>
                  <a:tcPr/>
                </a:tc>
              </a:tr>
            </a:tbl>
          </a:graphicData>
        </a:graphic>
      </p:graphicFrame>
    </p:spTree>
    <p:extLst>
      <p:ext uri="{BB962C8B-B14F-4D97-AF65-F5344CB8AC3E}">
        <p14:creationId xmlns:p14="http://schemas.microsoft.com/office/powerpoint/2010/main" val="261820173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Modelos de Conteúdo</a:t>
            </a:r>
            <a:endParaRPr lang="pt-BR" dirty="0"/>
          </a:p>
        </p:txBody>
      </p:sp>
      <p:sp>
        <p:nvSpPr>
          <p:cNvPr id="3" name="Espaço Reservado para Conteúdo 2"/>
          <p:cNvSpPr>
            <a:spLocks noGrp="1"/>
          </p:cNvSpPr>
          <p:nvPr>
            <p:ph idx="1"/>
          </p:nvPr>
        </p:nvSpPr>
        <p:spPr/>
        <p:txBody>
          <a:bodyPr>
            <a:normAutofit fontScale="77500" lnSpcReduction="20000"/>
          </a:bodyPr>
          <a:lstStyle/>
          <a:p>
            <a:r>
              <a:rPr lang="pt-BR" dirty="0" err="1" smtClean="0"/>
              <a:t>Metadata</a:t>
            </a:r>
            <a:r>
              <a:rPr lang="pt-BR" dirty="0" smtClean="0"/>
              <a:t> </a:t>
            </a:r>
            <a:r>
              <a:rPr lang="pt-BR" dirty="0" err="1" smtClean="0"/>
              <a:t>content</a:t>
            </a:r>
            <a:endParaRPr lang="pt-BR" dirty="0" smtClean="0"/>
          </a:p>
          <a:p>
            <a:endParaRPr lang="pt-BR" dirty="0"/>
          </a:p>
          <a:p>
            <a:endParaRPr lang="pt-BR" dirty="0" smtClean="0"/>
          </a:p>
          <a:p>
            <a:endParaRPr lang="pt-BR" dirty="0"/>
          </a:p>
          <a:p>
            <a:endParaRPr lang="pt-BR" dirty="0" smtClean="0"/>
          </a:p>
          <a:p>
            <a:endParaRPr lang="pt-BR" dirty="0" smtClean="0"/>
          </a:p>
          <a:p>
            <a:endParaRPr lang="pt-BR" dirty="0" smtClean="0"/>
          </a:p>
          <a:p>
            <a:pPr lvl="1"/>
            <a:endParaRPr lang="pt-BR" dirty="0"/>
          </a:p>
          <a:p>
            <a:pPr lvl="1"/>
            <a:endParaRPr lang="pt-BR" dirty="0" smtClean="0"/>
          </a:p>
          <a:p>
            <a:pPr lvl="1"/>
            <a:r>
              <a:rPr lang="pt-BR" dirty="0" smtClean="0"/>
              <a:t>Abra o arquivo base.html e salve como exemplo.html</a:t>
            </a:r>
          </a:p>
          <a:p>
            <a:pPr lvl="1"/>
            <a:r>
              <a:rPr lang="pt-BR" dirty="0" smtClean="0"/>
              <a:t>Copiar as linhas que estão no elemento </a:t>
            </a:r>
            <a:r>
              <a:rPr lang="pt-BR" dirty="0" err="1" smtClean="0"/>
              <a:t>body</a:t>
            </a:r>
            <a:r>
              <a:rPr lang="pt-BR" dirty="0" smtClean="0"/>
              <a:t>.</a:t>
            </a:r>
          </a:p>
          <a:p>
            <a:pPr lvl="1"/>
            <a:r>
              <a:rPr lang="pt-BR" dirty="0" smtClean="0"/>
              <a:t>Salve e teste no navegador </a:t>
            </a:r>
            <a:endParaRPr lang="pt-BR"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2060848"/>
            <a:ext cx="5544616" cy="2676711"/>
          </a:xfrm>
          <a:prstGeom prst="rect">
            <a:avLst/>
          </a:prstGeom>
          <a:ln w="9525">
            <a:solidFill>
              <a:schemeClr val="tx1"/>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0165159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Modelos de Conteúdo</a:t>
            </a:r>
            <a:endParaRPr lang="pt-BR" dirty="0"/>
          </a:p>
        </p:txBody>
      </p:sp>
      <p:sp>
        <p:nvSpPr>
          <p:cNvPr id="3" name="Espaço Reservado para Conteúdo 2"/>
          <p:cNvSpPr>
            <a:spLocks noGrp="1"/>
          </p:cNvSpPr>
          <p:nvPr>
            <p:ph idx="1"/>
          </p:nvPr>
        </p:nvSpPr>
        <p:spPr/>
        <p:txBody>
          <a:bodyPr/>
          <a:lstStyle/>
          <a:p>
            <a:r>
              <a:rPr lang="pt-BR" dirty="0" err="1" smtClean="0"/>
              <a:t>Sectioning</a:t>
            </a:r>
            <a:r>
              <a:rPr lang="pt-BR" dirty="0" smtClean="0"/>
              <a:t> </a:t>
            </a:r>
            <a:r>
              <a:rPr lang="pt-BR" dirty="0" err="1" smtClean="0"/>
              <a:t>content</a:t>
            </a:r>
            <a:endParaRPr lang="pt-BR" dirty="0" smtClean="0"/>
          </a:p>
          <a:p>
            <a:pPr lvl="1"/>
            <a:r>
              <a:rPr lang="pt-BR" dirty="0" smtClean="0"/>
              <a:t>Elementos que marcam blocos de conteúdos como conteúdo principal, de apoio e de navegação.</a:t>
            </a:r>
            <a:endParaRPr lang="pt-BR" dirty="0"/>
          </a:p>
        </p:txBody>
      </p:sp>
      <p:graphicFrame>
        <p:nvGraphicFramePr>
          <p:cNvPr id="4" name="Tabela 3"/>
          <p:cNvGraphicFramePr>
            <a:graphicFrameLocks noGrp="1"/>
          </p:cNvGraphicFramePr>
          <p:nvPr>
            <p:extLst>
              <p:ext uri="{D42A27DB-BD31-4B8C-83A1-F6EECF244321}">
                <p14:modId xmlns:p14="http://schemas.microsoft.com/office/powerpoint/2010/main" val="1022532379"/>
              </p:ext>
            </p:extLst>
          </p:nvPr>
        </p:nvGraphicFramePr>
        <p:xfrm>
          <a:off x="1403648" y="4509120"/>
          <a:ext cx="6096000" cy="370840"/>
        </p:xfrm>
        <a:graphic>
          <a:graphicData uri="http://schemas.openxmlformats.org/drawingml/2006/table">
            <a:tbl>
              <a:tblPr firstRow="1" bandRow="1">
                <a:tableStyleId>{5940675A-B579-460E-94D1-54222C63F5DA}</a:tableStyleId>
              </a:tblPr>
              <a:tblGrid>
                <a:gridCol w="1524000"/>
                <a:gridCol w="1524000"/>
                <a:gridCol w="1524000"/>
                <a:gridCol w="1524000"/>
              </a:tblGrid>
              <a:tr h="370840">
                <a:tc>
                  <a:txBody>
                    <a:bodyPr/>
                    <a:lstStyle/>
                    <a:p>
                      <a:pPr algn="ctr"/>
                      <a:r>
                        <a:rPr lang="pt-BR" dirty="0" err="1" smtClean="0"/>
                        <a:t>article</a:t>
                      </a:r>
                      <a:endParaRPr lang="pt-BR" dirty="0"/>
                    </a:p>
                  </a:txBody>
                  <a:tcPr/>
                </a:tc>
                <a:tc>
                  <a:txBody>
                    <a:bodyPr/>
                    <a:lstStyle/>
                    <a:p>
                      <a:pPr algn="ctr"/>
                      <a:r>
                        <a:rPr lang="pt-BR" dirty="0" err="1" smtClean="0"/>
                        <a:t>aside</a:t>
                      </a:r>
                      <a:endParaRPr lang="pt-BR" dirty="0"/>
                    </a:p>
                  </a:txBody>
                  <a:tcPr/>
                </a:tc>
                <a:tc>
                  <a:txBody>
                    <a:bodyPr/>
                    <a:lstStyle/>
                    <a:p>
                      <a:pPr algn="ctr"/>
                      <a:r>
                        <a:rPr lang="pt-BR" dirty="0" err="1" smtClean="0"/>
                        <a:t>nav</a:t>
                      </a:r>
                      <a:endParaRPr lang="pt-BR" dirty="0"/>
                    </a:p>
                  </a:txBody>
                  <a:tcPr/>
                </a:tc>
                <a:tc>
                  <a:txBody>
                    <a:bodyPr/>
                    <a:lstStyle/>
                    <a:p>
                      <a:pPr algn="ctr"/>
                      <a:r>
                        <a:rPr lang="pt-BR" dirty="0" err="1" smtClean="0"/>
                        <a:t>section</a:t>
                      </a:r>
                      <a:endParaRPr lang="pt-BR" dirty="0"/>
                    </a:p>
                  </a:txBody>
                  <a:tcPr/>
                </a:tc>
              </a:tr>
            </a:tbl>
          </a:graphicData>
        </a:graphic>
      </p:graphicFrame>
    </p:spTree>
    <p:extLst>
      <p:ext uri="{BB962C8B-B14F-4D97-AF65-F5344CB8AC3E}">
        <p14:creationId xmlns:p14="http://schemas.microsoft.com/office/powerpoint/2010/main" val="11753640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Modelos de Conteúdo</a:t>
            </a:r>
            <a:endParaRPr lang="pt-BR" dirty="0"/>
          </a:p>
        </p:txBody>
      </p:sp>
      <p:sp>
        <p:nvSpPr>
          <p:cNvPr id="3" name="Espaço Reservado para Conteúdo 2"/>
          <p:cNvSpPr>
            <a:spLocks noGrp="1"/>
          </p:cNvSpPr>
          <p:nvPr>
            <p:ph idx="1"/>
          </p:nvPr>
        </p:nvSpPr>
        <p:spPr/>
        <p:txBody>
          <a:bodyPr>
            <a:normAutofit fontScale="85000" lnSpcReduction="20000"/>
          </a:bodyPr>
          <a:lstStyle/>
          <a:p>
            <a:r>
              <a:rPr lang="pt-BR" dirty="0" err="1" smtClean="0"/>
              <a:t>Flow</a:t>
            </a:r>
            <a:r>
              <a:rPr lang="pt-BR" dirty="0" smtClean="0"/>
              <a:t> </a:t>
            </a:r>
            <a:r>
              <a:rPr lang="pt-BR" dirty="0" err="1" smtClean="0"/>
              <a:t>content</a:t>
            </a:r>
            <a:endParaRPr lang="pt-BR" dirty="0"/>
          </a:p>
          <a:p>
            <a:pPr lvl="1"/>
            <a:r>
              <a:rPr lang="pt-BR" dirty="0" smtClean="0"/>
              <a:t>Desta categoria faz parte a grande maioria dos elementos inseridos no corpo do documento e em suas aplicações</a:t>
            </a:r>
          </a:p>
          <a:p>
            <a:pPr lvl="1"/>
            <a:endParaRPr lang="pt-BR" dirty="0"/>
          </a:p>
          <a:p>
            <a:pPr lvl="1"/>
            <a:endParaRPr lang="pt-BR" dirty="0" smtClean="0"/>
          </a:p>
          <a:p>
            <a:pPr lvl="1"/>
            <a:endParaRPr lang="pt-BR" dirty="0"/>
          </a:p>
          <a:p>
            <a:pPr lvl="1"/>
            <a:endParaRPr lang="pt-BR" dirty="0" smtClean="0"/>
          </a:p>
          <a:p>
            <a:pPr lvl="1"/>
            <a:endParaRPr lang="pt-BR" dirty="0"/>
          </a:p>
          <a:p>
            <a:pPr lvl="1"/>
            <a:endParaRPr lang="pt-BR" dirty="0" smtClean="0"/>
          </a:p>
          <a:p>
            <a:pPr lvl="1"/>
            <a:endParaRPr lang="pt-BR" dirty="0" smtClean="0"/>
          </a:p>
          <a:p>
            <a:pPr lvl="1"/>
            <a:endParaRPr lang="pt-BR" dirty="0"/>
          </a:p>
          <a:p>
            <a:pPr marL="457200" lvl="1" indent="0">
              <a:buNone/>
            </a:pPr>
            <a:r>
              <a:rPr lang="pt-BR" dirty="0" smtClean="0"/>
              <a:t>.</a:t>
            </a:r>
            <a:endParaRPr lang="pt-BR" dirty="0"/>
          </a:p>
        </p:txBody>
      </p:sp>
      <p:graphicFrame>
        <p:nvGraphicFramePr>
          <p:cNvPr id="4" name="Tabela 3"/>
          <p:cNvGraphicFramePr>
            <a:graphicFrameLocks noGrp="1"/>
          </p:cNvGraphicFramePr>
          <p:nvPr>
            <p:extLst>
              <p:ext uri="{D42A27DB-BD31-4B8C-83A1-F6EECF244321}">
                <p14:modId xmlns:p14="http://schemas.microsoft.com/office/powerpoint/2010/main" val="647197114"/>
              </p:ext>
            </p:extLst>
          </p:nvPr>
        </p:nvGraphicFramePr>
        <p:xfrm>
          <a:off x="1619672" y="2828880"/>
          <a:ext cx="6096000" cy="3840480"/>
        </p:xfrm>
        <a:graphic>
          <a:graphicData uri="http://schemas.openxmlformats.org/drawingml/2006/table">
            <a:tbl>
              <a:tblPr firstRow="1" bandRow="1">
                <a:tableStyleId>{5940675A-B579-460E-94D1-54222C63F5DA}</a:tableStyleId>
              </a:tblPr>
              <a:tblGrid>
                <a:gridCol w="1016000"/>
                <a:gridCol w="1016000"/>
                <a:gridCol w="1016000"/>
                <a:gridCol w="1016000"/>
                <a:gridCol w="1016000"/>
                <a:gridCol w="1016000"/>
              </a:tblGrid>
              <a:tr h="189882">
                <a:tc>
                  <a:txBody>
                    <a:bodyPr/>
                    <a:lstStyle/>
                    <a:p>
                      <a:pPr algn="ctr"/>
                      <a:r>
                        <a:rPr lang="pt-BR" sz="1200" dirty="0" smtClean="0"/>
                        <a:t>a</a:t>
                      </a:r>
                      <a:endParaRPr lang="pt-BR" sz="1200" dirty="0"/>
                    </a:p>
                  </a:txBody>
                  <a:tcPr/>
                </a:tc>
                <a:tc>
                  <a:txBody>
                    <a:bodyPr/>
                    <a:lstStyle/>
                    <a:p>
                      <a:pPr algn="ctr"/>
                      <a:r>
                        <a:rPr lang="pt-BR" sz="1200" dirty="0" err="1" smtClean="0"/>
                        <a:t>abbr</a:t>
                      </a:r>
                      <a:endParaRPr lang="pt-BR" sz="1200" dirty="0"/>
                    </a:p>
                  </a:txBody>
                  <a:tcPr/>
                </a:tc>
                <a:tc>
                  <a:txBody>
                    <a:bodyPr/>
                    <a:lstStyle/>
                    <a:p>
                      <a:pPr algn="ctr"/>
                      <a:r>
                        <a:rPr lang="pt-BR" sz="1200" dirty="0" err="1" smtClean="0"/>
                        <a:t>address</a:t>
                      </a:r>
                      <a:endParaRPr lang="pt-BR" sz="1200" dirty="0"/>
                    </a:p>
                  </a:txBody>
                  <a:tcPr/>
                </a:tc>
                <a:tc>
                  <a:txBody>
                    <a:bodyPr/>
                    <a:lstStyle/>
                    <a:p>
                      <a:pPr algn="ctr"/>
                      <a:r>
                        <a:rPr lang="pt-BR" sz="1200" dirty="0" err="1" smtClean="0"/>
                        <a:t>area</a:t>
                      </a:r>
                      <a:endParaRPr lang="pt-BR" sz="1200" dirty="0"/>
                    </a:p>
                  </a:txBody>
                  <a:tcPr/>
                </a:tc>
                <a:tc>
                  <a:txBody>
                    <a:bodyPr/>
                    <a:lstStyle/>
                    <a:p>
                      <a:pPr algn="ctr"/>
                      <a:r>
                        <a:rPr lang="pt-BR" sz="1200" dirty="0" err="1" smtClean="0"/>
                        <a:t>article</a:t>
                      </a:r>
                      <a:endParaRPr lang="pt-BR" sz="1200" dirty="0"/>
                    </a:p>
                  </a:txBody>
                  <a:tcPr/>
                </a:tc>
                <a:tc>
                  <a:txBody>
                    <a:bodyPr/>
                    <a:lstStyle/>
                    <a:p>
                      <a:pPr algn="ctr"/>
                      <a:r>
                        <a:rPr lang="pt-BR" sz="1200" dirty="0" err="1" smtClean="0"/>
                        <a:t>aside</a:t>
                      </a:r>
                      <a:endParaRPr lang="pt-BR" sz="1200" dirty="0"/>
                    </a:p>
                  </a:txBody>
                  <a:tcPr/>
                </a:tc>
              </a:tr>
              <a:tr h="199256">
                <a:tc>
                  <a:txBody>
                    <a:bodyPr/>
                    <a:lstStyle/>
                    <a:p>
                      <a:pPr algn="ctr"/>
                      <a:r>
                        <a:rPr lang="pt-BR" sz="1200" dirty="0" err="1" smtClean="0"/>
                        <a:t>audio</a:t>
                      </a:r>
                      <a:endParaRPr lang="pt-BR" sz="1200" dirty="0"/>
                    </a:p>
                  </a:txBody>
                  <a:tcPr/>
                </a:tc>
                <a:tc>
                  <a:txBody>
                    <a:bodyPr/>
                    <a:lstStyle/>
                    <a:p>
                      <a:pPr algn="ctr"/>
                      <a:r>
                        <a:rPr lang="pt-BR" sz="1200" dirty="0" smtClean="0"/>
                        <a:t>b</a:t>
                      </a:r>
                      <a:endParaRPr lang="pt-BR" sz="1200" dirty="0"/>
                    </a:p>
                  </a:txBody>
                  <a:tcPr/>
                </a:tc>
                <a:tc>
                  <a:txBody>
                    <a:bodyPr/>
                    <a:lstStyle/>
                    <a:p>
                      <a:pPr algn="ctr"/>
                      <a:r>
                        <a:rPr lang="pt-BR" sz="1200" dirty="0" err="1" smtClean="0"/>
                        <a:t>bdo</a:t>
                      </a:r>
                      <a:endParaRPr lang="pt-BR" sz="1200" dirty="0"/>
                    </a:p>
                  </a:txBody>
                  <a:tcPr/>
                </a:tc>
                <a:tc>
                  <a:txBody>
                    <a:bodyPr/>
                    <a:lstStyle/>
                    <a:p>
                      <a:pPr algn="ctr"/>
                      <a:r>
                        <a:rPr lang="pt-BR" sz="1200" dirty="0" err="1" smtClean="0"/>
                        <a:t>blockoute</a:t>
                      </a:r>
                      <a:endParaRPr lang="pt-BR" sz="1200" dirty="0"/>
                    </a:p>
                  </a:txBody>
                  <a:tcPr/>
                </a:tc>
                <a:tc>
                  <a:txBody>
                    <a:bodyPr/>
                    <a:lstStyle/>
                    <a:p>
                      <a:pPr algn="ctr"/>
                      <a:r>
                        <a:rPr lang="pt-BR" sz="1200" dirty="0" err="1" smtClean="0"/>
                        <a:t>br</a:t>
                      </a:r>
                      <a:endParaRPr lang="pt-BR" sz="1200" dirty="0"/>
                    </a:p>
                  </a:txBody>
                  <a:tcPr/>
                </a:tc>
                <a:tc>
                  <a:txBody>
                    <a:bodyPr/>
                    <a:lstStyle/>
                    <a:p>
                      <a:pPr algn="ctr"/>
                      <a:r>
                        <a:rPr lang="pt-BR" sz="1200" dirty="0" err="1" smtClean="0"/>
                        <a:t>button</a:t>
                      </a:r>
                      <a:endParaRPr lang="pt-BR" sz="1200" dirty="0"/>
                    </a:p>
                  </a:txBody>
                  <a:tcPr/>
                </a:tc>
              </a:tr>
              <a:tr h="0">
                <a:tc>
                  <a:txBody>
                    <a:bodyPr/>
                    <a:lstStyle/>
                    <a:p>
                      <a:pPr algn="ctr"/>
                      <a:r>
                        <a:rPr lang="pt-BR" sz="1200" dirty="0" err="1" smtClean="0"/>
                        <a:t>canvas</a:t>
                      </a:r>
                      <a:endParaRPr lang="pt-BR" sz="1200" dirty="0"/>
                    </a:p>
                  </a:txBody>
                  <a:tcPr/>
                </a:tc>
                <a:tc>
                  <a:txBody>
                    <a:bodyPr/>
                    <a:lstStyle/>
                    <a:p>
                      <a:pPr algn="ctr"/>
                      <a:r>
                        <a:rPr lang="pt-BR" sz="1200" dirty="0" smtClean="0"/>
                        <a:t>cite</a:t>
                      </a:r>
                      <a:endParaRPr lang="pt-BR" sz="1200" dirty="0"/>
                    </a:p>
                  </a:txBody>
                  <a:tcPr/>
                </a:tc>
                <a:tc>
                  <a:txBody>
                    <a:bodyPr/>
                    <a:lstStyle/>
                    <a:p>
                      <a:pPr algn="ctr"/>
                      <a:r>
                        <a:rPr lang="pt-BR" sz="1200" dirty="0" err="1" smtClean="0"/>
                        <a:t>code</a:t>
                      </a:r>
                      <a:endParaRPr lang="pt-BR" sz="1200" dirty="0"/>
                    </a:p>
                  </a:txBody>
                  <a:tcPr/>
                </a:tc>
                <a:tc>
                  <a:txBody>
                    <a:bodyPr/>
                    <a:lstStyle/>
                    <a:p>
                      <a:pPr algn="ctr"/>
                      <a:r>
                        <a:rPr lang="pt-BR" sz="1200" dirty="0" err="1" smtClean="0"/>
                        <a:t>command</a:t>
                      </a:r>
                      <a:endParaRPr lang="pt-BR" sz="1200" dirty="0"/>
                    </a:p>
                  </a:txBody>
                  <a:tcPr/>
                </a:tc>
                <a:tc>
                  <a:txBody>
                    <a:bodyPr/>
                    <a:lstStyle/>
                    <a:p>
                      <a:pPr algn="ctr"/>
                      <a:r>
                        <a:rPr lang="pt-BR" sz="1200" dirty="0" err="1" smtClean="0"/>
                        <a:t>datalist</a:t>
                      </a:r>
                      <a:endParaRPr lang="pt-BR" sz="1200" dirty="0"/>
                    </a:p>
                  </a:txBody>
                  <a:tcPr/>
                </a:tc>
                <a:tc>
                  <a:txBody>
                    <a:bodyPr/>
                    <a:lstStyle/>
                    <a:p>
                      <a:pPr algn="ctr"/>
                      <a:r>
                        <a:rPr lang="pt-BR" sz="1200" dirty="0" err="1" smtClean="0"/>
                        <a:t>del</a:t>
                      </a:r>
                      <a:endParaRPr lang="pt-BR" sz="1200" dirty="0"/>
                    </a:p>
                  </a:txBody>
                  <a:tcPr/>
                </a:tc>
              </a:tr>
              <a:tr h="165720">
                <a:tc>
                  <a:txBody>
                    <a:bodyPr/>
                    <a:lstStyle/>
                    <a:p>
                      <a:pPr algn="ctr"/>
                      <a:r>
                        <a:rPr lang="pt-BR" sz="1200" dirty="0" err="1" smtClean="0"/>
                        <a:t>details</a:t>
                      </a:r>
                      <a:endParaRPr lang="pt-BR" sz="1200" dirty="0"/>
                    </a:p>
                  </a:txBody>
                  <a:tcPr/>
                </a:tc>
                <a:tc>
                  <a:txBody>
                    <a:bodyPr/>
                    <a:lstStyle/>
                    <a:p>
                      <a:pPr algn="ctr"/>
                      <a:r>
                        <a:rPr lang="pt-BR" sz="1200" dirty="0" err="1" smtClean="0"/>
                        <a:t>dfn</a:t>
                      </a:r>
                      <a:endParaRPr lang="pt-BR" sz="1200" dirty="0"/>
                    </a:p>
                  </a:txBody>
                  <a:tcPr/>
                </a:tc>
                <a:tc>
                  <a:txBody>
                    <a:bodyPr/>
                    <a:lstStyle/>
                    <a:p>
                      <a:pPr algn="ctr"/>
                      <a:r>
                        <a:rPr lang="pt-BR" sz="1200" dirty="0" err="1" smtClean="0"/>
                        <a:t>div</a:t>
                      </a:r>
                      <a:endParaRPr lang="pt-BR" sz="1200" dirty="0"/>
                    </a:p>
                  </a:txBody>
                  <a:tcPr/>
                </a:tc>
                <a:tc>
                  <a:txBody>
                    <a:bodyPr/>
                    <a:lstStyle/>
                    <a:p>
                      <a:pPr algn="ctr"/>
                      <a:r>
                        <a:rPr lang="pt-BR" sz="1200" dirty="0" smtClean="0"/>
                        <a:t>dl</a:t>
                      </a:r>
                      <a:endParaRPr lang="pt-BR" sz="1200" dirty="0"/>
                    </a:p>
                  </a:txBody>
                  <a:tcPr/>
                </a:tc>
                <a:tc>
                  <a:txBody>
                    <a:bodyPr/>
                    <a:lstStyle/>
                    <a:p>
                      <a:pPr algn="ctr"/>
                      <a:r>
                        <a:rPr lang="pt-BR" sz="1200" dirty="0" smtClean="0"/>
                        <a:t>em</a:t>
                      </a:r>
                      <a:endParaRPr lang="pt-BR" sz="1200" dirty="0"/>
                    </a:p>
                  </a:txBody>
                  <a:tcPr/>
                </a:tc>
                <a:tc>
                  <a:txBody>
                    <a:bodyPr/>
                    <a:lstStyle/>
                    <a:p>
                      <a:pPr algn="ctr"/>
                      <a:r>
                        <a:rPr lang="pt-BR" sz="1200" dirty="0" err="1" smtClean="0"/>
                        <a:t>embed</a:t>
                      </a:r>
                      <a:endParaRPr lang="pt-BR" sz="1200" dirty="0"/>
                    </a:p>
                  </a:txBody>
                  <a:tcPr/>
                </a:tc>
              </a:tr>
              <a:tr h="148952">
                <a:tc>
                  <a:txBody>
                    <a:bodyPr/>
                    <a:lstStyle/>
                    <a:p>
                      <a:pPr algn="ctr"/>
                      <a:r>
                        <a:rPr lang="pt-BR" sz="1200" dirty="0" err="1" smtClean="0"/>
                        <a:t>fieldset</a:t>
                      </a:r>
                      <a:endParaRPr lang="pt-BR" sz="1200" dirty="0"/>
                    </a:p>
                  </a:txBody>
                  <a:tcPr/>
                </a:tc>
                <a:tc>
                  <a:txBody>
                    <a:bodyPr/>
                    <a:lstStyle/>
                    <a:p>
                      <a:pPr algn="ctr"/>
                      <a:r>
                        <a:rPr lang="pt-BR" sz="1200" dirty="0" smtClean="0"/>
                        <a:t>figure</a:t>
                      </a:r>
                      <a:endParaRPr lang="pt-BR" sz="1200" dirty="0"/>
                    </a:p>
                  </a:txBody>
                  <a:tcPr/>
                </a:tc>
                <a:tc>
                  <a:txBody>
                    <a:bodyPr/>
                    <a:lstStyle/>
                    <a:p>
                      <a:pPr algn="ctr"/>
                      <a:r>
                        <a:rPr lang="pt-BR" sz="1200" dirty="0" err="1" smtClean="0"/>
                        <a:t>footer</a:t>
                      </a:r>
                      <a:endParaRPr lang="pt-BR" sz="1200" dirty="0"/>
                    </a:p>
                  </a:txBody>
                  <a:tcPr/>
                </a:tc>
                <a:tc>
                  <a:txBody>
                    <a:bodyPr/>
                    <a:lstStyle/>
                    <a:p>
                      <a:pPr algn="ctr"/>
                      <a:r>
                        <a:rPr lang="pt-BR" sz="1200" dirty="0" err="1" smtClean="0"/>
                        <a:t>form</a:t>
                      </a:r>
                      <a:endParaRPr lang="pt-BR" sz="1200" dirty="0"/>
                    </a:p>
                  </a:txBody>
                  <a:tcPr/>
                </a:tc>
                <a:tc>
                  <a:txBody>
                    <a:bodyPr/>
                    <a:lstStyle/>
                    <a:p>
                      <a:pPr algn="ctr"/>
                      <a:r>
                        <a:rPr lang="pt-BR" sz="1200" dirty="0" smtClean="0"/>
                        <a:t>h1</a:t>
                      </a:r>
                      <a:endParaRPr lang="pt-BR" sz="1200" dirty="0"/>
                    </a:p>
                  </a:txBody>
                  <a:tcPr/>
                </a:tc>
                <a:tc>
                  <a:txBody>
                    <a:bodyPr/>
                    <a:lstStyle/>
                    <a:p>
                      <a:pPr algn="ctr"/>
                      <a:r>
                        <a:rPr lang="pt-BR" sz="1200" dirty="0" smtClean="0"/>
                        <a:t>h2</a:t>
                      </a:r>
                      <a:endParaRPr lang="pt-BR" sz="1200" dirty="0"/>
                    </a:p>
                  </a:txBody>
                  <a:tcPr/>
                </a:tc>
              </a:tr>
              <a:tr h="204192">
                <a:tc>
                  <a:txBody>
                    <a:bodyPr/>
                    <a:lstStyle/>
                    <a:p>
                      <a:pPr algn="ctr"/>
                      <a:r>
                        <a:rPr lang="pt-BR" sz="1200" dirty="0" smtClean="0"/>
                        <a:t>h3</a:t>
                      </a:r>
                      <a:endParaRPr lang="pt-BR" sz="1200" dirty="0"/>
                    </a:p>
                  </a:txBody>
                  <a:tcPr/>
                </a:tc>
                <a:tc>
                  <a:txBody>
                    <a:bodyPr/>
                    <a:lstStyle/>
                    <a:p>
                      <a:pPr algn="ctr"/>
                      <a:r>
                        <a:rPr lang="pt-BR" sz="1200" dirty="0" smtClean="0"/>
                        <a:t>h4</a:t>
                      </a:r>
                      <a:endParaRPr lang="pt-BR" sz="1200" dirty="0"/>
                    </a:p>
                  </a:txBody>
                  <a:tcPr/>
                </a:tc>
                <a:tc>
                  <a:txBody>
                    <a:bodyPr/>
                    <a:lstStyle/>
                    <a:p>
                      <a:pPr algn="ctr"/>
                      <a:r>
                        <a:rPr lang="pt-BR" sz="1200" dirty="0" smtClean="0"/>
                        <a:t>h5</a:t>
                      </a:r>
                      <a:endParaRPr lang="pt-BR" sz="1200" dirty="0"/>
                    </a:p>
                  </a:txBody>
                  <a:tcPr/>
                </a:tc>
                <a:tc>
                  <a:txBody>
                    <a:bodyPr/>
                    <a:lstStyle/>
                    <a:p>
                      <a:pPr algn="ctr"/>
                      <a:r>
                        <a:rPr lang="pt-BR" sz="1200" dirty="0" smtClean="0"/>
                        <a:t>h6</a:t>
                      </a:r>
                      <a:endParaRPr lang="pt-BR" sz="1200" dirty="0"/>
                    </a:p>
                  </a:txBody>
                  <a:tcPr/>
                </a:tc>
                <a:tc>
                  <a:txBody>
                    <a:bodyPr/>
                    <a:lstStyle/>
                    <a:p>
                      <a:pPr algn="ctr"/>
                      <a:r>
                        <a:rPr lang="pt-BR" sz="1200" dirty="0" smtClean="0"/>
                        <a:t>header</a:t>
                      </a:r>
                      <a:endParaRPr lang="pt-BR" sz="1200" dirty="0"/>
                    </a:p>
                  </a:txBody>
                  <a:tcPr/>
                </a:tc>
                <a:tc>
                  <a:txBody>
                    <a:bodyPr/>
                    <a:lstStyle/>
                    <a:p>
                      <a:pPr algn="ctr"/>
                      <a:r>
                        <a:rPr lang="pt-BR" sz="1200" dirty="0" err="1" smtClean="0"/>
                        <a:t>hgroup</a:t>
                      </a:r>
                      <a:endParaRPr lang="pt-BR" sz="1200" dirty="0"/>
                    </a:p>
                  </a:txBody>
                  <a:tcPr/>
                </a:tc>
              </a:tr>
              <a:tr h="0">
                <a:tc>
                  <a:txBody>
                    <a:bodyPr/>
                    <a:lstStyle/>
                    <a:p>
                      <a:pPr algn="ctr"/>
                      <a:r>
                        <a:rPr lang="pt-BR" sz="1200" dirty="0" err="1" smtClean="0"/>
                        <a:t>hr</a:t>
                      </a:r>
                      <a:endParaRPr lang="pt-BR" sz="1200" dirty="0"/>
                    </a:p>
                  </a:txBody>
                  <a:tcPr/>
                </a:tc>
                <a:tc>
                  <a:txBody>
                    <a:bodyPr/>
                    <a:lstStyle/>
                    <a:p>
                      <a:pPr algn="ctr"/>
                      <a:r>
                        <a:rPr lang="pt-BR" sz="1200" dirty="0" smtClean="0"/>
                        <a:t>i</a:t>
                      </a:r>
                      <a:endParaRPr lang="pt-BR" sz="1200" dirty="0"/>
                    </a:p>
                  </a:txBody>
                  <a:tcPr/>
                </a:tc>
                <a:tc>
                  <a:txBody>
                    <a:bodyPr/>
                    <a:lstStyle/>
                    <a:p>
                      <a:pPr algn="ctr"/>
                      <a:r>
                        <a:rPr lang="pt-BR" sz="1200" dirty="0" err="1" smtClean="0"/>
                        <a:t>iframe</a:t>
                      </a:r>
                      <a:endParaRPr lang="pt-BR" sz="1200" dirty="0"/>
                    </a:p>
                  </a:txBody>
                  <a:tcPr/>
                </a:tc>
                <a:tc>
                  <a:txBody>
                    <a:bodyPr/>
                    <a:lstStyle/>
                    <a:p>
                      <a:pPr algn="ctr"/>
                      <a:r>
                        <a:rPr lang="pt-BR" sz="1200" dirty="0" err="1" smtClean="0"/>
                        <a:t>Img</a:t>
                      </a:r>
                      <a:endParaRPr lang="pt-BR" sz="1200" dirty="0"/>
                    </a:p>
                  </a:txBody>
                  <a:tcPr/>
                </a:tc>
                <a:tc>
                  <a:txBody>
                    <a:bodyPr/>
                    <a:lstStyle/>
                    <a:p>
                      <a:pPr algn="ctr"/>
                      <a:r>
                        <a:rPr lang="pt-BR" sz="1200" dirty="0" smtClean="0"/>
                        <a:t>input</a:t>
                      </a:r>
                      <a:endParaRPr lang="pt-BR" sz="1200" dirty="0"/>
                    </a:p>
                  </a:txBody>
                  <a:tcPr/>
                </a:tc>
                <a:tc>
                  <a:txBody>
                    <a:bodyPr/>
                    <a:lstStyle/>
                    <a:p>
                      <a:pPr algn="ctr"/>
                      <a:r>
                        <a:rPr lang="pt-BR" sz="1200" dirty="0" err="1" smtClean="0"/>
                        <a:t>ins</a:t>
                      </a:r>
                      <a:endParaRPr lang="pt-BR" sz="1200" dirty="0"/>
                    </a:p>
                  </a:txBody>
                  <a:tcPr/>
                </a:tc>
              </a:tr>
              <a:tr h="170656">
                <a:tc>
                  <a:txBody>
                    <a:bodyPr/>
                    <a:lstStyle/>
                    <a:p>
                      <a:pPr algn="ctr"/>
                      <a:r>
                        <a:rPr lang="pt-BR" sz="1200" dirty="0" err="1" smtClean="0"/>
                        <a:t>kbd</a:t>
                      </a:r>
                      <a:endParaRPr lang="pt-BR" sz="1200" dirty="0"/>
                    </a:p>
                  </a:txBody>
                  <a:tcPr/>
                </a:tc>
                <a:tc>
                  <a:txBody>
                    <a:bodyPr/>
                    <a:lstStyle/>
                    <a:p>
                      <a:pPr algn="ctr"/>
                      <a:r>
                        <a:rPr lang="pt-BR" sz="1200" dirty="0" err="1" smtClean="0"/>
                        <a:t>keygen</a:t>
                      </a:r>
                      <a:endParaRPr lang="pt-BR" sz="1200" dirty="0"/>
                    </a:p>
                  </a:txBody>
                  <a:tcPr/>
                </a:tc>
                <a:tc>
                  <a:txBody>
                    <a:bodyPr/>
                    <a:lstStyle/>
                    <a:p>
                      <a:pPr algn="ctr"/>
                      <a:r>
                        <a:rPr lang="pt-BR" sz="1200" dirty="0" err="1" smtClean="0"/>
                        <a:t>label</a:t>
                      </a:r>
                      <a:endParaRPr lang="pt-BR" sz="1200" dirty="0"/>
                    </a:p>
                  </a:txBody>
                  <a:tcPr/>
                </a:tc>
                <a:tc>
                  <a:txBody>
                    <a:bodyPr/>
                    <a:lstStyle/>
                    <a:p>
                      <a:pPr algn="ctr"/>
                      <a:r>
                        <a:rPr lang="pt-BR" sz="1200" dirty="0" smtClean="0"/>
                        <a:t>link</a:t>
                      </a:r>
                      <a:endParaRPr lang="pt-BR" sz="1200" dirty="0"/>
                    </a:p>
                  </a:txBody>
                  <a:tcPr/>
                </a:tc>
                <a:tc>
                  <a:txBody>
                    <a:bodyPr/>
                    <a:lstStyle/>
                    <a:p>
                      <a:pPr algn="ctr"/>
                      <a:r>
                        <a:rPr lang="pt-BR" sz="1200" dirty="0" err="1" smtClean="0"/>
                        <a:t>map</a:t>
                      </a:r>
                      <a:endParaRPr lang="pt-BR" sz="1200" dirty="0"/>
                    </a:p>
                  </a:txBody>
                  <a:tcPr/>
                </a:tc>
                <a:tc>
                  <a:txBody>
                    <a:bodyPr/>
                    <a:lstStyle/>
                    <a:p>
                      <a:pPr algn="ctr"/>
                      <a:r>
                        <a:rPr lang="pt-BR" sz="1200" dirty="0" err="1" smtClean="0"/>
                        <a:t>mark</a:t>
                      </a:r>
                      <a:endParaRPr lang="pt-BR" sz="1200" dirty="0"/>
                    </a:p>
                  </a:txBody>
                  <a:tcPr/>
                </a:tc>
              </a:tr>
              <a:tr h="0">
                <a:tc>
                  <a:txBody>
                    <a:bodyPr/>
                    <a:lstStyle/>
                    <a:p>
                      <a:pPr algn="ctr"/>
                      <a:r>
                        <a:rPr lang="pt-BR" sz="1200" dirty="0" err="1" smtClean="0"/>
                        <a:t>math</a:t>
                      </a:r>
                      <a:endParaRPr lang="pt-BR" sz="1200" dirty="0"/>
                    </a:p>
                  </a:txBody>
                  <a:tcPr/>
                </a:tc>
                <a:tc>
                  <a:txBody>
                    <a:bodyPr/>
                    <a:lstStyle/>
                    <a:p>
                      <a:pPr algn="ctr"/>
                      <a:r>
                        <a:rPr lang="pt-BR" sz="1200" dirty="0" smtClean="0"/>
                        <a:t>menu</a:t>
                      </a:r>
                      <a:endParaRPr lang="pt-BR" sz="1200" dirty="0"/>
                    </a:p>
                  </a:txBody>
                  <a:tcPr/>
                </a:tc>
                <a:tc>
                  <a:txBody>
                    <a:bodyPr/>
                    <a:lstStyle/>
                    <a:p>
                      <a:pPr algn="ctr"/>
                      <a:r>
                        <a:rPr lang="pt-BR" sz="1200" dirty="0" smtClean="0"/>
                        <a:t>meta</a:t>
                      </a:r>
                      <a:endParaRPr lang="pt-BR" sz="1200" dirty="0"/>
                    </a:p>
                  </a:txBody>
                  <a:tcPr/>
                </a:tc>
                <a:tc>
                  <a:txBody>
                    <a:bodyPr/>
                    <a:lstStyle/>
                    <a:p>
                      <a:pPr algn="ctr"/>
                      <a:r>
                        <a:rPr lang="pt-BR" sz="1200" dirty="0" smtClean="0"/>
                        <a:t>meter</a:t>
                      </a:r>
                      <a:endParaRPr lang="pt-BR" sz="1200" dirty="0"/>
                    </a:p>
                  </a:txBody>
                  <a:tcPr/>
                </a:tc>
                <a:tc>
                  <a:txBody>
                    <a:bodyPr/>
                    <a:lstStyle/>
                    <a:p>
                      <a:pPr algn="ctr"/>
                      <a:r>
                        <a:rPr lang="pt-BR" sz="1200" dirty="0" err="1" smtClean="0"/>
                        <a:t>nav</a:t>
                      </a:r>
                      <a:endParaRPr lang="pt-BR" sz="1200" dirty="0"/>
                    </a:p>
                  </a:txBody>
                  <a:tcPr/>
                </a:tc>
                <a:tc>
                  <a:txBody>
                    <a:bodyPr/>
                    <a:lstStyle/>
                    <a:p>
                      <a:pPr algn="ctr"/>
                      <a:r>
                        <a:rPr lang="pt-BR" sz="1200" dirty="0" err="1" smtClean="0"/>
                        <a:t>noscript</a:t>
                      </a:r>
                      <a:endParaRPr lang="pt-BR" sz="1200" dirty="0"/>
                    </a:p>
                  </a:txBody>
                  <a:tcPr/>
                </a:tc>
              </a:tr>
              <a:tr h="137120">
                <a:tc>
                  <a:txBody>
                    <a:bodyPr/>
                    <a:lstStyle/>
                    <a:p>
                      <a:pPr algn="ctr"/>
                      <a:r>
                        <a:rPr lang="pt-BR" sz="1200" dirty="0" err="1" smtClean="0"/>
                        <a:t>object</a:t>
                      </a:r>
                      <a:endParaRPr lang="pt-BR" sz="1200" dirty="0"/>
                    </a:p>
                  </a:txBody>
                  <a:tcPr/>
                </a:tc>
                <a:tc>
                  <a:txBody>
                    <a:bodyPr/>
                    <a:lstStyle/>
                    <a:p>
                      <a:pPr algn="ctr"/>
                      <a:r>
                        <a:rPr lang="pt-BR" sz="1200" dirty="0" err="1" smtClean="0"/>
                        <a:t>ol</a:t>
                      </a:r>
                      <a:endParaRPr lang="pt-BR" sz="1200" dirty="0"/>
                    </a:p>
                  </a:txBody>
                  <a:tcPr/>
                </a:tc>
                <a:tc>
                  <a:txBody>
                    <a:bodyPr/>
                    <a:lstStyle/>
                    <a:p>
                      <a:pPr algn="ctr"/>
                      <a:r>
                        <a:rPr lang="pt-BR" sz="1200" dirty="0" smtClean="0"/>
                        <a:t>output</a:t>
                      </a:r>
                      <a:endParaRPr lang="pt-BR" sz="1200" dirty="0"/>
                    </a:p>
                  </a:txBody>
                  <a:tcPr/>
                </a:tc>
                <a:tc>
                  <a:txBody>
                    <a:bodyPr/>
                    <a:lstStyle/>
                    <a:p>
                      <a:pPr algn="ctr"/>
                      <a:r>
                        <a:rPr lang="pt-BR" sz="1200" dirty="0" smtClean="0"/>
                        <a:t>p</a:t>
                      </a:r>
                      <a:endParaRPr lang="pt-BR" sz="1200" dirty="0"/>
                    </a:p>
                  </a:txBody>
                  <a:tcPr/>
                </a:tc>
                <a:tc>
                  <a:txBody>
                    <a:bodyPr/>
                    <a:lstStyle/>
                    <a:p>
                      <a:pPr algn="ctr"/>
                      <a:r>
                        <a:rPr lang="pt-BR" sz="1200" dirty="0" err="1" smtClean="0"/>
                        <a:t>pre</a:t>
                      </a:r>
                      <a:endParaRPr lang="pt-BR" sz="1200" dirty="0"/>
                    </a:p>
                  </a:txBody>
                  <a:tcPr/>
                </a:tc>
                <a:tc>
                  <a:txBody>
                    <a:bodyPr/>
                    <a:lstStyle/>
                    <a:p>
                      <a:pPr algn="ctr"/>
                      <a:r>
                        <a:rPr lang="pt-BR" sz="1200" dirty="0" err="1" smtClean="0"/>
                        <a:t>progress</a:t>
                      </a:r>
                      <a:endParaRPr lang="pt-BR" sz="1200" dirty="0"/>
                    </a:p>
                  </a:txBody>
                  <a:tcPr/>
                </a:tc>
              </a:tr>
              <a:tr h="120352">
                <a:tc>
                  <a:txBody>
                    <a:bodyPr/>
                    <a:lstStyle/>
                    <a:p>
                      <a:pPr algn="ctr"/>
                      <a:r>
                        <a:rPr lang="pt-BR" sz="1200" dirty="0" smtClean="0"/>
                        <a:t>q</a:t>
                      </a:r>
                      <a:endParaRPr lang="pt-BR" sz="1200" dirty="0"/>
                    </a:p>
                  </a:txBody>
                  <a:tcPr/>
                </a:tc>
                <a:tc>
                  <a:txBody>
                    <a:bodyPr/>
                    <a:lstStyle/>
                    <a:p>
                      <a:pPr algn="ctr"/>
                      <a:r>
                        <a:rPr lang="pt-BR" sz="1200" dirty="0" err="1" smtClean="0"/>
                        <a:t>ruby</a:t>
                      </a:r>
                      <a:endParaRPr lang="pt-BR" sz="1200" dirty="0"/>
                    </a:p>
                  </a:txBody>
                  <a:tcPr/>
                </a:tc>
                <a:tc>
                  <a:txBody>
                    <a:bodyPr/>
                    <a:lstStyle/>
                    <a:p>
                      <a:pPr algn="ctr"/>
                      <a:r>
                        <a:rPr lang="pt-BR" sz="1200" dirty="0" err="1" smtClean="0"/>
                        <a:t>samp</a:t>
                      </a:r>
                      <a:endParaRPr lang="pt-BR" sz="1200" dirty="0"/>
                    </a:p>
                  </a:txBody>
                  <a:tcPr/>
                </a:tc>
                <a:tc>
                  <a:txBody>
                    <a:bodyPr/>
                    <a:lstStyle/>
                    <a:p>
                      <a:pPr algn="ctr"/>
                      <a:r>
                        <a:rPr lang="pt-BR" sz="1200" dirty="0" smtClean="0"/>
                        <a:t>script</a:t>
                      </a:r>
                      <a:endParaRPr lang="pt-BR" sz="1200" dirty="0"/>
                    </a:p>
                  </a:txBody>
                  <a:tcPr/>
                </a:tc>
                <a:tc>
                  <a:txBody>
                    <a:bodyPr/>
                    <a:lstStyle/>
                    <a:p>
                      <a:pPr algn="ctr"/>
                      <a:r>
                        <a:rPr lang="pt-BR" sz="1200" dirty="0" err="1" smtClean="0"/>
                        <a:t>section</a:t>
                      </a:r>
                      <a:endParaRPr lang="pt-BR" sz="1200" dirty="0"/>
                    </a:p>
                  </a:txBody>
                  <a:tcPr/>
                </a:tc>
                <a:tc>
                  <a:txBody>
                    <a:bodyPr/>
                    <a:lstStyle/>
                    <a:p>
                      <a:pPr algn="ctr"/>
                      <a:r>
                        <a:rPr lang="pt-BR" sz="1200" dirty="0" err="1" smtClean="0"/>
                        <a:t>select</a:t>
                      </a:r>
                      <a:endParaRPr lang="pt-BR" sz="1200" dirty="0"/>
                    </a:p>
                  </a:txBody>
                  <a:tcPr/>
                </a:tc>
              </a:tr>
              <a:tr h="120352">
                <a:tc>
                  <a:txBody>
                    <a:bodyPr/>
                    <a:lstStyle/>
                    <a:p>
                      <a:pPr algn="ctr"/>
                      <a:r>
                        <a:rPr lang="pt-BR" sz="1200" dirty="0" err="1" smtClean="0"/>
                        <a:t>small</a:t>
                      </a:r>
                      <a:endParaRPr lang="pt-BR" sz="1200" dirty="0"/>
                    </a:p>
                  </a:txBody>
                  <a:tcPr/>
                </a:tc>
                <a:tc>
                  <a:txBody>
                    <a:bodyPr/>
                    <a:lstStyle/>
                    <a:p>
                      <a:pPr algn="ctr"/>
                      <a:r>
                        <a:rPr lang="pt-BR" sz="1200" dirty="0" err="1" smtClean="0"/>
                        <a:t>span</a:t>
                      </a:r>
                      <a:endParaRPr lang="pt-BR" sz="1200" dirty="0"/>
                    </a:p>
                  </a:txBody>
                  <a:tcPr/>
                </a:tc>
                <a:tc>
                  <a:txBody>
                    <a:bodyPr/>
                    <a:lstStyle/>
                    <a:p>
                      <a:pPr algn="ctr"/>
                      <a:r>
                        <a:rPr lang="pt-BR" sz="1200" dirty="0" err="1" smtClean="0"/>
                        <a:t>strong</a:t>
                      </a:r>
                      <a:endParaRPr lang="pt-BR" sz="1200" dirty="0"/>
                    </a:p>
                  </a:txBody>
                  <a:tcPr/>
                </a:tc>
                <a:tc>
                  <a:txBody>
                    <a:bodyPr/>
                    <a:lstStyle/>
                    <a:p>
                      <a:pPr algn="ctr"/>
                      <a:r>
                        <a:rPr lang="pt-BR" sz="1200" dirty="0" err="1" smtClean="0"/>
                        <a:t>style</a:t>
                      </a:r>
                      <a:endParaRPr lang="pt-BR" sz="1200" dirty="0"/>
                    </a:p>
                  </a:txBody>
                  <a:tcPr/>
                </a:tc>
                <a:tc>
                  <a:txBody>
                    <a:bodyPr/>
                    <a:lstStyle/>
                    <a:p>
                      <a:pPr algn="ctr"/>
                      <a:r>
                        <a:rPr lang="pt-BR" sz="1200" dirty="0" smtClean="0"/>
                        <a:t>sub</a:t>
                      </a:r>
                      <a:endParaRPr lang="pt-BR" sz="1200" dirty="0"/>
                    </a:p>
                  </a:txBody>
                  <a:tcPr/>
                </a:tc>
                <a:tc>
                  <a:txBody>
                    <a:bodyPr/>
                    <a:lstStyle/>
                    <a:p>
                      <a:pPr algn="ctr"/>
                      <a:r>
                        <a:rPr lang="pt-BR" sz="1200" dirty="0" err="1" smtClean="0"/>
                        <a:t>sup</a:t>
                      </a:r>
                      <a:endParaRPr lang="pt-BR" sz="1200" dirty="0"/>
                    </a:p>
                  </a:txBody>
                  <a:tcPr/>
                </a:tc>
              </a:tr>
              <a:tr h="120352">
                <a:tc>
                  <a:txBody>
                    <a:bodyPr/>
                    <a:lstStyle/>
                    <a:p>
                      <a:pPr algn="ctr"/>
                      <a:r>
                        <a:rPr lang="pt-BR" sz="1200" dirty="0" err="1" smtClean="0"/>
                        <a:t>svg</a:t>
                      </a:r>
                      <a:endParaRPr lang="pt-BR" sz="1200" dirty="0"/>
                    </a:p>
                  </a:txBody>
                  <a:tcPr/>
                </a:tc>
                <a:tc>
                  <a:txBody>
                    <a:bodyPr/>
                    <a:lstStyle/>
                    <a:p>
                      <a:pPr algn="ctr"/>
                      <a:r>
                        <a:rPr lang="pt-BR" sz="1200" dirty="0" err="1" smtClean="0"/>
                        <a:t>table</a:t>
                      </a:r>
                      <a:endParaRPr lang="pt-BR" sz="1200" dirty="0"/>
                    </a:p>
                  </a:txBody>
                  <a:tcPr/>
                </a:tc>
                <a:tc>
                  <a:txBody>
                    <a:bodyPr/>
                    <a:lstStyle/>
                    <a:p>
                      <a:pPr algn="ctr"/>
                      <a:r>
                        <a:rPr lang="pt-BR" sz="1200" dirty="0" err="1" smtClean="0"/>
                        <a:t>textarea</a:t>
                      </a:r>
                      <a:endParaRPr lang="pt-BR" sz="1200" dirty="0"/>
                    </a:p>
                  </a:txBody>
                  <a:tcPr/>
                </a:tc>
                <a:tc>
                  <a:txBody>
                    <a:bodyPr/>
                    <a:lstStyle/>
                    <a:p>
                      <a:pPr algn="ctr"/>
                      <a:r>
                        <a:rPr lang="pt-BR" sz="1200" dirty="0" smtClean="0"/>
                        <a:t>time</a:t>
                      </a:r>
                      <a:endParaRPr lang="pt-BR" sz="1200" dirty="0"/>
                    </a:p>
                  </a:txBody>
                  <a:tcPr/>
                </a:tc>
                <a:tc>
                  <a:txBody>
                    <a:bodyPr/>
                    <a:lstStyle/>
                    <a:p>
                      <a:pPr algn="ctr"/>
                      <a:r>
                        <a:rPr lang="pt-BR" sz="1200" dirty="0" err="1" smtClean="0"/>
                        <a:t>ul</a:t>
                      </a:r>
                      <a:endParaRPr lang="pt-BR" sz="1200" dirty="0"/>
                    </a:p>
                  </a:txBody>
                  <a:tcPr/>
                </a:tc>
                <a:tc>
                  <a:txBody>
                    <a:bodyPr/>
                    <a:lstStyle/>
                    <a:p>
                      <a:pPr algn="ctr"/>
                      <a:r>
                        <a:rPr lang="pt-BR" sz="1200" dirty="0" smtClean="0"/>
                        <a:t>var</a:t>
                      </a:r>
                      <a:endParaRPr lang="pt-BR" sz="1200" dirty="0"/>
                    </a:p>
                  </a:txBody>
                  <a:tcPr/>
                </a:tc>
              </a:tr>
              <a:tr h="120352">
                <a:tc>
                  <a:txBody>
                    <a:bodyPr/>
                    <a:lstStyle/>
                    <a:p>
                      <a:pPr algn="ctr"/>
                      <a:r>
                        <a:rPr lang="pt-BR" sz="1200" dirty="0" err="1" smtClean="0"/>
                        <a:t>video</a:t>
                      </a:r>
                      <a:endParaRPr lang="pt-BR" sz="1200" dirty="0"/>
                    </a:p>
                  </a:txBody>
                  <a:tcPr/>
                </a:tc>
                <a:tc>
                  <a:txBody>
                    <a:bodyPr/>
                    <a:lstStyle/>
                    <a:p>
                      <a:pPr algn="ctr"/>
                      <a:r>
                        <a:rPr lang="pt-BR" sz="1200" dirty="0" err="1" smtClean="0"/>
                        <a:t>wbr</a:t>
                      </a:r>
                      <a:endParaRPr lang="pt-BR" sz="1200" dirty="0"/>
                    </a:p>
                  </a:txBody>
                  <a:tcPr/>
                </a:tc>
                <a:tc>
                  <a:txBody>
                    <a:bodyPr/>
                    <a:lstStyle/>
                    <a:p>
                      <a:pPr algn="ctr"/>
                      <a:r>
                        <a:rPr lang="pt-BR" sz="1200" dirty="0" err="1" smtClean="0"/>
                        <a:t>text</a:t>
                      </a:r>
                      <a:endParaRPr lang="pt-BR" sz="1200" dirty="0"/>
                    </a:p>
                  </a:txBody>
                  <a:tcPr/>
                </a:tc>
                <a:tc>
                  <a:txBody>
                    <a:bodyPr/>
                    <a:lstStyle/>
                    <a:p>
                      <a:pPr algn="ctr"/>
                      <a:endParaRPr lang="pt-BR" sz="1200" dirty="0"/>
                    </a:p>
                  </a:txBody>
                  <a:tcPr/>
                </a:tc>
                <a:tc>
                  <a:txBody>
                    <a:bodyPr/>
                    <a:lstStyle/>
                    <a:p>
                      <a:pPr algn="ctr"/>
                      <a:endParaRPr lang="pt-BR" sz="1200" dirty="0"/>
                    </a:p>
                  </a:txBody>
                  <a:tcPr/>
                </a:tc>
                <a:tc>
                  <a:txBody>
                    <a:bodyPr/>
                    <a:lstStyle/>
                    <a:p>
                      <a:pPr algn="ctr"/>
                      <a:endParaRPr lang="pt-BR" sz="1200" dirty="0"/>
                    </a:p>
                  </a:txBody>
                  <a:tcPr/>
                </a:tc>
              </a:tr>
            </a:tbl>
          </a:graphicData>
        </a:graphic>
      </p:graphicFrame>
    </p:spTree>
    <p:extLst>
      <p:ext uri="{BB962C8B-B14F-4D97-AF65-F5344CB8AC3E}">
        <p14:creationId xmlns:p14="http://schemas.microsoft.com/office/powerpoint/2010/main" val="40944866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Modelos de Conteúdo</a:t>
            </a:r>
            <a:endParaRPr lang="pt-BR" dirty="0"/>
          </a:p>
        </p:txBody>
      </p:sp>
      <p:sp>
        <p:nvSpPr>
          <p:cNvPr id="3" name="Espaço Reservado para Conteúdo 2"/>
          <p:cNvSpPr>
            <a:spLocks noGrp="1"/>
          </p:cNvSpPr>
          <p:nvPr>
            <p:ph idx="1"/>
          </p:nvPr>
        </p:nvSpPr>
        <p:spPr/>
        <p:txBody>
          <a:bodyPr>
            <a:normAutofit fontScale="77500" lnSpcReduction="20000"/>
          </a:bodyPr>
          <a:lstStyle/>
          <a:p>
            <a:r>
              <a:rPr lang="pt-BR" dirty="0" err="1" smtClean="0"/>
              <a:t>Flow</a:t>
            </a:r>
            <a:r>
              <a:rPr lang="pt-BR" dirty="0" smtClean="0"/>
              <a:t> </a:t>
            </a:r>
            <a:r>
              <a:rPr lang="pt-BR" dirty="0" err="1"/>
              <a:t>content</a:t>
            </a:r>
            <a:endParaRPr lang="pt-BR" dirty="0"/>
          </a:p>
          <a:p>
            <a:endParaRPr lang="pt-BR" dirty="0"/>
          </a:p>
          <a:p>
            <a:endParaRPr lang="pt-BR" dirty="0"/>
          </a:p>
          <a:p>
            <a:endParaRPr lang="pt-BR" dirty="0"/>
          </a:p>
          <a:p>
            <a:endParaRPr lang="pt-BR" dirty="0"/>
          </a:p>
          <a:p>
            <a:endParaRPr lang="pt-BR" dirty="0"/>
          </a:p>
          <a:p>
            <a:endParaRPr lang="pt-BR" dirty="0"/>
          </a:p>
          <a:p>
            <a:pPr lvl="1"/>
            <a:endParaRPr lang="pt-BR" dirty="0"/>
          </a:p>
          <a:p>
            <a:pPr lvl="1"/>
            <a:endParaRPr lang="pt-BR" dirty="0"/>
          </a:p>
          <a:p>
            <a:pPr lvl="1"/>
            <a:r>
              <a:rPr lang="pt-BR" dirty="0"/>
              <a:t>Abra o arquivo base.html e salve como exemplo.html</a:t>
            </a:r>
          </a:p>
          <a:p>
            <a:pPr lvl="1"/>
            <a:r>
              <a:rPr lang="pt-BR" dirty="0"/>
              <a:t>Copiar as linhas que estão no elemento </a:t>
            </a:r>
            <a:r>
              <a:rPr lang="pt-BR" dirty="0" err="1"/>
              <a:t>body</a:t>
            </a:r>
            <a:r>
              <a:rPr lang="pt-BR" dirty="0"/>
              <a:t>.</a:t>
            </a:r>
          </a:p>
          <a:p>
            <a:pPr lvl="1"/>
            <a:r>
              <a:rPr lang="pt-BR" dirty="0"/>
              <a:t>Salve e teste no navegador </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2204864"/>
            <a:ext cx="7705344" cy="2592288"/>
          </a:xfrm>
          <a:prstGeom prst="rect">
            <a:avLst/>
          </a:prstGeom>
          <a:ln w="9525">
            <a:solidFill>
              <a:schemeClr val="tx1"/>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902976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Modelos de Conteúdo</a:t>
            </a:r>
            <a:endParaRPr lang="pt-BR" dirty="0"/>
          </a:p>
        </p:txBody>
      </p:sp>
      <p:sp>
        <p:nvSpPr>
          <p:cNvPr id="3" name="Espaço Reservado para Conteúdo 2"/>
          <p:cNvSpPr>
            <a:spLocks noGrp="1"/>
          </p:cNvSpPr>
          <p:nvPr>
            <p:ph idx="1"/>
          </p:nvPr>
        </p:nvSpPr>
        <p:spPr/>
        <p:txBody>
          <a:bodyPr/>
          <a:lstStyle/>
          <a:p>
            <a:r>
              <a:rPr lang="pt-BR" dirty="0" err="1" smtClean="0"/>
              <a:t>Heading</a:t>
            </a:r>
            <a:r>
              <a:rPr lang="pt-BR" dirty="0" smtClean="0"/>
              <a:t> </a:t>
            </a:r>
            <a:r>
              <a:rPr lang="pt-BR" dirty="0" err="1" smtClean="0"/>
              <a:t>content</a:t>
            </a:r>
            <a:endParaRPr lang="pt-BR" dirty="0" smtClean="0"/>
          </a:p>
          <a:p>
            <a:pPr lvl="1"/>
            <a:r>
              <a:rPr lang="pt-BR" dirty="0" smtClean="0"/>
              <a:t>Nesta categoria estão os cabeçalhos, empregados individualmente ou agrupados. Podem ser configurados como cabeçalho geral do conteúdo de uma página ou como cabeçalhos dentro dos elementos da categoria </a:t>
            </a:r>
            <a:r>
              <a:rPr lang="pt-BR" dirty="0" err="1" smtClean="0"/>
              <a:t>sectioning</a:t>
            </a:r>
            <a:r>
              <a:rPr lang="pt-BR" dirty="0" smtClean="0"/>
              <a:t> </a:t>
            </a:r>
            <a:r>
              <a:rPr lang="pt-BR" dirty="0" err="1" smtClean="0"/>
              <a:t>content</a:t>
            </a:r>
            <a:r>
              <a:rPr lang="pt-BR" dirty="0" smtClean="0"/>
              <a:t>.</a:t>
            </a:r>
            <a:endParaRPr lang="pt-BR" dirty="0"/>
          </a:p>
        </p:txBody>
      </p:sp>
      <p:graphicFrame>
        <p:nvGraphicFramePr>
          <p:cNvPr id="4" name="Tabela 3"/>
          <p:cNvGraphicFramePr>
            <a:graphicFrameLocks noGrp="1"/>
          </p:cNvGraphicFramePr>
          <p:nvPr>
            <p:extLst>
              <p:ext uri="{D42A27DB-BD31-4B8C-83A1-F6EECF244321}">
                <p14:modId xmlns:p14="http://schemas.microsoft.com/office/powerpoint/2010/main" val="901572493"/>
              </p:ext>
            </p:extLst>
          </p:nvPr>
        </p:nvGraphicFramePr>
        <p:xfrm>
          <a:off x="1475656" y="4869160"/>
          <a:ext cx="6095999" cy="370840"/>
        </p:xfrm>
        <a:graphic>
          <a:graphicData uri="http://schemas.openxmlformats.org/drawingml/2006/table">
            <a:tbl>
              <a:tblPr firstRow="1" bandRow="1">
                <a:tableStyleId>{5940675A-B579-460E-94D1-54222C63F5DA}</a:tableStyleId>
              </a:tblPr>
              <a:tblGrid>
                <a:gridCol w="870857"/>
                <a:gridCol w="870857"/>
                <a:gridCol w="870857"/>
                <a:gridCol w="870857"/>
                <a:gridCol w="870857"/>
                <a:gridCol w="870857"/>
                <a:gridCol w="870857"/>
              </a:tblGrid>
              <a:tr h="370840">
                <a:tc>
                  <a:txBody>
                    <a:bodyPr/>
                    <a:lstStyle/>
                    <a:p>
                      <a:pPr algn="ctr"/>
                      <a:r>
                        <a:rPr lang="pt-BR" dirty="0" smtClean="0"/>
                        <a:t>h1</a:t>
                      </a:r>
                      <a:endParaRPr lang="pt-BR" dirty="0"/>
                    </a:p>
                  </a:txBody>
                  <a:tcPr/>
                </a:tc>
                <a:tc>
                  <a:txBody>
                    <a:bodyPr/>
                    <a:lstStyle/>
                    <a:p>
                      <a:pPr algn="ctr"/>
                      <a:r>
                        <a:rPr lang="pt-BR" dirty="0" smtClean="0"/>
                        <a:t>h2</a:t>
                      </a:r>
                      <a:endParaRPr lang="pt-BR" dirty="0"/>
                    </a:p>
                  </a:txBody>
                  <a:tcPr/>
                </a:tc>
                <a:tc>
                  <a:txBody>
                    <a:bodyPr/>
                    <a:lstStyle/>
                    <a:p>
                      <a:pPr algn="ctr"/>
                      <a:r>
                        <a:rPr lang="pt-BR" dirty="0" smtClean="0"/>
                        <a:t>h3</a:t>
                      </a:r>
                      <a:endParaRPr lang="pt-BR" dirty="0"/>
                    </a:p>
                  </a:txBody>
                  <a:tcPr/>
                </a:tc>
                <a:tc>
                  <a:txBody>
                    <a:bodyPr/>
                    <a:lstStyle/>
                    <a:p>
                      <a:pPr algn="ctr"/>
                      <a:r>
                        <a:rPr lang="pt-BR" dirty="0" smtClean="0"/>
                        <a:t>h4</a:t>
                      </a:r>
                      <a:endParaRPr lang="pt-BR" dirty="0"/>
                    </a:p>
                  </a:txBody>
                  <a:tcPr/>
                </a:tc>
                <a:tc>
                  <a:txBody>
                    <a:bodyPr/>
                    <a:lstStyle/>
                    <a:p>
                      <a:pPr algn="ctr"/>
                      <a:r>
                        <a:rPr lang="pt-BR" dirty="0" smtClean="0"/>
                        <a:t>h5</a:t>
                      </a:r>
                      <a:endParaRPr lang="pt-BR" dirty="0"/>
                    </a:p>
                  </a:txBody>
                  <a:tcPr/>
                </a:tc>
                <a:tc>
                  <a:txBody>
                    <a:bodyPr/>
                    <a:lstStyle/>
                    <a:p>
                      <a:pPr algn="ctr"/>
                      <a:r>
                        <a:rPr lang="pt-BR" dirty="0" smtClean="0"/>
                        <a:t>h6</a:t>
                      </a:r>
                      <a:endParaRPr lang="pt-BR" dirty="0"/>
                    </a:p>
                  </a:txBody>
                  <a:tcPr/>
                </a:tc>
                <a:tc>
                  <a:txBody>
                    <a:bodyPr/>
                    <a:lstStyle/>
                    <a:p>
                      <a:pPr algn="ctr"/>
                      <a:r>
                        <a:rPr lang="pt-BR" dirty="0" err="1" smtClean="0"/>
                        <a:t>hgroup</a:t>
                      </a:r>
                      <a:endParaRPr lang="pt-BR" dirty="0"/>
                    </a:p>
                  </a:txBody>
                  <a:tcPr/>
                </a:tc>
              </a:tr>
            </a:tbl>
          </a:graphicData>
        </a:graphic>
      </p:graphicFrame>
    </p:spTree>
    <p:extLst>
      <p:ext uri="{BB962C8B-B14F-4D97-AF65-F5344CB8AC3E}">
        <p14:creationId xmlns:p14="http://schemas.microsoft.com/office/powerpoint/2010/main" val="26092392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Modelos de Conteúdo</a:t>
            </a:r>
            <a:endParaRPr lang="pt-BR" dirty="0"/>
          </a:p>
        </p:txBody>
      </p:sp>
      <p:sp>
        <p:nvSpPr>
          <p:cNvPr id="3" name="Espaço Reservado para Conteúdo 2"/>
          <p:cNvSpPr>
            <a:spLocks noGrp="1"/>
          </p:cNvSpPr>
          <p:nvPr>
            <p:ph idx="1"/>
          </p:nvPr>
        </p:nvSpPr>
        <p:spPr>
          <a:xfrm>
            <a:off x="457200" y="1600200"/>
            <a:ext cx="8229600" cy="5069160"/>
          </a:xfrm>
        </p:spPr>
        <p:txBody>
          <a:bodyPr>
            <a:normAutofit fontScale="70000" lnSpcReduction="20000"/>
          </a:bodyPr>
          <a:lstStyle/>
          <a:p>
            <a:r>
              <a:rPr lang="pt-BR" dirty="0" err="1" smtClean="0"/>
              <a:t>Heading</a:t>
            </a:r>
            <a:r>
              <a:rPr lang="pt-BR" dirty="0" smtClean="0"/>
              <a:t> </a:t>
            </a:r>
            <a:r>
              <a:rPr lang="pt-BR" dirty="0" err="1" smtClean="0"/>
              <a:t>content</a:t>
            </a:r>
            <a:endParaRPr lang="pt-BR" dirty="0"/>
          </a:p>
          <a:p>
            <a:pPr lvl="1"/>
            <a:endParaRPr lang="pt-BR" dirty="0" smtClean="0"/>
          </a:p>
          <a:p>
            <a:pPr lvl="1"/>
            <a:endParaRPr lang="pt-BR" dirty="0"/>
          </a:p>
          <a:p>
            <a:pPr lvl="1"/>
            <a:endParaRPr lang="pt-BR" dirty="0" smtClean="0"/>
          </a:p>
          <a:p>
            <a:pPr lvl="1"/>
            <a:endParaRPr lang="pt-BR" dirty="0" smtClean="0"/>
          </a:p>
          <a:p>
            <a:pPr lvl="1"/>
            <a:endParaRPr lang="pt-BR" dirty="0"/>
          </a:p>
          <a:p>
            <a:pPr lvl="1"/>
            <a:endParaRPr lang="pt-BR" dirty="0" smtClean="0"/>
          </a:p>
          <a:p>
            <a:pPr lvl="1"/>
            <a:endParaRPr lang="pt-BR" dirty="0"/>
          </a:p>
          <a:p>
            <a:pPr lvl="1"/>
            <a:endParaRPr lang="pt-BR" dirty="0" smtClean="0"/>
          </a:p>
          <a:p>
            <a:pPr lvl="1"/>
            <a:endParaRPr lang="pt-BR" dirty="0"/>
          </a:p>
          <a:p>
            <a:pPr lvl="1"/>
            <a:endParaRPr lang="pt-BR" dirty="0" smtClean="0"/>
          </a:p>
          <a:p>
            <a:pPr lvl="1"/>
            <a:endParaRPr lang="pt-BR" dirty="0" smtClean="0"/>
          </a:p>
          <a:p>
            <a:pPr lvl="1"/>
            <a:r>
              <a:rPr lang="pt-BR" dirty="0"/>
              <a:t>Abra o arquivo base.html e salve como exemplo.html</a:t>
            </a:r>
          </a:p>
          <a:p>
            <a:pPr lvl="1"/>
            <a:r>
              <a:rPr lang="pt-BR" dirty="0"/>
              <a:t>Copiar as linhas que estão no elemento </a:t>
            </a:r>
            <a:r>
              <a:rPr lang="pt-BR" dirty="0" err="1"/>
              <a:t>body</a:t>
            </a:r>
            <a:r>
              <a:rPr lang="pt-BR" dirty="0"/>
              <a:t>.</a:t>
            </a:r>
          </a:p>
          <a:p>
            <a:pPr lvl="1"/>
            <a:r>
              <a:rPr lang="pt-BR" dirty="0"/>
              <a:t>Salve e teste no navegador </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1643" y="2060848"/>
            <a:ext cx="4355347" cy="3185253"/>
          </a:xfrm>
          <a:prstGeom prst="rect">
            <a:avLst/>
          </a:prstGeom>
          <a:ln w="9525">
            <a:solidFill>
              <a:schemeClr val="tx1"/>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7912812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Modelos de Conteúdo</a:t>
            </a:r>
            <a:endParaRPr lang="pt-BR" dirty="0"/>
          </a:p>
        </p:txBody>
      </p:sp>
      <p:sp>
        <p:nvSpPr>
          <p:cNvPr id="3" name="Espaço Reservado para Conteúdo 2"/>
          <p:cNvSpPr>
            <a:spLocks noGrp="1"/>
          </p:cNvSpPr>
          <p:nvPr>
            <p:ph idx="1"/>
          </p:nvPr>
        </p:nvSpPr>
        <p:spPr/>
        <p:txBody>
          <a:bodyPr>
            <a:normAutofit fontScale="77500" lnSpcReduction="20000"/>
          </a:bodyPr>
          <a:lstStyle/>
          <a:p>
            <a:r>
              <a:rPr lang="pt-BR" dirty="0" err="1" smtClean="0"/>
              <a:t>Phrasing</a:t>
            </a:r>
            <a:r>
              <a:rPr lang="pt-BR" dirty="0" smtClean="0"/>
              <a:t> </a:t>
            </a:r>
            <a:r>
              <a:rPr lang="pt-BR" dirty="0" err="1" smtClean="0"/>
              <a:t>content</a:t>
            </a:r>
            <a:endParaRPr lang="pt-BR" dirty="0" smtClean="0"/>
          </a:p>
          <a:p>
            <a:pPr lvl="1"/>
            <a:r>
              <a:rPr lang="pt-BR" dirty="0" smtClean="0"/>
              <a:t>Nesta categoria estão incluídos os elementos que integram o texto do documento – por exemplo, aqueles inseridos em um parágrafo.</a:t>
            </a:r>
          </a:p>
          <a:p>
            <a:pPr lvl="1"/>
            <a:r>
              <a:rPr lang="pt-BR" dirty="0" smtClean="0"/>
              <a:t>A maior parte dos elementos da categoria </a:t>
            </a:r>
            <a:r>
              <a:rPr lang="pt-BR" dirty="0" err="1" smtClean="0"/>
              <a:t>phrasing</a:t>
            </a:r>
            <a:r>
              <a:rPr lang="pt-BR" dirty="0" smtClean="0"/>
              <a:t> </a:t>
            </a:r>
            <a:r>
              <a:rPr lang="pt-BR" dirty="0" err="1" smtClean="0"/>
              <a:t>content</a:t>
            </a:r>
            <a:r>
              <a:rPr lang="pt-BR" dirty="0" smtClean="0"/>
              <a:t> pode apenas conter elementos desta mesma categoria e nunca da categoria </a:t>
            </a:r>
            <a:r>
              <a:rPr lang="pt-BR" dirty="0" err="1" smtClean="0"/>
              <a:t>flow</a:t>
            </a:r>
            <a:r>
              <a:rPr lang="pt-BR" dirty="0" smtClean="0"/>
              <a:t> </a:t>
            </a:r>
            <a:r>
              <a:rPr lang="pt-BR" dirty="0" err="1" smtClean="0"/>
              <a:t>content</a:t>
            </a:r>
            <a:r>
              <a:rPr lang="pt-BR" dirty="0" smtClean="0"/>
              <a:t>.</a:t>
            </a:r>
          </a:p>
          <a:p>
            <a:pPr marL="457200" lvl="1" indent="0">
              <a:buNone/>
            </a:pPr>
            <a:endParaRPr lang="pt-BR" dirty="0" smtClean="0"/>
          </a:p>
          <a:p>
            <a:pPr lvl="1"/>
            <a:endParaRPr lang="pt-BR" dirty="0"/>
          </a:p>
          <a:p>
            <a:pPr lvl="1"/>
            <a:endParaRPr lang="pt-BR" dirty="0" smtClean="0"/>
          </a:p>
          <a:p>
            <a:pPr lvl="1"/>
            <a:endParaRPr lang="pt-BR" dirty="0"/>
          </a:p>
          <a:p>
            <a:pPr lvl="1"/>
            <a:endParaRPr lang="pt-BR" dirty="0" smtClean="0"/>
          </a:p>
          <a:p>
            <a:pPr marL="457200" lvl="1" indent="0">
              <a:buNone/>
            </a:pPr>
            <a:endParaRPr lang="pt-BR" dirty="0" smtClean="0"/>
          </a:p>
          <a:p>
            <a:pPr marL="457200" lvl="1" indent="0">
              <a:buNone/>
            </a:pPr>
            <a:r>
              <a:rPr lang="pt-BR" dirty="0"/>
              <a:t>.</a:t>
            </a:r>
          </a:p>
        </p:txBody>
      </p:sp>
      <p:graphicFrame>
        <p:nvGraphicFramePr>
          <p:cNvPr id="4" name="Tabela 3"/>
          <p:cNvGraphicFramePr>
            <a:graphicFrameLocks noGrp="1"/>
          </p:cNvGraphicFramePr>
          <p:nvPr>
            <p:extLst>
              <p:ext uri="{D42A27DB-BD31-4B8C-83A1-F6EECF244321}">
                <p14:modId xmlns:p14="http://schemas.microsoft.com/office/powerpoint/2010/main" val="1543743223"/>
              </p:ext>
            </p:extLst>
          </p:nvPr>
        </p:nvGraphicFramePr>
        <p:xfrm>
          <a:off x="2123728" y="3861048"/>
          <a:ext cx="5299292" cy="2743200"/>
        </p:xfrm>
        <a:graphic>
          <a:graphicData uri="http://schemas.openxmlformats.org/drawingml/2006/table">
            <a:tbl>
              <a:tblPr firstRow="1" bandRow="1">
                <a:tableStyleId>{5940675A-B579-460E-94D1-54222C63F5DA}</a:tableStyleId>
              </a:tblPr>
              <a:tblGrid>
                <a:gridCol w="870857"/>
                <a:gridCol w="870857"/>
                <a:gridCol w="870857"/>
                <a:gridCol w="870857"/>
                <a:gridCol w="870857"/>
                <a:gridCol w="945007"/>
              </a:tblGrid>
              <a:tr h="159792">
                <a:tc>
                  <a:txBody>
                    <a:bodyPr/>
                    <a:lstStyle/>
                    <a:p>
                      <a:pPr algn="ctr"/>
                      <a:r>
                        <a:rPr lang="pt-BR" sz="1400" dirty="0" smtClean="0"/>
                        <a:t>a</a:t>
                      </a:r>
                      <a:endParaRPr lang="pt-BR" sz="1400" dirty="0"/>
                    </a:p>
                  </a:txBody>
                  <a:tcPr/>
                </a:tc>
                <a:tc>
                  <a:txBody>
                    <a:bodyPr/>
                    <a:lstStyle/>
                    <a:p>
                      <a:pPr algn="ctr"/>
                      <a:r>
                        <a:rPr lang="pt-BR" sz="1400" dirty="0" err="1" smtClean="0"/>
                        <a:t>abbr</a:t>
                      </a:r>
                      <a:endParaRPr lang="pt-BR" sz="1400" dirty="0"/>
                    </a:p>
                  </a:txBody>
                  <a:tcPr/>
                </a:tc>
                <a:tc>
                  <a:txBody>
                    <a:bodyPr/>
                    <a:lstStyle/>
                    <a:p>
                      <a:pPr algn="ctr"/>
                      <a:r>
                        <a:rPr lang="pt-BR" sz="1400" dirty="0" err="1" smtClean="0"/>
                        <a:t>area</a:t>
                      </a:r>
                      <a:endParaRPr lang="pt-BR" sz="1400" dirty="0"/>
                    </a:p>
                  </a:txBody>
                  <a:tcPr/>
                </a:tc>
                <a:tc>
                  <a:txBody>
                    <a:bodyPr/>
                    <a:lstStyle/>
                    <a:p>
                      <a:pPr algn="ctr"/>
                      <a:r>
                        <a:rPr lang="pt-BR" sz="1400" dirty="0" err="1" smtClean="0"/>
                        <a:t>audio</a:t>
                      </a:r>
                      <a:endParaRPr lang="pt-BR" sz="1400" dirty="0"/>
                    </a:p>
                  </a:txBody>
                  <a:tcPr/>
                </a:tc>
                <a:tc>
                  <a:txBody>
                    <a:bodyPr/>
                    <a:lstStyle/>
                    <a:p>
                      <a:pPr algn="ctr"/>
                      <a:r>
                        <a:rPr lang="pt-BR" sz="1400" dirty="0" smtClean="0"/>
                        <a:t>b</a:t>
                      </a:r>
                      <a:endParaRPr lang="pt-BR" sz="1400" dirty="0"/>
                    </a:p>
                  </a:txBody>
                  <a:tcPr/>
                </a:tc>
                <a:tc>
                  <a:txBody>
                    <a:bodyPr/>
                    <a:lstStyle/>
                    <a:p>
                      <a:pPr algn="ctr"/>
                      <a:r>
                        <a:rPr lang="pt-BR" sz="1400" dirty="0" err="1" smtClean="0"/>
                        <a:t>bdo</a:t>
                      </a:r>
                      <a:endParaRPr lang="pt-BR" sz="1400" dirty="0"/>
                    </a:p>
                  </a:txBody>
                  <a:tcPr/>
                </a:tc>
              </a:tr>
              <a:tr h="143024">
                <a:tc>
                  <a:txBody>
                    <a:bodyPr/>
                    <a:lstStyle/>
                    <a:p>
                      <a:pPr algn="ctr"/>
                      <a:r>
                        <a:rPr lang="pt-BR" sz="1400" dirty="0" err="1" smtClean="0"/>
                        <a:t>br</a:t>
                      </a:r>
                      <a:endParaRPr lang="pt-BR" sz="1400" dirty="0"/>
                    </a:p>
                  </a:txBody>
                  <a:tcPr/>
                </a:tc>
                <a:tc>
                  <a:txBody>
                    <a:bodyPr/>
                    <a:lstStyle/>
                    <a:p>
                      <a:pPr algn="ctr"/>
                      <a:r>
                        <a:rPr lang="pt-BR" sz="1400" dirty="0" err="1" smtClean="0"/>
                        <a:t>button</a:t>
                      </a:r>
                      <a:endParaRPr lang="pt-BR" sz="1400" dirty="0"/>
                    </a:p>
                  </a:txBody>
                  <a:tcPr/>
                </a:tc>
                <a:tc>
                  <a:txBody>
                    <a:bodyPr/>
                    <a:lstStyle/>
                    <a:p>
                      <a:pPr algn="ctr"/>
                      <a:r>
                        <a:rPr lang="pt-BR" sz="1400" dirty="0" err="1" smtClean="0"/>
                        <a:t>canvas</a:t>
                      </a:r>
                      <a:endParaRPr lang="pt-BR" sz="1400" dirty="0"/>
                    </a:p>
                  </a:txBody>
                  <a:tcPr/>
                </a:tc>
                <a:tc>
                  <a:txBody>
                    <a:bodyPr/>
                    <a:lstStyle/>
                    <a:p>
                      <a:pPr algn="ctr"/>
                      <a:r>
                        <a:rPr lang="pt-BR" sz="1400" dirty="0" smtClean="0"/>
                        <a:t>cite</a:t>
                      </a:r>
                      <a:endParaRPr lang="pt-BR" sz="1400" dirty="0"/>
                    </a:p>
                  </a:txBody>
                  <a:tcPr/>
                </a:tc>
                <a:tc>
                  <a:txBody>
                    <a:bodyPr/>
                    <a:lstStyle/>
                    <a:p>
                      <a:pPr algn="ctr"/>
                      <a:r>
                        <a:rPr lang="pt-BR" sz="1400" dirty="0" err="1" smtClean="0"/>
                        <a:t>code</a:t>
                      </a:r>
                      <a:endParaRPr lang="pt-BR" sz="1400" dirty="0"/>
                    </a:p>
                  </a:txBody>
                  <a:tcPr/>
                </a:tc>
                <a:tc>
                  <a:txBody>
                    <a:bodyPr/>
                    <a:lstStyle/>
                    <a:p>
                      <a:pPr algn="ctr"/>
                      <a:r>
                        <a:rPr lang="pt-BR" sz="1400" dirty="0" err="1" smtClean="0"/>
                        <a:t>command</a:t>
                      </a:r>
                      <a:endParaRPr lang="pt-BR" sz="1400" dirty="0"/>
                    </a:p>
                  </a:txBody>
                  <a:tcPr/>
                </a:tc>
              </a:tr>
              <a:tr h="126256">
                <a:tc>
                  <a:txBody>
                    <a:bodyPr/>
                    <a:lstStyle/>
                    <a:p>
                      <a:pPr algn="ctr"/>
                      <a:r>
                        <a:rPr lang="pt-BR" sz="1400" dirty="0" err="1" smtClean="0"/>
                        <a:t>datalist</a:t>
                      </a:r>
                      <a:endParaRPr lang="pt-BR" sz="1400" dirty="0"/>
                    </a:p>
                  </a:txBody>
                  <a:tcPr/>
                </a:tc>
                <a:tc>
                  <a:txBody>
                    <a:bodyPr/>
                    <a:lstStyle/>
                    <a:p>
                      <a:pPr algn="ctr"/>
                      <a:r>
                        <a:rPr lang="pt-BR" sz="1400" dirty="0" err="1" smtClean="0"/>
                        <a:t>del</a:t>
                      </a:r>
                      <a:endParaRPr lang="pt-BR" sz="1400" dirty="0"/>
                    </a:p>
                  </a:txBody>
                  <a:tcPr/>
                </a:tc>
                <a:tc>
                  <a:txBody>
                    <a:bodyPr/>
                    <a:lstStyle/>
                    <a:p>
                      <a:pPr algn="ctr"/>
                      <a:r>
                        <a:rPr lang="pt-BR" sz="1400" dirty="0" err="1" smtClean="0"/>
                        <a:t>dfn</a:t>
                      </a:r>
                      <a:endParaRPr lang="pt-BR" sz="1400" dirty="0"/>
                    </a:p>
                  </a:txBody>
                  <a:tcPr/>
                </a:tc>
                <a:tc>
                  <a:txBody>
                    <a:bodyPr/>
                    <a:lstStyle/>
                    <a:p>
                      <a:pPr algn="ctr"/>
                      <a:r>
                        <a:rPr lang="pt-BR" sz="1400" dirty="0" smtClean="0"/>
                        <a:t>em</a:t>
                      </a:r>
                      <a:endParaRPr lang="pt-BR" sz="1400" dirty="0"/>
                    </a:p>
                  </a:txBody>
                  <a:tcPr/>
                </a:tc>
                <a:tc>
                  <a:txBody>
                    <a:bodyPr/>
                    <a:lstStyle/>
                    <a:p>
                      <a:pPr algn="ctr"/>
                      <a:r>
                        <a:rPr lang="pt-BR" sz="1400" dirty="0" err="1" smtClean="0"/>
                        <a:t>embed</a:t>
                      </a:r>
                      <a:endParaRPr lang="pt-BR" sz="1400" dirty="0"/>
                    </a:p>
                  </a:txBody>
                  <a:tcPr/>
                </a:tc>
                <a:tc>
                  <a:txBody>
                    <a:bodyPr/>
                    <a:lstStyle/>
                    <a:p>
                      <a:pPr algn="ctr"/>
                      <a:r>
                        <a:rPr lang="pt-BR" sz="1400" dirty="0" smtClean="0"/>
                        <a:t>i</a:t>
                      </a:r>
                      <a:endParaRPr lang="pt-BR" sz="1400" dirty="0"/>
                    </a:p>
                  </a:txBody>
                  <a:tcPr/>
                </a:tc>
              </a:tr>
              <a:tr h="0">
                <a:tc>
                  <a:txBody>
                    <a:bodyPr/>
                    <a:lstStyle/>
                    <a:p>
                      <a:pPr algn="ctr"/>
                      <a:r>
                        <a:rPr lang="pt-BR" sz="1400" dirty="0" err="1" smtClean="0"/>
                        <a:t>iframe</a:t>
                      </a:r>
                      <a:endParaRPr lang="pt-BR" sz="1400" dirty="0"/>
                    </a:p>
                  </a:txBody>
                  <a:tcPr/>
                </a:tc>
                <a:tc>
                  <a:txBody>
                    <a:bodyPr/>
                    <a:lstStyle/>
                    <a:p>
                      <a:pPr algn="ctr"/>
                      <a:r>
                        <a:rPr lang="pt-BR" sz="1400" dirty="0" err="1" smtClean="0"/>
                        <a:t>img</a:t>
                      </a:r>
                      <a:endParaRPr lang="pt-BR" sz="1400" dirty="0"/>
                    </a:p>
                  </a:txBody>
                  <a:tcPr/>
                </a:tc>
                <a:tc>
                  <a:txBody>
                    <a:bodyPr/>
                    <a:lstStyle/>
                    <a:p>
                      <a:pPr algn="ctr"/>
                      <a:r>
                        <a:rPr lang="pt-BR" sz="1400" dirty="0" smtClean="0"/>
                        <a:t>input</a:t>
                      </a:r>
                      <a:endParaRPr lang="pt-BR" sz="1400" dirty="0"/>
                    </a:p>
                  </a:txBody>
                  <a:tcPr/>
                </a:tc>
                <a:tc>
                  <a:txBody>
                    <a:bodyPr/>
                    <a:lstStyle/>
                    <a:p>
                      <a:pPr algn="ctr"/>
                      <a:r>
                        <a:rPr lang="pt-BR" sz="1400" dirty="0" err="1" smtClean="0"/>
                        <a:t>ins</a:t>
                      </a:r>
                      <a:endParaRPr lang="pt-BR" sz="1400" dirty="0"/>
                    </a:p>
                  </a:txBody>
                  <a:tcPr/>
                </a:tc>
                <a:tc>
                  <a:txBody>
                    <a:bodyPr/>
                    <a:lstStyle/>
                    <a:p>
                      <a:pPr algn="ctr"/>
                      <a:r>
                        <a:rPr lang="pt-BR" sz="1400" dirty="0" err="1" smtClean="0"/>
                        <a:t>kbd</a:t>
                      </a:r>
                      <a:endParaRPr lang="pt-BR" sz="1400" dirty="0"/>
                    </a:p>
                  </a:txBody>
                  <a:tcPr/>
                </a:tc>
                <a:tc>
                  <a:txBody>
                    <a:bodyPr/>
                    <a:lstStyle/>
                    <a:p>
                      <a:pPr algn="ctr"/>
                      <a:r>
                        <a:rPr lang="pt-BR" sz="1400" dirty="0" err="1" smtClean="0"/>
                        <a:t>keygen</a:t>
                      </a:r>
                      <a:endParaRPr lang="pt-BR" sz="1400" dirty="0"/>
                    </a:p>
                  </a:txBody>
                  <a:tcPr/>
                </a:tc>
              </a:tr>
              <a:tr h="0">
                <a:tc>
                  <a:txBody>
                    <a:bodyPr/>
                    <a:lstStyle/>
                    <a:p>
                      <a:pPr algn="ctr"/>
                      <a:r>
                        <a:rPr lang="pt-BR" sz="1400" dirty="0" err="1" smtClean="0"/>
                        <a:t>label</a:t>
                      </a:r>
                      <a:endParaRPr lang="pt-BR" sz="1400" dirty="0"/>
                    </a:p>
                  </a:txBody>
                  <a:tcPr/>
                </a:tc>
                <a:tc>
                  <a:txBody>
                    <a:bodyPr/>
                    <a:lstStyle/>
                    <a:p>
                      <a:pPr algn="ctr"/>
                      <a:r>
                        <a:rPr lang="pt-BR" sz="1400" dirty="0" smtClean="0"/>
                        <a:t>link</a:t>
                      </a:r>
                      <a:endParaRPr lang="pt-BR" sz="1400" dirty="0"/>
                    </a:p>
                  </a:txBody>
                  <a:tcPr/>
                </a:tc>
                <a:tc>
                  <a:txBody>
                    <a:bodyPr/>
                    <a:lstStyle/>
                    <a:p>
                      <a:pPr algn="ctr"/>
                      <a:r>
                        <a:rPr lang="pt-BR" sz="1400" dirty="0" err="1" smtClean="0"/>
                        <a:t>map</a:t>
                      </a:r>
                      <a:endParaRPr lang="pt-BR" sz="1400" dirty="0"/>
                    </a:p>
                  </a:txBody>
                  <a:tcPr/>
                </a:tc>
                <a:tc>
                  <a:txBody>
                    <a:bodyPr/>
                    <a:lstStyle/>
                    <a:p>
                      <a:pPr algn="ctr"/>
                      <a:r>
                        <a:rPr lang="pt-BR" sz="1400" dirty="0" err="1" smtClean="0"/>
                        <a:t>mark</a:t>
                      </a:r>
                      <a:endParaRPr lang="pt-BR" sz="1400" dirty="0"/>
                    </a:p>
                  </a:txBody>
                  <a:tcPr/>
                </a:tc>
                <a:tc>
                  <a:txBody>
                    <a:bodyPr/>
                    <a:lstStyle/>
                    <a:p>
                      <a:pPr algn="ctr"/>
                      <a:r>
                        <a:rPr lang="pt-BR" sz="1400" dirty="0" err="1" smtClean="0"/>
                        <a:t>math</a:t>
                      </a:r>
                      <a:endParaRPr lang="pt-BR" sz="1400" dirty="0"/>
                    </a:p>
                  </a:txBody>
                  <a:tcPr/>
                </a:tc>
                <a:tc>
                  <a:txBody>
                    <a:bodyPr/>
                    <a:lstStyle/>
                    <a:p>
                      <a:pPr algn="ctr"/>
                      <a:r>
                        <a:rPr lang="pt-BR" sz="1400" dirty="0" smtClean="0"/>
                        <a:t>meta</a:t>
                      </a:r>
                      <a:endParaRPr lang="pt-BR" sz="1400" dirty="0"/>
                    </a:p>
                  </a:txBody>
                  <a:tcPr/>
                </a:tc>
              </a:tr>
              <a:tr h="147960">
                <a:tc>
                  <a:txBody>
                    <a:bodyPr/>
                    <a:lstStyle/>
                    <a:p>
                      <a:pPr algn="ctr"/>
                      <a:r>
                        <a:rPr lang="pt-BR" sz="1400" dirty="0" smtClean="0"/>
                        <a:t>meter</a:t>
                      </a:r>
                      <a:endParaRPr lang="pt-BR" sz="1400" dirty="0"/>
                    </a:p>
                  </a:txBody>
                  <a:tcPr/>
                </a:tc>
                <a:tc>
                  <a:txBody>
                    <a:bodyPr/>
                    <a:lstStyle/>
                    <a:p>
                      <a:pPr algn="ctr"/>
                      <a:r>
                        <a:rPr lang="pt-BR" sz="1400" dirty="0" err="1" smtClean="0"/>
                        <a:t>noscript</a:t>
                      </a:r>
                      <a:endParaRPr lang="pt-BR" sz="1400" dirty="0"/>
                    </a:p>
                  </a:txBody>
                  <a:tcPr/>
                </a:tc>
                <a:tc>
                  <a:txBody>
                    <a:bodyPr/>
                    <a:lstStyle/>
                    <a:p>
                      <a:pPr algn="ctr"/>
                      <a:r>
                        <a:rPr lang="pt-BR" sz="1400" dirty="0" err="1" smtClean="0"/>
                        <a:t>object</a:t>
                      </a:r>
                      <a:endParaRPr lang="pt-BR" sz="1400" dirty="0"/>
                    </a:p>
                  </a:txBody>
                  <a:tcPr/>
                </a:tc>
                <a:tc>
                  <a:txBody>
                    <a:bodyPr/>
                    <a:lstStyle/>
                    <a:p>
                      <a:pPr algn="ctr"/>
                      <a:r>
                        <a:rPr lang="pt-BR" sz="1400" dirty="0" smtClean="0"/>
                        <a:t>output</a:t>
                      </a:r>
                      <a:endParaRPr lang="pt-BR" sz="1400" dirty="0"/>
                    </a:p>
                  </a:txBody>
                  <a:tcPr/>
                </a:tc>
                <a:tc>
                  <a:txBody>
                    <a:bodyPr/>
                    <a:lstStyle/>
                    <a:p>
                      <a:pPr algn="ctr"/>
                      <a:r>
                        <a:rPr lang="pt-BR" sz="1400" dirty="0" err="1" smtClean="0"/>
                        <a:t>progress</a:t>
                      </a:r>
                      <a:endParaRPr lang="pt-BR" sz="1400" dirty="0"/>
                    </a:p>
                  </a:txBody>
                  <a:tcPr/>
                </a:tc>
                <a:tc>
                  <a:txBody>
                    <a:bodyPr/>
                    <a:lstStyle/>
                    <a:p>
                      <a:pPr algn="ctr"/>
                      <a:r>
                        <a:rPr lang="pt-BR" sz="1400" dirty="0" smtClean="0"/>
                        <a:t>q</a:t>
                      </a:r>
                      <a:endParaRPr lang="pt-BR" sz="1400" dirty="0"/>
                    </a:p>
                  </a:txBody>
                  <a:tcPr/>
                </a:tc>
              </a:tr>
              <a:tr h="131192">
                <a:tc>
                  <a:txBody>
                    <a:bodyPr/>
                    <a:lstStyle/>
                    <a:p>
                      <a:pPr algn="ctr"/>
                      <a:r>
                        <a:rPr lang="pt-BR" sz="1400" dirty="0" err="1" smtClean="0"/>
                        <a:t>ruby</a:t>
                      </a:r>
                      <a:endParaRPr lang="pt-BR" sz="1400" dirty="0"/>
                    </a:p>
                  </a:txBody>
                  <a:tcPr/>
                </a:tc>
                <a:tc>
                  <a:txBody>
                    <a:bodyPr/>
                    <a:lstStyle/>
                    <a:p>
                      <a:pPr algn="ctr"/>
                      <a:r>
                        <a:rPr lang="pt-BR" sz="1400" dirty="0" err="1" smtClean="0"/>
                        <a:t>samp</a:t>
                      </a:r>
                      <a:endParaRPr lang="pt-BR" sz="1400" dirty="0"/>
                    </a:p>
                  </a:txBody>
                  <a:tcPr/>
                </a:tc>
                <a:tc>
                  <a:txBody>
                    <a:bodyPr/>
                    <a:lstStyle/>
                    <a:p>
                      <a:pPr algn="ctr"/>
                      <a:r>
                        <a:rPr lang="pt-BR" sz="1400" dirty="0" smtClean="0"/>
                        <a:t>script</a:t>
                      </a:r>
                      <a:endParaRPr lang="pt-BR" sz="1400" dirty="0"/>
                    </a:p>
                  </a:txBody>
                  <a:tcPr/>
                </a:tc>
                <a:tc>
                  <a:txBody>
                    <a:bodyPr/>
                    <a:lstStyle/>
                    <a:p>
                      <a:pPr algn="ctr"/>
                      <a:r>
                        <a:rPr lang="pt-BR" sz="1400" dirty="0" err="1" smtClean="0"/>
                        <a:t>select</a:t>
                      </a:r>
                      <a:endParaRPr lang="pt-BR" sz="1400" dirty="0"/>
                    </a:p>
                  </a:txBody>
                  <a:tcPr/>
                </a:tc>
                <a:tc>
                  <a:txBody>
                    <a:bodyPr/>
                    <a:lstStyle/>
                    <a:p>
                      <a:pPr algn="ctr"/>
                      <a:r>
                        <a:rPr lang="pt-BR" sz="1400" dirty="0" err="1" smtClean="0"/>
                        <a:t>small</a:t>
                      </a:r>
                      <a:endParaRPr lang="pt-BR" sz="1400" dirty="0"/>
                    </a:p>
                  </a:txBody>
                  <a:tcPr/>
                </a:tc>
                <a:tc>
                  <a:txBody>
                    <a:bodyPr/>
                    <a:lstStyle/>
                    <a:p>
                      <a:pPr algn="ctr"/>
                      <a:r>
                        <a:rPr lang="pt-BR" sz="1400" dirty="0" err="1" smtClean="0"/>
                        <a:t>span</a:t>
                      </a:r>
                      <a:endParaRPr lang="pt-BR" sz="1400" dirty="0"/>
                    </a:p>
                  </a:txBody>
                  <a:tcPr/>
                </a:tc>
              </a:tr>
              <a:tr h="0">
                <a:tc>
                  <a:txBody>
                    <a:bodyPr/>
                    <a:lstStyle/>
                    <a:p>
                      <a:pPr algn="ctr"/>
                      <a:r>
                        <a:rPr lang="pt-BR" sz="1400" dirty="0" err="1" smtClean="0"/>
                        <a:t>strong</a:t>
                      </a:r>
                      <a:endParaRPr lang="pt-BR" sz="1400" dirty="0"/>
                    </a:p>
                  </a:txBody>
                  <a:tcPr/>
                </a:tc>
                <a:tc>
                  <a:txBody>
                    <a:bodyPr/>
                    <a:lstStyle/>
                    <a:p>
                      <a:pPr algn="ctr"/>
                      <a:r>
                        <a:rPr lang="pt-BR" sz="1400" dirty="0" smtClean="0"/>
                        <a:t>sub</a:t>
                      </a:r>
                      <a:endParaRPr lang="pt-BR" sz="1400" dirty="0"/>
                    </a:p>
                  </a:txBody>
                  <a:tcPr/>
                </a:tc>
                <a:tc>
                  <a:txBody>
                    <a:bodyPr/>
                    <a:lstStyle/>
                    <a:p>
                      <a:pPr algn="ctr"/>
                      <a:r>
                        <a:rPr lang="pt-BR" sz="1400" dirty="0" err="1" smtClean="0"/>
                        <a:t>sup</a:t>
                      </a:r>
                      <a:endParaRPr lang="pt-BR" sz="1400" dirty="0"/>
                    </a:p>
                  </a:txBody>
                  <a:tcPr/>
                </a:tc>
                <a:tc>
                  <a:txBody>
                    <a:bodyPr/>
                    <a:lstStyle/>
                    <a:p>
                      <a:pPr algn="ctr"/>
                      <a:r>
                        <a:rPr lang="pt-BR" sz="1400" dirty="0" err="1" smtClean="0"/>
                        <a:t>svg</a:t>
                      </a:r>
                      <a:endParaRPr lang="pt-BR" sz="1400" dirty="0"/>
                    </a:p>
                  </a:txBody>
                  <a:tcPr/>
                </a:tc>
                <a:tc>
                  <a:txBody>
                    <a:bodyPr/>
                    <a:lstStyle/>
                    <a:p>
                      <a:pPr algn="ctr"/>
                      <a:r>
                        <a:rPr lang="pt-BR" sz="1400" dirty="0" err="1" smtClean="0"/>
                        <a:t>textarea</a:t>
                      </a:r>
                      <a:endParaRPr lang="pt-BR" sz="1400" dirty="0"/>
                    </a:p>
                  </a:txBody>
                  <a:tcPr/>
                </a:tc>
                <a:tc>
                  <a:txBody>
                    <a:bodyPr/>
                    <a:lstStyle/>
                    <a:p>
                      <a:pPr algn="ctr"/>
                      <a:r>
                        <a:rPr lang="pt-BR" sz="1400" dirty="0" smtClean="0"/>
                        <a:t>time</a:t>
                      </a:r>
                      <a:endParaRPr lang="pt-BR" sz="1400" dirty="0"/>
                    </a:p>
                  </a:txBody>
                  <a:tcPr/>
                </a:tc>
              </a:tr>
              <a:tr h="0">
                <a:tc>
                  <a:txBody>
                    <a:bodyPr/>
                    <a:lstStyle/>
                    <a:p>
                      <a:pPr algn="ctr"/>
                      <a:r>
                        <a:rPr lang="pt-BR" sz="1400" dirty="0" smtClean="0"/>
                        <a:t>var</a:t>
                      </a:r>
                      <a:endParaRPr lang="pt-BR" sz="1400" dirty="0"/>
                    </a:p>
                  </a:txBody>
                  <a:tcPr/>
                </a:tc>
                <a:tc>
                  <a:txBody>
                    <a:bodyPr/>
                    <a:lstStyle/>
                    <a:p>
                      <a:pPr algn="ctr"/>
                      <a:r>
                        <a:rPr lang="pt-BR" sz="1400" dirty="0" err="1" smtClean="0"/>
                        <a:t>video</a:t>
                      </a:r>
                      <a:endParaRPr lang="pt-BR" sz="1400" dirty="0"/>
                    </a:p>
                  </a:txBody>
                  <a:tcPr/>
                </a:tc>
                <a:tc>
                  <a:txBody>
                    <a:bodyPr/>
                    <a:lstStyle/>
                    <a:p>
                      <a:pPr algn="ctr"/>
                      <a:r>
                        <a:rPr lang="pt-BR" sz="1400" dirty="0" err="1" smtClean="0"/>
                        <a:t>wbr</a:t>
                      </a:r>
                      <a:endParaRPr lang="pt-BR" sz="1400" dirty="0"/>
                    </a:p>
                  </a:txBody>
                  <a:tcPr/>
                </a:tc>
                <a:tc>
                  <a:txBody>
                    <a:bodyPr/>
                    <a:lstStyle/>
                    <a:p>
                      <a:pPr algn="ctr"/>
                      <a:r>
                        <a:rPr lang="pt-BR" sz="1400" dirty="0" err="1" smtClean="0"/>
                        <a:t>text</a:t>
                      </a:r>
                      <a:endParaRPr lang="pt-BR" sz="1400" dirty="0"/>
                    </a:p>
                  </a:txBody>
                  <a:tcPr/>
                </a:tc>
                <a:tc>
                  <a:txBody>
                    <a:bodyPr/>
                    <a:lstStyle/>
                    <a:p>
                      <a:pPr algn="ctr"/>
                      <a:endParaRPr lang="pt-BR" sz="1400"/>
                    </a:p>
                  </a:txBody>
                  <a:tcPr/>
                </a:tc>
                <a:tc>
                  <a:txBody>
                    <a:bodyPr/>
                    <a:lstStyle/>
                    <a:p>
                      <a:pPr algn="ctr"/>
                      <a:endParaRPr lang="pt-BR" sz="1400" dirty="0"/>
                    </a:p>
                  </a:txBody>
                  <a:tcPr/>
                </a:tc>
              </a:tr>
            </a:tbl>
          </a:graphicData>
        </a:graphic>
      </p:graphicFrame>
    </p:spTree>
    <p:extLst>
      <p:ext uri="{BB962C8B-B14F-4D97-AF65-F5344CB8AC3E}">
        <p14:creationId xmlns:p14="http://schemas.microsoft.com/office/powerpoint/2010/main" val="9816733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Modelos de Conteúdo</a:t>
            </a:r>
            <a:endParaRPr lang="pt-BR" dirty="0"/>
          </a:p>
        </p:txBody>
      </p:sp>
      <p:sp>
        <p:nvSpPr>
          <p:cNvPr id="3" name="Espaço Reservado para Conteúdo 2"/>
          <p:cNvSpPr>
            <a:spLocks noGrp="1"/>
          </p:cNvSpPr>
          <p:nvPr>
            <p:ph idx="1"/>
          </p:nvPr>
        </p:nvSpPr>
        <p:spPr/>
        <p:txBody>
          <a:bodyPr/>
          <a:lstStyle/>
          <a:p>
            <a:r>
              <a:rPr lang="pt-BR" dirty="0" err="1" smtClean="0"/>
              <a:t>Embedded</a:t>
            </a:r>
            <a:r>
              <a:rPr lang="pt-BR" dirty="0" smtClean="0"/>
              <a:t> </a:t>
            </a:r>
            <a:r>
              <a:rPr lang="pt-BR" dirty="0" err="1" smtClean="0"/>
              <a:t>content</a:t>
            </a:r>
            <a:endParaRPr lang="pt-BR" dirty="0" smtClean="0"/>
          </a:p>
          <a:p>
            <a:pPr lvl="1"/>
            <a:r>
              <a:rPr lang="pt-BR" dirty="0" smtClean="0"/>
              <a:t>Nesta categoria são assinalados os elementos responsáveis pela importação e incorporação de recursos externos.</a:t>
            </a:r>
            <a:endParaRPr lang="pt-BR" dirty="0"/>
          </a:p>
        </p:txBody>
      </p:sp>
      <p:graphicFrame>
        <p:nvGraphicFramePr>
          <p:cNvPr id="4" name="Tabela 3"/>
          <p:cNvGraphicFramePr>
            <a:graphicFrameLocks noGrp="1"/>
          </p:cNvGraphicFramePr>
          <p:nvPr>
            <p:extLst>
              <p:ext uri="{D42A27DB-BD31-4B8C-83A1-F6EECF244321}">
                <p14:modId xmlns:p14="http://schemas.microsoft.com/office/powerpoint/2010/main" val="881225238"/>
              </p:ext>
            </p:extLst>
          </p:nvPr>
        </p:nvGraphicFramePr>
        <p:xfrm>
          <a:off x="1619672" y="4005064"/>
          <a:ext cx="6096000" cy="741680"/>
        </p:xfrm>
        <a:graphic>
          <a:graphicData uri="http://schemas.openxmlformats.org/drawingml/2006/table">
            <a:tbl>
              <a:tblPr firstRow="1" bandRow="1">
                <a:tableStyleId>{5940675A-B579-460E-94D1-54222C63F5DA}</a:tableStyleId>
              </a:tblPr>
              <a:tblGrid>
                <a:gridCol w="1016000"/>
                <a:gridCol w="1016000"/>
                <a:gridCol w="1016000"/>
                <a:gridCol w="1016000"/>
                <a:gridCol w="1016000"/>
                <a:gridCol w="1016000"/>
              </a:tblGrid>
              <a:tr h="370840">
                <a:tc>
                  <a:txBody>
                    <a:bodyPr/>
                    <a:lstStyle/>
                    <a:p>
                      <a:pPr algn="ctr"/>
                      <a:r>
                        <a:rPr lang="pt-BR" dirty="0" err="1" smtClean="0"/>
                        <a:t>audio</a:t>
                      </a:r>
                      <a:endParaRPr lang="pt-BR" dirty="0"/>
                    </a:p>
                  </a:txBody>
                  <a:tcPr/>
                </a:tc>
                <a:tc>
                  <a:txBody>
                    <a:bodyPr/>
                    <a:lstStyle/>
                    <a:p>
                      <a:pPr algn="ctr"/>
                      <a:r>
                        <a:rPr lang="pt-BR" dirty="0" err="1" smtClean="0"/>
                        <a:t>canvas</a:t>
                      </a:r>
                      <a:endParaRPr lang="pt-BR" dirty="0"/>
                    </a:p>
                  </a:txBody>
                  <a:tcPr/>
                </a:tc>
                <a:tc>
                  <a:txBody>
                    <a:bodyPr/>
                    <a:lstStyle/>
                    <a:p>
                      <a:pPr algn="ctr"/>
                      <a:r>
                        <a:rPr lang="pt-BR" dirty="0" err="1" smtClean="0"/>
                        <a:t>embed</a:t>
                      </a:r>
                      <a:endParaRPr lang="pt-BR" dirty="0"/>
                    </a:p>
                  </a:txBody>
                  <a:tcPr/>
                </a:tc>
                <a:tc>
                  <a:txBody>
                    <a:bodyPr/>
                    <a:lstStyle/>
                    <a:p>
                      <a:pPr algn="ctr"/>
                      <a:r>
                        <a:rPr lang="pt-BR" dirty="0" err="1" smtClean="0"/>
                        <a:t>iframe</a:t>
                      </a:r>
                      <a:endParaRPr lang="pt-BR" dirty="0"/>
                    </a:p>
                  </a:txBody>
                  <a:tcPr/>
                </a:tc>
                <a:tc>
                  <a:txBody>
                    <a:bodyPr/>
                    <a:lstStyle/>
                    <a:p>
                      <a:pPr algn="ctr"/>
                      <a:r>
                        <a:rPr lang="pt-BR" dirty="0" err="1" smtClean="0"/>
                        <a:t>img</a:t>
                      </a:r>
                      <a:endParaRPr lang="pt-BR" dirty="0"/>
                    </a:p>
                  </a:txBody>
                  <a:tcPr/>
                </a:tc>
                <a:tc>
                  <a:txBody>
                    <a:bodyPr/>
                    <a:lstStyle/>
                    <a:p>
                      <a:pPr algn="ctr"/>
                      <a:r>
                        <a:rPr lang="pt-BR" dirty="0" err="1" smtClean="0"/>
                        <a:t>math</a:t>
                      </a:r>
                      <a:endParaRPr lang="pt-BR" dirty="0"/>
                    </a:p>
                  </a:txBody>
                  <a:tcPr/>
                </a:tc>
              </a:tr>
              <a:tr h="370840">
                <a:tc>
                  <a:txBody>
                    <a:bodyPr/>
                    <a:lstStyle/>
                    <a:p>
                      <a:pPr algn="ctr"/>
                      <a:r>
                        <a:rPr lang="pt-BR" dirty="0" err="1" smtClean="0"/>
                        <a:t>object</a:t>
                      </a:r>
                      <a:endParaRPr lang="pt-BR" dirty="0"/>
                    </a:p>
                  </a:txBody>
                  <a:tcPr/>
                </a:tc>
                <a:tc>
                  <a:txBody>
                    <a:bodyPr/>
                    <a:lstStyle/>
                    <a:p>
                      <a:pPr algn="ctr"/>
                      <a:r>
                        <a:rPr lang="pt-BR" dirty="0" err="1" smtClean="0"/>
                        <a:t>svg</a:t>
                      </a:r>
                      <a:endParaRPr lang="pt-BR" dirty="0"/>
                    </a:p>
                  </a:txBody>
                  <a:tcPr/>
                </a:tc>
                <a:tc>
                  <a:txBody>
                    <a:bodyPr/>
                    <a:lstStyle/>
                    <a:p>
                      <a:pPr algn="ctr"/>
                      <a:r>
                        <a:rPr lang="pt-BR" dirty="0" err="1" smtClean="0"/>
                        <a:t>video</a:t>
                      </a:r>
                      <a:endParaRPr lang="pt-BR" dirty="0"/>
                    </a:p>
                  </a:txBody>
                  <a:tcPr/>
                </a:tc>
                <a:tc>
                  <a:txBody>
                    <a:bodyPr/>
                    <a:lstStyle/>
                    <a:p>
                      <a:pPr algn="ctr"/>
                      <a:endParaRPr lang="pt-BR"/>
                    </a:p>
                  </a:txBody>
                  <a:tcPr/>
                </a:tc>
                <a:tc>
                  <a:txBody>
                    <a:bodyPr/>
                    <a:lstStyle/>
                    <a:p>
                      <a:pPr algn="ctr"/>
                      <a:endParaRPr lang="pt-BR"/>
                    </a:p>
                  </a:txBody>
                  <a:tcPr/>
                </a:tc>
                <a:tc>
                  <a:txBody>
                    <a:bodyPr/>
                    <a:lstStyle/>
                    <a:p>
                      <a:pPr algn="ctr"/>
                      <a:endParaRPr lang="pt-BR" dirty="0"/>
                    </a:p>
                  </a:txBody>
                  <a:tcPr/>
                </a:tc>
              </a:tr>
            </a:tbl>
          </a:graphicData>
        </a:graphic>
      </p:graphicFrame>
    </p:spTree>
    <p:extLst>
      <p:ext uri="{BB962C8B-B14F-4D97-AF65-F5344CB8AC3E}">
        <p14:creationId xmlns:p14="http://schemas.microsoft.com/office/powerpoint/2010/main" val="35515510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Modelos de Conteúdo</a:t>
            </a:r>
            <a:endParaRPr lang="pt-BR" dirty="0"/>
          </a:p>
        </p:txBody>
      </p:sp>
      <p:sp>
        <p:nvSpPr>
          <p:cNvPr id="3" name="Espaço Reservado para Conteúdo 2"/>
          <p:cNvSpPr>
            <a:spLocks noGrp="1"/>
          </p:cNvSpPr>
          <p:nvPr>
            <p:ph idx="1"/>
          </p:nvPr>
        </p:nvSpPr>
        <p:spPr/>
        <p:txBody>
          <a:bodyPr/>
          <a:lstStyle/>
          <a:p>
            <a:r>
              <a:rPr lang="pt-BR" dirty="0" err="1" smtClean="0"/>
              <a:t>Interactive</a:t>
            </a:r>
            <a:r>
              <a:rPr lang="pt-BR" dirty="0" smtClean="0"/>
              <a:t> </a:t>
            </a:r>
            <a:r>
              <a:rPr lang="pt-BR" dirty="0" err="1" smtClean="0"/>
              <a:t>content</a:t>
            </a:r>
            <a:endParaRPr lang="pt-BR" dirty="0" smtClean="0"/>
          </a:p>
          <a:p>
            <a:pPr lvl="1"/>
            <a:r>
              <a:rPr lang="pt-BR" dirty="0" smtClean="0"/>
              <a:t>Certos elementos podem ter seu comportamento ativado e/ou alterado pela ação do usuário. Eles estão agrupados nesta categoria.</a:t>
            </a:r>
            <a:endParaRPr lang="pt-BR" dirty="0"/>
          </a:p>
        </p:txBody>
      </p:sp>
      <p:graphicFrame>
        <p:nvGraphicFramePr>
          <p:cNvPr id="4" name="Tabela 3"/>
          <p:cNvGraphicFramePr>
            <a:graphicFrameLocks noGrp="1"/>
          </p:cNvGraphicFramePr>
          <p:nvPr>
            <p:extLst>
              <p:ext uri="{D42A27DB-BD31-4B8C-83A1-F6EECF244321}">
                <p14:modId xmlns:p14="http://schemas.microsoft.com/office/powerpoint/2010/main" val="2052542645"/>
              </p:ext>
            </p:extLst>
          </p:nvPr>
        </p:nvGraphicFramePr>
        <p:xfrm>
          <a:off x="1619672" y="4005064"/>
          <a:ext cx="6096000" cy="1112520"/>
        </p:xfrm>
        <a:graphic>
          <a:graphicData uri="http://schemas.openxmlformats.org/drawingml/2006/table">
            <a:tbl>
              <a:tblPr firstRow="1" bandRow="1">
                <a:tableStyleId>{5940675A-B579-460E-94D1-54222C63F5DA}</a:tableStyleId>
              </a:tblPr>
              <a:tblGrid>
                <a:gridCol w="1016000"/>
                <a:gridCol w="1016000"/>
                <a:gridCol w="1016000"/>
                <a:gridCol w="1016000"/>
                <a:gridCol w="1016000"/>
                <a:gridCol w="1016000"/>
              </a:tblGrid>
              <a:tr h="370840">
                <a:tc>
                  <a:txBody>
                    <a:bodyPr/>
                    <a:lstStyle/>
                    <a:p>
                      <a:pPr algn="ctr"/>
                      <a:r>
                        <a:rPr lang="pt-BR" dirty="0" err="1" smtClean="0"/>
                        <a:t>audio</a:t>
                      </a:r>
                      <a:endParaRPr lang="pt-BR" dirty="0"/>
                    </a:p>
                  </a:txBody>
                  <a:tcPr/>
                </a:tc>
                <a:tc>
                  <a:txBody>
                    <a:bodyPr/>
                    <a:lstStyle/>
                    <a:p>
                      <a:pPr algn="ctr"/>
                      <a:r>
                        <a:rPr lang="pt-BR" dirty="0" err="1" smtClean="0"/>
                        <a:t>button</a:t>
                      </a:r>
                      <a:endParaRPr lang="pt-BR" dirty="0"/>
                    </a:p>
                  </a:txBody>
                  <a:tcPr/>
                </a:tc>
                <a:tc>
                  <a:txBody>
                    <a:bodyPr/>
                    <a:lstStyle/>
                    <a:p>
                      <a:pPr algn="ctr"/>
                      <a:r>
                        <a:rPr lang="pt-BR" dirty="0" err="1" smtClean="0"/>
                        <a:t>details</a:t>
                      </a:r>
                      <a:endParaRPr lang="pt-BR" dirty="0"/>
                    </a:p>
                  </a:txBody>
                  <a:tcPr/>
                </a:tc>
                <a:tc>
                  <a:txBody>
                    <a:bodyPr/>
                    <a:lstStyle/>
                    <a:p>
                      <a:pPr algn="ctr"/>
                      <a:r>
                        <a:rPr lang="pt-BR" dirty="0" err="1" smtClean="0"/>
                        <a:t>embed</a:t>
                      </a:r>
                      <a:endParaRPr lang="pt-BR" dirty="0"/>
                    </a:p>
                  </a:txBody>
                  <a:tcPr/>
                </a:tc>
                <a:tc>
                  <a:txBody>
                    <a:bodyPr/>
                    <a:lstStyle/>
                    <a:p>
                      <a:pPr algn="ctr"/>
                      <a:r>
                        <a:rPr lang="pt-BR" dirty="0" err="1" smtClean="0"/>
                        <a:t>iframe</a:t>
                      </a:r>
                      <a:endParaRPr lang="pt-BR" dirty="0"/>
                    </a:p>
                  </a:txBody>
                  <a:tcPr/>
                </a:tc>
                <a:tc>
                  <a:txBody>
                    <a:bodyPr/>
                    <a:lstStyle/>
                    <a:p>
                      <a:pPr algn="ctr"/>
                      <a:r>
                        <a:rPr lang="pt-BR" dirty="0" err="1" smtClean="0"/>
                        <a:t>img</a:t>
                      </a:r>
                      <a:endParaRPr lang="pt-BR" dirty="0"/>
                    </a:p>
                  </a:txBody>
                  <a:tcPr/>
                </a:tc>
              </a:tr>
              <a:tr h="370840">
                <a:tc>
                  <a:txBody>
                    <a:bodyPr/>
                    <a:lstStyle/>
                    <a:p>
                      <a:pPr algn="ctr"/>
                      <a:r>
                        <a:rPr lang="pt-BR" dirty="0" smtClean="0"/>
                        <a:t>input</a:t>
                      </a:r>
                      <a:endParaRPr lang="pt-BR" dirty="0"/>
                    </a:p>
                  </a:txBody>
                  <a:tcPr/>
                </a:tc>
                <a:tc>
                  <a:txBody>
                    <a:bodyPr/>
                    <a:lstStyle/>
                    <a:p>
                      <a:pPr algn="ctr"/>
                      <a:r>
                        <a:rPr lang="pt-BR" dirty="0" err="1" smtClean="0"/>
                        <a:t>keugen</a:t>
                      </a:r>
                      <a:endParaRPr lang="pt-BR" dirty="0"/>
                    </a:p>
                  </a:txBody>
                  <a:tcPr/>
                </a:tc>
                <a:tc>
                  <a:txBody>
                    <a:bodyPr/>
                    <a:lstStyle/>
                    <a:p>
                      <a:pPr algn="ctr"/>
                      <a:r>
                        <a:rPr lang="pt-BR" dirty="0" err="1" smtClean="0"/>
                        <a:t>label</a:t>
                      </a:r>
                      <a:endParaRPr lang="pt-BR" dirty="0"/>
                    </a:p>
                  </a:txBody>
                  <a:tcPr/>
                </a:tc>
                <a:tc>
                  <a:txBody>
                    <a:bodyPr/>
                    <a:lstStyle/>
                    <a:p>
                      <a:pPr algn="ctr"/>
                      <a:r>
                        <a:rPr lang="pt-BR" dirty="0" smtClean="0"/>
                        <a:t>menu</a:t>
                      </a:r>
                      <a:endParaRPr lang="pt-BR" dirty="0"/>
                    </a:p>
                  </a:txBody>
                  <a:tcPr/>
                </a:tc>
                <a:tc>
                  <a:txBody>
                    <a:bodyPr/>
                    <a:lstStyle/>
                    <a:p>
                      <a:pPr algn="ctr"/>
                      <a:r>
                        <a:rPr lang="pt-BR" dirty="0" err="1" smtClean="0"/>
                        <a:t>object</a:t>
                      </a:r>
                      <a:endParaRPr lang="pt-BR" dirty="0"/>
                    </a:p>
                  </a:txBody>
                  <a:tcPr/>
                </a:tc>
                <a:tc>
                  <a:txBody>
                    <a:bodyPr/>
                    <a:lstStyle/>
                    <a:p>
                      <a:pPr algn="ctr"/>
                      <a:r>
                        <a:rPr lang="pt-BR" dirty="0" err="1" smtClean="0"/>
                        <a:t>select</a:t>
                      </a:r>
                      <a:endParaRPr lang="pt-BR" dirty="0"/>
                    </a:p>
                  </a:txBody>
                  <a:tcPr/>
                </a:tc>
              </a:tr>
              <a:tr h="370840">
                <a:tc>
                  <a:txBody>
                    <a:bodyPr/>
                    <a:lstStyle/>
                    <a:p>
                      <a:pPr algn="ctr"/>
                      <a:r>
                        <a:rPr lang="pt-BR" dirty="0" err="1" smtClean="0"/>
                        <a:t>textarea</a:t>
                      </a:r>
                      <a:endParaRPr lang="pt-BR" dirty="0"/>
                    </a:p>
                  </a:txBody>
                  <a:tcPr/>
                </a:tc>
                <a:tc>
                  <a:txBody>
                    <a:bodyPr/>
                    <a:lstStyle/>
                    <a:p>
                      <a:pPr algn="ctr"/>
                      <a:r>
                        <a:rPr lang="pt-BR" dirty="0" err="1" smtClean="0"/>
                        <a:t>video</a:t>
                      </a:r>
                      <a:endParaRPr lang="pt-BR" dirty="0"/>
                    </a:p>
                  </a:txBody>
                  <a:tcPr/>
                </a:tc>
                <a:tc>
                  <a:txBody>
                    <a:bodyPr/>
                    <a:lstStyle/>
                    <a:p>
                      <a:pPr algn="ctr"/>
                      <a:r>
                        <a:rPr lang="pt-BR" dirty="0" smtClean="0"/>
                        <a:t>a</a:t>
                      </a:r>
                      <a:endParaRPr lang="pt-BR" dirty="0"/>
                    </a:p>
                  </a:txBody>
                  <a:tcPr/>
                </a:tc>
                <a:tc>
                  <a:txBody>
                    <a:bodyPr/>
                    <a:lstStyle/>
                    <a:p>
                      <a:pPr algn="ctr"/>
                      <a:endParaRPr lang="pt-BR"/>
                    </a:p>
                  </a:txBody>
                  <a:tcPr/>
                </a:tc>
                <a:tc>
                  <a:txBody>
                    <a:bodyPr/>
                    <a:lstStyle/>
                    <a:p>
                      <a:pPr algn="ctr"/>
                      <a:endParaRPr lang="pt-BR"/>
                    </a:p>
                  </a:txBody>
                  <a:tcPr/>
                </a:tc>
                <a:tc>
                  <a:txBody>
                    <a:bodyPr/>
                    <a:lstStyle/>
                    <a:p>
                      <a:pPr algn="ctr"/>
                      <a:endParaRPr lang="pt-BR" dirty="0"/>
                    </a:p>
                  </a:txBody>
                  <a:tcPr/>
                </a:tc>
              </a:tr>
            </a:tbl>
          </a:graphicData>
        </a:graphic>
      </p:graphicFrame>
    </p:spTree>
    <p:extLst>
      <p:ext uri="{BB962C8B-B14F-4D97-AF65-F5344CB8AC3E}">
        <p14:creationId xmlns:p14="http://schemas.microsoft.com/office/powerpoint/2010/main" val="15812973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Estrutura do Documento</a:t>
            </a:r>
            <a:endParaRPr lang="pt-BR" dirty="0"/>
          </a:p>
        </p:txBody>
      </p:sp>
      <p:sp>
        <p:nvSpPr>
          <p:cNvPr id="3" name="Espaço Reservado para Conteúdo 2"/>
          <p:cNvSpPr>
            <a:spLocks noGrp="1"/>
          </p:cNvSpPr>
          <p:nvPr>
            <p:ph idx="1"/>
          </p:nvPr>
        </p:nvSpPr>
        <p:spPr/>
        <p:txBody>
          <a:bodyPr>
            <a:normAutofit fontScale="85000" lnSpcReduction="20000"/>
          </a:bodyPr>
          <a:lstStyle/>
          <a:p>
            <a:r>
              <a:rPr lang="pt-BR" dirty="0" smtClean="0"/>
              <a:t>Head</a:t>
            </a:r>
          </a:p>
          <a:p>
            <a:pPr lvl="1"/>
            <a:r>
              <a:rPr lang="pt-BR" dirty="0" smtClean="0"/>
              <a:t>Elemento obrigatório da estrutura básica, é ele quem abriga os </a:t>
            </a:r>
            <a:r>
              <a:rPr lang="pt-BR" dirty="0" err="1" smtClean="0"/>
              <a:t>metadados</a:t>
            </a:r>
            <a:r>
              <a:rPr lang="pt-BR" dirty="0" smtClean="0"/>
              <a:t> do documento. Seu posicionamento é imediatamente após o DOCTYPE e elemento raiz (</a:t>
            </a:r>
            <a:r>
              <a:rPr lang="pt-BR" dirty="0" err="1" smtClean="0"/>
              <a:t>html</a:t>
            </a:r>
            <a:r>
              <a:rPr lang="pt-BR" dirty="0" smtClean="0"/>
              <a:t>)</a:t>
            </a:r>
          </a:p>
          <a:p>
            <a:pPr lvl="1"/>
            <a:r>
              <a:rPr lang="pt-BR" dirty="0" smtClean="0"/>
              <a:t>Dentro do elemento </a:t>
            </a:r>
            <a:r>
              <a:rPr lang="pt-BR" dirty="0" err="1" smtClean="0"/>
              <a:t>head</a:t>
            </a:r>
            <a:r>
              <a:rPr lang="pt-BR" dirty="0" smtClean="0"/>
              <a:t> são colocados os seguintes elementos:</a:t>
            </a:r>
          </a:p>
          <a:p>
            <a:pPr lvl="2"/>
            <a:r>
              <a:rPr lang="pt-BR" dirty="0" err="1" smtClean="0"/>
              <a:t>title</a:t>
            </a:r>
            <a:endParaRPr lang="pt-BR" dirty="0" smtClean="0"/>
          </a:p>
          <a:p>
            <a:pPr lvl="2"/>
            <a:r>
              <a:rPr lang="pt-BR" dirty="0" smtClean="0"/>
              <a:t>base</a:t>
            </a:r>
          </a:p>
          <a:p>
            <a:pPr lvl="2"/>
            <a:r>
              <a:rPr lang="pt-BR" dirty="0" smtClean="0"/>
              <a:t>link</a:t>
            </a:r>
          </a:p>
          <a:p>
            <a:pPr lvl="2"/>
            <a:r>
              <a:rPr lang="pt-BR" dirty="0" smtClean="0"/>
              <a:t>meta</a:t>
            </a:r>
          </a:p>
          <a:p>
            <a:pPr lvl="3"/>
            <a:r>
              <a:rPr lang="pt-BR" dirty="0" err="1" smtClean="0"/>
              <a:t>keywords</a:t>
            </a:r>
            <a:endParaRPr lang="pt-BR" dirty="0" smtClean="0"/>
          </a:p>
          <a:p>
            <a:pPr lvl="3"/>
            <a:r>
              <a:rPr lang="pt-BR" dirty="0" err="1"/>
              <a:t>d</a:t>
            </a:r>
            <a:r>
              <a:rPr lang="pt-BR" dirty="0" err="1" smtClean="0"/>
              <a:t>escription</a:t>
            </a:r>
            <a:endParaRPr lang="pt-BR" dirty="0" smtClean="0"/>
          </a:p>
          <a:p>
            <a:pPr lvl="3"/>
            <a:r>
              <a:rPr lang="pt-BR" dirty="0" err="1" smtClean="0"/>
              <a:t>author</a:t>
            </a:r>
            <a:endParaRPr lang="pt-BR" dirty="0" smtClean="0"/>
          </a:p>
          <a:p>
            <a:pPr lvl="2"/>
            <a:r>
              <a:rPr lang="pt-BR" dirty="0" err="1" smtClean="0"/>
              <a:t>style</a:t>
            </a:r>
            <a:endParaRPr lang="pt-BR" dirty="0" smtClean="0"/>
          </a:p>
          <a:p>
            <a:pPr marL="1371600" lvl="3" indent="0">
              <a:buNone/>
            </a:pPr>
            <a:endParaRPr lang="pt-BR" dirty="0" smtClean="0"/>
          </a:p>
        </p:txBody>
      </p:sp>
    </p:spTree>
    <p:extLst>
      <p:ext uri="{BB962C8B-B14F-4D97-AF65-F5344CB8AC3E}">
        <p14:creationId xmlns:p14="http://schemas.microsoft.com/office/powerpoint/2010/main" val="229036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Estrutura do Documento</a:t>
            </a:r>
            <a:endParaRPr lang="pt-BR" dirty="0"/>
          </a:p>
        </p:txBody>
      </p:sp>
      <p:sp>
        <p:nvSpPr>
          <p:cNvPr id="3" name="Espaço Reservado para Conteúdo 2"/>
          <p:cNvSpPr>
            <a:spLocks noGrp="1"/>
          </p:cNvSpPr>
          <p:nvPr>
            <p:ph idx="1"/>
          </p:nvPr>
        </p:nvSpPr>
        <p:spPr/>
        <p:txBody>
          <a:bodyPr>
            <a:normAutofit fontScale="70000" lnSpcReduction="20000"/>
          </a:bodyPr>
          <a:lstStyle/>
          <a:p>
            <a:r>
              <a:rPr lang="pt-BR" dirty="0" err="1" smtClean="0"/>
              <a:t>Title</a:t>
            </a:r>
            <a:endParaRPr lang="pt-BR" dirty="0" smtClean="0"/>
          </a:p>
          <a:p>
            <a:pPr lvl="1"/>
            <a:r>
              <a:rPr lang="pt-BR" dirty="0" smtClean="0"/>
              <a:t>Define o título do documento e pode conter todo tipo de caracteres.</a:t>
            </a:r>
          </a:p>
          <a:p>
            <a:pPr marL="457200" lvl="1" indent="0">
              <a:buNone/>
            </a:pPr>
            <a:r>
              <a:rPr lang="pt-BR" dirty="0" smtClean="0"/>
              <a:t>Exemplos:</a:t>
            </a:r>
          </a:p>
          <a:p>
            <a:pPr marL="914400" lvl="2" indent="0">
              <a:buNone/>
            </a:pPr>
            <a:r>
              <a:rPr lang="pt-BR" dirty="0" smtClean="0"/>
              <a:t>UOL – </a:t>
            </a:r>
            <a:r>
              <a:rPr lang="pt-BR" dirty="0" smtClean="0">
                <a:hlinkClick r:id="rId2"/>
              </a:rPr>
              <a:t>http://www.uol.com.br</a:t>
            </a:r>
            <a:endParaRPr lang="pt-BR" dirty="0" smtClean="0"/>
          </a:p>
          <a:p>
            <a:pPr marL="914400" lvl="2" indent="0">
              <a:buNone/>
            </a:pPr>
            <a:r>
              <a:rPr lang="pt-BR" dirty="0" smtClean="0"/>
              <a:t>&lt;</a:t>
            </a:r>
            <a:r>
              <a:rPr lang="pt-BR" dirty="0" err="1" smtClean="0"/>
              <a:t>title</a:t>
            </a:r>
            <a:r>
              <a:rPr lang="pt-BR" dirty="0" smtClean="0"/>
              <a:t>&gt;UOL – O melhor conteúdo&lt;/</a:t>
            </a:r>
            <a:r>
              <a:rPr lang="pt-BR" dirty="0" err="1" smtClean="0"/>
              <a:t>title</a:t>
            </a:r>
            <a:r>
              <a:rPr lang="pt-BR" dirty="0" smtClean="0"/>
              <a:t>&gt;</a:t>
            </a:r>
          </a:p>
          <a:p>
            <a:pPr marL="914400" lvl="2" indent="0">
              <a:buNone/>
            </a:pPr>
            <a:endParaRPr lang="pt-BR" dirty="0"/>
          </a:p>
          <a:p>
            <a:pPr marL="914400" lvl="2" indent="0">
              <a:buNone/>
            </a:pPr>
            <a:r>
              <a:rPr lang="pt-BR" dirty="0" smtClean="0"/>
              <a:t>TERRA – </a:t>
            </a:r>
            <a:r>
              <a:rPr lang="pt-BR" dirty="0" smtClean="0">
                <a:hlinkClick r:id="rId3"/>
              </a:rPr>
              <a:t>http://www.terra.com.br</a:t>
            </a:r>
            <a:endParaRPr lang="pt-BR" dirty="0" smtClean="0"/>
          </a:p>
          <a:p>
            <a:pPr marL="914400" lvl="2" indent="0">
              <a:buNone/>
            </a:pPr>
            <a:r>
              <a:rPr lang="pt-BR" dirty="0" smtClean="0"/>
              <a:t>&lt;</a:t>
            </a:r>
            <a:r>
              <a:rPr lang="pt-BR" dirty="0" err="1" smtClean="0"/>
              <a:t>title</a:t>
            </a:r>
            <a:r>
              <a:rPr lang="pt-BR" dirty="0" smtClean="0"/>
              <a:t>&gt;Terra – Notícias, vídeos, esportes, economia, diversão, música, moda, </a:t>
            </a:r>
            <a:r>
              <a:rPr lang="pt-BR" dirty="0" err="1" smtClean="0"/>
              <a:t>fotolog</a:t>
            </a:r>
            <a:r>
              <a:rPr lang="pt-BR" dirty="0" smtClean="0"/>
              <a:t>, blog, chat&lt;/</a:t>
            </a:r>
            <a:r>
              <a:rPr lang="pt-BR" dirty="0" err="1" smtClean="0"/>
              <a:t>title</a:t>
            </a:r>
            <a:r>
              <a:rPr lang="pt-BR" dirty="0" smtClean="0"/>
              <a:t>&gt;</a:t>
            </a:r>
          </a:p>
          <a:p>
            <a:pPr marL="914400" lvl="2" indent="0">
              <a:buNone/>
            </a:pPr>
            <a:endParaRPr lang="pt-BR" dirty="0"/>
          </a:p>
          <a:p>
            <a:r>
              <a:rPr lang="pt-BR" dirty="0" smtClean="0"/>
              <a:t>A correta atribuição e nomenclatura dos elementos </a:t>
            </a:r>
            <a:r>
              <a:rPr lang="pt-BR" dirty="0" err="1" smtClean="0"/>
              <a:t>title</a:t>
            </a:r>
            <a:r>
              <a:rPr lang="pt-BR" dirty="0" smtClean="0"/>
              <a:t> de cada um dos documentos que </a:t>
            </a:r>
            <a:r>
              <a:rPr lang="pt-BR" dirty="0" err="1" smtClean="0"/>
              <a:t>compÕem</a:t>
            </a:r>
            <a:r>
              <a:rPr lang="pt-BR" dirty="0" smtClean="0"/>
              <a:t> uma aplicação web é fundamental para a correta indexação do seu conteúdo pelos mecanismos de busca.</a:t>
            </a:r>
          </a:p>
        </p:txBody>
      </p:sp>
    </p:spTree>
    <p:extLst>
      <p:ext uri="{BB962C8B-B14F-4D97-AF65-F5344CB8AC3E}">
        <p14:creationId xmlns:p14="http://schemas.microsoft.com/office/powerpoint/2010/main" val="35937732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Estrutura do Documento</a:t>
            </a:r>
            <a:endParaRPr lang="pt-BR" dirty="0"/>
          </a:p>
        </p:txBody>
      </p:sp>
      <p:sp>
        <p:nvSpPr>
          <p:cNvPr id="3" name="Espaço Reservado para Conteúdo 2"/>
          <p:cNvSpPr>
            <a:spLocks noGrp="1"/>
          </p:cNvSpPr>
          <p:nvPr>
            <p:ph idx="1"/>
          </p:nvPr>
        </p:nvSpPr>
        <p:spPr/>
        <p:txBody>
          <a:bodyPr>
            <a:normAutofit fontScale="62500" lnSpcReduction="20000"/>
          </a:bodyPr>
          <a:lstStyle/>
          <a:p>
            <a:r>
              <a:rPr lang="pt-BR" dirty="0" smtClean="0"/>
              <a:t>Base</a:t>
            </a:r>
          </a:p>
          <a:p>
            <a:pPr lvl="1"/>
            <a:r>
              <a:rPr lang="pt-BR" dirty="0" smtClean="0"/>
              <a:t>Indica uma URL de onde provêm os recursos externos incorporados em um documento. Podem ser imagens, folhas de estilo, scripts e outros serviços.</a:t>
            </a:r>
          </a:p>
          <a:p>
            <a:pPr lvl="1"/>
            <a:r>
              <a:rPr lang="pt-BR" dirty="0" smtClean="0"/>
              <a:t>Seu uso nem sempre é visto porque, quando o elemento base não é especificado, por padrão, ele assume o valor da URL principal.</a:t>
            </a:r>
          </a:p>
          <a:p>
            <a:pPr lvl="1"/>
            <a:r>
              <a:rPr lang="pt-BR" dirty="0" smtClean="0"/>
              <a:t>Exemplo:</a:t>
            </a:r>
          </a:p>
          <a:p>
            <a:pPr marL="914400" lvl="2" indent="0">
              <a:buNone/>
            </a:pPr>
            <a:r>
              <a:rPr lang="pt-BR" dirty="0" smtClean="0"/>
              <a:t>&lt;DOCTYPE  </a:t>
            </a:r>
            <a:r>
              <a:rPr lang="pt-BR" dirty="0" err="1" smtClean="0"/>
              <a:t>html</a:t>
            </a:r>
            <a:r>
              <a:rPr lang="pt-BR" dirty="0" smtClean="0"/>
              <a:t>&gt;</a:t>
            </a:r>
          </a:p>
          <a:p>
            <a:pPr marL="914400" lvl="2" indent="0">
              <a:buNone/>
            </a:pPr>
            <a:r>
              <a:rPr lang="pt-BR" dirty="0" smtClean="0"/>
              <a:t>&lt;</a:t>
            </a:r>
            <a:r>
              <a:rPr lang="pt-BR" dirty="0" err="1" smtClean="0"/>
              <a:t>html</a:t>
            </a:r>
            <a:r>
              <a:rPr lang="pt-BR" dirty="0" smtClean="0"/>
              <a:t>&gt;</a:t>
            </a:r>
          </a:p>
          <a:p>
            <a:pPr marL="914400" lvl="2" indent="0">
              <a:buNone/>
            </a:pPr>
            <a:r>
              <a:rPr lang="pt-BR" dirty="0" smtClean="0"/>
              <a:t>&lt;</a:t>
            </a:r>
            <a:r>
              <a:rPr lang="pt-BR" dirty="0" err="1" smtClean="0"/>
              <a:t>head</a:t>
            </a:r>
            <a:r>
              <a:rPr lang="pt-BR" dirty="0" smtClean="0"/>
              <a:t>&gt;</a:t>
            </a:r>
          </a:p>
          <a:p>
            <a:pPr marL="914400" lvl="2" indent="0">
              <a:buNone/>
            </a:pPr>
            <a:r>
              <a:rPr lang="pt-BR" dirty="0" smtClean="0"/>
              <a:t>&lt;</a:t>
            </a:r>
            <a:r>
              <a:rPr lang="pt-BR" dirty="0" err="1" smtClean="0"/>
              <a:t>title</a:t>
            </a:r>
            <a:r>
              <a:rPr lang="pt-BR" dirty="0" smtClean="0"/>
              <a:t>&gt;Site&lt;/</a:t>
            </a:r>
            <a:r>
              <a:rPr lang="pt-BR" dirty="0" err="1" smtClean="0"/>
              <a:t>title</a:t>
            </a:r>
            <a:r>
              <a:rPr lang="pt-BR" dirty="0" smtClean="0"/>
              <a:t>&gt;</a:t>
            </a:r>
          </a:p>
          <a:p>
            <a:pPr marL="914400" lvl="2" indent="0">
              <a:buNone/>
            </a:pPr>
            <a:r>
              <a:rPr lang="pt-BR" dirty="0" smtClean="0"/>
              <a:t>&lt;base </a:t>
            </a:r>
            <a:r>
              <a:rPr lang="pt-BR" dirty="0" err="1" smtClean="0"/>
              <a:t>href</a:t>
            </a:r>
            <a:r>
              <a:rPr lang="pt-BR" dirty="0" smtClean="0"/>
              <a:t>=</a:t>
            </a:r>
            <a:r>
              <a:rPr lang="pt-BR" dirty="0" smtClean="0">
                <a:hlinkClick r:id="rId2"/>
              </a:rPr>
              <a:t>http://www.site.com/index.html</a:t>
            </a:r>
            <a:r>
              <a:rPr lang="pt-BR" dirty="0" smtClean="0"/>
              <a:t> /&gt;</a:t>
            </a:r>
          </a:p>
          <a:p>
            <a:pPr marL="914400" lvl="2" indent="0">
              <a:buNone/>
            </a:pPr>
            <a:r>
              <a:rPr lang="pt-BR" dirty="0" smtClean="0"/>
              <a:t>&lt;/</a:t>
            </a:r>
            <a:r>
              <a:rPr lang="pt-BR" dirty="0" err="1" smtClean="0"/>
              <a:t>head</a:t>
            </a:r>
            <a:r>
              <a:rPr lang="pt-BR" dirty="0" smtClean="0"/>
              <a:t>&gt;</a:t>
            </a:r>
          </a:p>
          <a:p>
            <a:pPr marL="914400" lvl="2" indent="0">
              <a:buNone/>
            </a:pPr>
            <a:r>
              <a:rPr lang="pt-BR" dirty="0" smtClean="0"/>
              <a:t>&lt;</a:t>
            </a:r>
            <a:r>
              <a:rPr lang="pt-BR" dirty="0" err="1" smtClean="0"/>
              <a:t>body</a:t>
            </a:r>
            <a:r>
              <a:rPr lang="pt-BR" dirty="0" smtClean="0"/>
              <a:t>&gt;</a:t>
            </a:r>
          </a:p>
          <a:p>
            <a:pPr marL="914400" lvl="2" indent="0">
              <a:buNone/>
            </a:pPr>
            <a:r>
              <a:rPr lang="pt-BR" dirty="0" smtClean="0"/>
              <a:t>&lt;p&gt;&lt;a </a:t>
            </a:r>
            <a:r>
              <a:rPr lang="pt-BR" dirty="0" err="1" smtClean="0"/>
              <a:t>href</a:t>
            </a:r>
            <a:r>
              <a:rPr lang="pt-BR" dirty="0" smtClean="0"/>
              <a:t>=“fotos.html”&gt;Fotos&lt;/a&gt;&lt;/p&gt;</a:t>
            </a:r>
          </a:p>
          <a:p>
            <a:pPr marL="914400" lvl="2" indent="0">
              <a:buNone/>
            </a:pPr>
            <a:r>
              <a:rPr lang="pt-BR" dirty="0" smtClean="0"/>
              <a:t>&lt;/</a:t>
            </a:r>
            <a:r>
              <a:rPr lang="pt-BR" dirty="0" err="1" smtClean="0"/>
              <a:t>body</a:t>
            </a:r>
            <a:r>
              <a:rPr lang="pt-BR" dirty="0" smtClean="0"/>
              <a:t>&gt;</a:t>
            </a:r>
          </a:p>
          <a:p>
            <a:pPr marL="914400" lvl="2" indent="0">
              <a:buNone/>
            </a:pPr>
            <a:r>
              <a:rPr lang="pt-BR" dirty="0" smtClean="0"/>
              <a:t>&lt;/</a:t>
            </a:r>
            <a:r>
              <a:rPr lang="pt-BR" dirty="0" err="1" smtClean="0"/>
              <a:t>html</a:t>
            </a:r>
            <a:r>
              <a:rPr lang="pt-BR" dirty="0" smtClean="0"/>
              <a:t>&gt;</a:t>
            </a:r>
            <a:endParaRPr lang="pt-BR" dirty="0"/>
          </a:p>
        </p:txBody>
      </p:sp>
    </p:spTree>
    <p:extLst>
      <p:ext uri="{BB962C8B-B14F-4D97-AF65-F5344CB8AC3E}">
        <p14:creationId xmlns:p14="http://schemas.microsoft.com/office/powerpoint/2010/main" val="3880304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Estrutura do Documento</a:t>
            </a:r>
            <a:endParaRPr lang="pt-BR" dirty="0"/>
          </a:p>
        </p:txBody>
      </p:sp>
      <p:sp>
        <p:nvSpPr>
          <p:cNvPr id="3" name="Espaço Reservado para Conteúdo 2"/>
          <p:cNvSpPr>
            <a:spLocks noGrp="1"/>
          </p:cNvSpPr>
          <p:nvPr>
            <p:ph idx="1"/>
          </p:nvPr>
        </p:nvSpPr>
        <p:spPr/>
        <p:txBody>
          <a:bodyPr>
            <a:normAutofit lnSpcReduction="10000"/>
          </a:bodyPr>
          <a:lstStyle/>
          <a:p>
            <a:r>
              <a:rPr lang="pt-BR" dirty="0" smtClean="0"/>
              <a:t>Link</a:t>
            </a:r>
          </a:p>
          <a:p>
            <a:pPr lvl="1"/>
            <a:r>
              <a:rPr lang="pt-BR" dirty="0" smtClean="0"/>
              <a:t>Não cria um link visível no documento, mas gera </a:t>
            </a:r>
            <a:r>
              <a:rPr lang="pt-BR" dirty="0" err="1" smtClean="0"/>
              <a:t>metadados</a:t>
            </a:r>
            <a:r>
              <a:rPr lang="pt-BR" dirty="0" smtClean="0"/>
              <a:t> que são interpretados pelo navegador.</a:t>
            </a:r>
          </a:p>
          <a:p>
            <a:pPr marL="457200" lvl="1" indent="0">
              <a:buNone/>
            </a:pPr>
            <a:r>
              <a:rPr lang="pt-BR" dirty="0" smtClean="0"/>
              <a:t>Exemplo:</a:t>
            </a:r>
          </a:p>
          <a:p>
            <a:pPr marL="914400" lvl="2" indent="0">
              <a:buNone/>
            </a:pPr>
            <a:r>
              <a:rPr lang="pt-BR" dirty="0" smtClean="0"/>
              <a:t>Folha de estilo</a:t>
            </a:r>
          </a:p>
          <a:p>
            <a:pPr marL="914400" lvl="2" indent="0">
              <a:buNone/>
            </a:pPr>
            <a:r>
              <a:rPr lang="pt-BR" dirty="0" smtClean="0"/>
              <a:t>&lt;link </a:t>
            </a:r>
            <a:r>
              <a:rPr lang="pt-BR" dirty="0" err="1" smtClean="0"/>
              <a:t>rel</a:t>
            </a:r>
            <a:r>
              <a:rPr lang="pt-BR" dirty="0" smtClean="0"/>
              <a:t>=“</a:t>
            </a:r>
            <a:r>
              <a:rPr lang="pt-BR" dirty="0" err="1" smtClean="0"/>
              <a:t>stylesheet</a:t>
            </a:r>
            <a:r>
              <a:rPr lang="pt-BR" dirty="0" smtClean="0"/>
              <a:t>” </a:t>
            </a:r>
            <a:r>
              <a:rPr lang="pt-BR" dirty="0" err="1" smtClean="0"/>
              <a:t>href</a:t>
            </a:r>
            <a:r>
              <a:rPr lang="pt-BR" dirty="0" smtClean="0"/>
              <a:t>=“estilo.css” </a:t>
            </a:r>
            <a:r>
              <a:rPr lang="pt-BR" dirty="0" err="1" smtClean="0"/>
              <a:t>type</a:t>
            </a:r>
            <a:r>
              <a:rPr lang="pt-BR" dirty="0" smtClean="0"/>
              <a:t>=“</a:t>
            </a:r>
            <a:r>
              <a:rPr lang="pt-BR" dirty="0" err="1" smtClean="0"/>
              <a:t>text</a:t>
            </a:r>
            <a:r>
              <a:rPr lang="pt-BR" dirty="0" smtClean="0"/>
              <a:t>/</a:t>
            </a:r>
            <a:r>
              <a:rPr lang="pt-BR" dirty="0" err="1" smtClean="0"/>
              <a:t>css</a:t>
            </a:r>
            <a:r>
              <a:rPr lang="pt-BR" dirty="0" smtClean="0"/>
              <a:t>” media=“</a:t>
            </a:r>
            <a:r>
              <a:rPr lang="pt-BR" dirty="0" err="1" smtClean="0"/>
              <a:t>screen</a:t>
            </a:r>
            <a:r>
              <a:rPr lang="pt-BR" dirty="0" smtClean="0"/>
              <a:t>” /&gt;</a:t>
            </a:r>
          </a:p>
          <a:p>
            <a:pPr lvl="2"/>
            <a:endParaRPr lang="pt-BR" dirty="0"/>
          </a:p>
          <a:p>
            <a:pPr marL="914400" lvl="2" indent="0">
              <a:buNone/>
            </a:pPr>
            <a:r>
              <a:rPr lang="pt-BR" dirty="0" smtClean="0"/>
              <a:t>Ícone favoritos</a:t>
            </a:r>
          </a:p>
          <a:p>
            <a:pPr marL="914400" lvl="2" indent="0">
              <a:buNone/>
            </a:pPr>
            <a:r>
              <a:rPr lang="pt-BR" dirty="0" smtClean="0"/>
              <a:t>&lt;link </a:t>
            </a:r>
            <a:r>
              <a:rPr lang="pt-BR" dirty="0" err="1" smtClean="0"/>
              <a:t>rel</a:t>
            </a:r>
            <a:r>
              <a:rPr lang="pt-BR" dirty="0" smtClean="0"/>
              <a:t>=“</a:t>
            </a:r>
            <a:r>
              <a:rPr lang="pt-BR" dirty="0" err="1" smtClean="0"/>
              <a:t>icon</a:t>
            </a:r>
            <a:r>
              <a:rPr lang="pt-BR" dirty="0" smtClean="0"/>
              <a:t>” </a:t>
            </a:r>
            <a:r>
              <a:rPr lang="pt-BR" dirty="0" err="1" smtClean="0"/>
              <a:t>href</a:t>
            </a:r>
            <a:r>
              <a:rPr lang="pt-BR" dirty="0" smtClean="0"/>
              <a:t>=“/</a:t>
            </a:r>
            <a:r>
              <a:rPr lang="pt-BR" dirty="0" err="1" smtClean="0"/>
              <a:t>img</a:t>
            </a:r>
            <a:r>
              <a:rPr lang="pt-BR" dirty="0" smtClean="0"/>
              <a:t>/favicon.ico” </a:t>
            </a:r>
            <a:r>
              <a:rPr lang="pt-BR" dirty="0" err="1" smtClean="0"/>
              <a:t>type</a:t>
            </a:r>
            <a:r>
              <a:rPr lang="pt-BR" dirty="0" smtClean="0"/>
              <a:t>=“</a:t>
            </a:r>
            <a:r>
              <a:rPr lang="pt-BR" dirty="0" err="1" smtClean="0"/>
              <a:t>image</a:t>
            </a:r>
            <a:r>
              <a:rPr lang="pt-BR" dirty="0" smtClean="0"/>
              <a:t>/x-</a:t>
            </a:r>
            <a:r>
              <a:rPr lang="pt-BR" dirty="0" err="1" smtClean="0"/>
              <a:t>icon</a:t>
            </a:r>
            <a:r>
              <a:rPr lang="pt-BR" dirty="0" smtClean="0"/>
              <a:t>” /&gt;</a:t>
            </a:r>
            <a:endParaRPr lang="pt-BR" dirty="0"/>
          </a:p>
        </p:txBody>
      </p:sp>
    </p:spTree>
    <p:extLst>
      <p:ext uri="{BB962C8B-B14F-4D97-AF65-F5344CB8AC3E}">
        <p14:creationId xmlns:p14="http://schemas.microsoft.com/office/powerpoint/2010/main" val="28804171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Estrutura do Documento</a:t>
            </a:r>
            <a:endParaRPr lang="pt-BR" dirty="0"/>
          </a:p>
        </p:txBody>
      </p:sp>
      <p:sp>
        <p:nvSpPr>
          <p:cNvPr id="3" name="Espaço Reservado para Conteúdo 2"/>
          <p:cNvSpPr>
            <a:spLocks noGrp="1"/>
          </p:cNvSpPr>
          <p:nvPr>
            <p:ph idx="1"/>
          </p:nvPr>
        </p:nvSpPr>
        <p:spPr/>
        <p:txBody>
          <a:bodyPr/>
          <a:lstStyle/>
          <a:p>
            <a:r>
              <a:rPr lang="pt-BR" dirty="0" smtClean="0"/>
              <a:t>Meta</a:t>
            </a:r>
          </a:p>
          <a:p>
            <a:pPr lvl="1"/>
            <a:r>
              <a:rPr lang="pt-BR" dirty="0" err="1" smtClean="0"/>
              <a:t>Keywords</a:t>
            </a:r>
            <a:r>
              <a:rPr lang="pt-BR" dirty="0" smtClean="0"/>
              <a:t> - Palavras chave</a:t>
            </a:r>
          </a:p>
          <a:p>
            <a:pPr marL="914400" lvl="2" indent="0">
              <a:buNone/>
            </a:pPr>
            <a:r>
              <a:rPr lang="pt-BR" dirty="0" smtClean="0"/>
              <a:t>&lt;meta </a:t>
            </a:r>
            <a:r>
              <a:rPr lang="pt-BR" dirty="0" err="1" smtClean="0"/>
              <a:t>name</a:t>
            </a:r>
            <a:r>
              <a:rPr lang="pt-BR" dirty="0" smtClean="0"/>
              <a:t>=“</a:t>
            </a:r>
            <a:r>
              <a:rPr lang="pt-BR" dirty="0" err="1" smtClean="0"/>
              <a:t>keywords</a:t>
            </a:r>
            <a:r>
              <a:rPr lang="pt-BR" dirty="0" smtClean="0"/>
              <a:t>” </a:t>
            </a:r>
            <a:r>
              <a:rPr lang="pt-BR" dirty="0" err="1" smtClean="0"/>
              <a:t>content</a:t>
            </a:r>
            <a:r>
              <a:rPr lang="pt-BR" dirty="0" smtClean="0"/>
              <a:t>=“...” /&gt;</a:t>
            </a:r>
          </a:p>
          <a:p>
            <a:pPr lvl="1"/>
            <a:r>
              <a:rPr lang="pt-BR" dirty="0" err="1" smtClean="0"/>
              <a:t>Description</a:t>
            </a:r>
            <a:r>
              <a:rPr lang="pt-BR" dirty="0" smtClean="0"/>
              <a:t> – Descrição</a:t>
            </a:r>
          </a:p>
          <a:p>
            <a:pPr marL="914400" lvl="2" indent="0">
              <a:buNone/>
            </a:pPr>
            <a:r>
              <a:rPr lang="pt-BR" dirty="0"/>
              <a:t>&lt;meta </a:t>
            </a:r>
            <a:r>
              <a:rPr lang="pt-BR" dirty="0" err="1"/>
              <a:t>name</a:t>
            </a:r>
            <a:r>
              <a:rPr lang="pt-BR" dirty="0" smtClean="0"/>
              <a:t>=“</a:t>
            </a:r>
            <a:r>
              <a:rPr lang="pt-BR" dirty="0" err="1" smtClean="0"/>
              <a:t>description</a:t>
            </a:r>
            <a:r>
              <a:rPr lang="pt-BR" dirty="0" smtClean="0"/>
              <a:t>” </a:t>
            </a:r>
            <a:r>
              <a:rPr lang="pt-BR" dirty="0" err="1"/>
              <a:t>content</a:t>
            </a:r>
            <a:r>
              <a:rPr lang="pt-BR" dirty="0"/>
              <a:t>=“...” </a:t>
            </a:r>
            <a:r>
              <a:rPr lang="pt-BR" dirty="0" smtClean="0"/>
              <a:t>/&gt;</a:t>
            </a:r>
          </a:p>
          <a:p>
            <a:pPr lvl="1"/>
            <a:r>
              <a:rPr lang="pt-BR" dirty="0" err="1" smtClean="0"/>
              <a:t>Author</a:t>
            </a:r>
            <a:r>
              <a:rPr lang="pt-BR" dirty="0" smtClean="0"/>
              <a:t> – Autor do documento</a:t>
            </a:r>
          </a:p>
          <a:p>
            <a:pPr marL="914400" lvl="2" indent="0">
              <a:buNone/>
            </a:pPr>
            <a:r>
              <a:rPr lang="pt-BR" dirty="0"/>
              <a:t>&lt;meta </a:t>
            </a:r>
            <a:r>
              <a:rPr lang="pt-BR" dirty="0" err="1"/>
              <a:t>name</a:t>
            </a:r>
            <a:r>
              <a:rPr lang="pt-BR" dirty="0" smtClean="0"/>
              <a:t>=“</a:t>
            </a:r>
            <a:r>
              <a:rPr lang="pt-BR" dirty="0" err="1" smtClean="0"/>
              <a:t>author</a:t>
            </a:r>
            <a:r>
              <a:rPr lang="pt-BR" dirty="0" smtClean="0"/>
              <a:t>” </a:t>
            </a:r>
            <a:r>
              <a:rPr lang="pt-BR" dirty="0" err="1"/>
              <a:t>content</a:t>
            </a:r>
            <a:r>
              <a:rPr lang="pt-BR" dirty="0"/>
              <a:t>=“...” </a:t>
            </a:r>
            <a:r>
              <a:rPr lang="pt-BR" dirty="0" smtClean="0"/>
              <a:t>/&gt;</a:t>
            </a:r>
          </a:p>
          <a:p>
            <a:pPr lvl="1"/>
            <a:endParaRPr lang="pt-BR" dirty="0"/>
          </a:p>
        </p:txBody>
      </p:sp>
    </p:spTree>
    <p:extLst>
      <p:ext uri="{BB962C8B-B14F-4D97-AF65-F5344CB8AC3E}">
        <p14:creationId xmlns:p14="http://schemas.microsoft.com/office/powerpoint/2010/main" val="10492167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Estrutura do Documento</a:t>
            </a:r>
            <a:endParaRPr lang="pt-BR" dirty="0"/>
          </a:p>
        </p:txBody>
      </p:sp>
      <p:sp>
        <p:nvSpPr>
          <p:cNvPr id="3" name="Espaço Reservado para Conteúdo 2"/>
          <p:cNvSpPr>
            <a:spLocks noGrp="1"/>
          </p:cNvSpPr>
          <p:nvPr>
            <p:ph idx="1"/>
          </p:nvPr>
        </p:nvSpPr>
        <p:spPr/>
        <p:txBody>
          <a:bodyPr>
            <a:normAutofit fontScale="92500" lnSpcReduction="10000"/>
          </a:bodyPr>
          <a:lstStyle/>
          <a:p>
            <a:r>
              <a:rPr lang="pt-BR" dirty="0" err="1" smtClean="0"/>
              <a:t>Style</a:t>
            </a:r>
            <a:endParaRPr lang="pt-BR" dirty="0" smtClean="0"/>
          </a:p>
          <a:p>
            <a:pPr lvl="1"/>
            <a:r>
              <a:rPr lang="pt-BR" dirty="0" smtClean="0"/>
              <a:t>É o elemento que permite embutir indicações da camada de estilo (CSS) dentro do documento</a:t>
            </a:r>
          </a:p>
          <a:p>
            <a:pPr marL="914400" lvl="2" indent="0">
              <a:buNone/>
            </a:pPr>
            <a:r>
              <a:rPr lang="pt-BR" dirty="0" smtClean="0"/>
              <a:t>&lt;</a:t>
            </a:r>
            <a:r>
              <a:rPr lang="pt-BR" dirty="0" err="1" smtClean="0"/>
              <a:t>style</a:t>
            </a:r>
            <a:r>
              <a:rPr lang="pt-BR" dirty="0" smtClean="0"/>
              <a:t> </a:t>
            </a:r>
            <a:r>
              <a:rPr lang="pt-BR" dirty="0" err="1" smtClean="0"/>
              <a:t>type</a:t>
            </a:r>
            <a:r>
              <a:rPr lang="pt-BR" dirty="0" smtClean="0"/>
              <a:t>=“</a:t>
            </a:r>
            <a:r>
              <a:rPr lang="pt-BR" dirty="0" err="1" smtClean="0"/>
              <a:t>text</a:t>
            </a:r>
            <a:r>
              <a:rPr lang="pt-BR" dirty="0" smtClean="0"/>
              <a:t>/</a:t>
            </a:r>
            <a:r>
              <a:rPr lang="pt-BR" dirty="0" err="1" smtClean="0"/>
              <a:t>css</a:t>
            </a:r>
            <a:r>
              <a:rPr lang="pt-BR" dirty="0" smtClean="0"/>
              <a:t>” media=“</a:t>
            </a:r>
            <a:r>
              <a:rPr lang="pt-BR" dirty="0" err="1" smtClean="0"/>
              <a:t>screen</a:t>
            </a:r>
            <a:r>
              <a:rPr lang="pt-BR" dirty="0" smtClean="0"/>
              <a:t>”&gt;</a:t>
            </a:r>
          </a:p>
          <a:p>
            <a:pPr marL="914400" lvl="2" indent="0">
              <a:buNone/>
            </a:pPr>
            <a:r>
              <a:rPr lang="pt-BR" dirty="0" smtClean="0"/>
              <a:t>p {</a:t>
            </a:r>
            <a:r>
              <a:rPr lang="pt-BR" dirty="0" err="1" smtClean="0"/>
              <a:t>font-size</a:t>
            </a:r>
            <a:r>
              <a:rPr lang="pt-BR" dirty="0" smtClean="0"/>
              <a:t>: 12px;}</a:t>
            </a:r>
          </a:p>
          <a:p>
            <a:pPr marL="914400" lvl="2" indent="0">
              <a:buNone/>
            </a:pPr>
            <a:r>
              <a:rPr lang="pt-BR" dirty="0" smtClean="0"/>
              <a:t>&lt;</a:t>
            </a:r>
            <a:r>
              <a:rPr lang="pt-BR" dirty="0" err="1" smtClean="0"/>
              <a:t>style</a:t>
            </a:r>
            <a:r>
              <a:rPr lang="pt-BR" dirty="0" smtClean="0"/>
              <a:t>&gt;</a:t>
            </a:r>
          </a:p>
          <a:p>
            <a:pPr lvl="1"/>
            <a:r>
              <a:rPr lang="pt-BR" dirty="0" smtClean="0"/>
              <a:t>No HTML5, pode ter sua escrita simplificada, sem o atributo </a:t>
            </a:r>
            <a:r>
              <a:rPr lang="pt-BR" dirty="0" err="1" smtClean="0"/>
              <a:t>type</a:t>
            </a:r>
            <a:r>
              <a:rPr lang="pt-BR" dirty="0" smtClean="0"/>
              <a:t>:</a:t>
            </a:r>
          </a:p>
          <a:p>
            <a:pPr marL="914400" lvl="2" indent="0">
              <a:buNone/>
            </a:pPr>
            <a:r>
              <a:rPr lang="pt-BR" dirty="0"/>
              <a:t>&lt;</a:t>
            </a:r>
            <a:r>
              <a:rPr lang="pt-BR" dirty="0" err="1"/>
              <a:t>style</a:t>
            </a:r>
            <a:r>
              <a:rPr lang="pt-BR" dirty="0"/>
              <a:t> </a:t>
            </a:r>
            <a:r>
              <a:rPr lang="pt-BR" dirty="0" smtClean="0"/>
              <a:t>media</a:t>
            </a:r>
            <a:r>
              <a:rPr lang="pt-BR" dirty="0"/>
              <a:t>=“</a:t>
            </a:r>
            <a:r>
              <a:rPr lang="pt-BR" dirty="0" err="1"/>
              <a:t>screen</a:t>
            </a:r>
            <a:r>
              <a:rPr lang="pt-BR" dirty="0"/>
              <a:t>”&gt;</a:t>
            </a:r>
          </a:p>
          <a:p>
            <a:pPr marL="914400" lvl="2" indent="0">
              <a:buNone/>
            </a:pPr>
            <a:r>
              <a:rPr lang="pt-BR" dirty="0"/>
              <a:t>p {</a:t>
            </a:r>
            <a:r>
              <a:rPr lang="pt-BR" dirty="0" err="1"/>
              <a:t>font-size</a:t>
            </a:r>
            <a:r>
              <a:rPr lang="pt-BR" dirty="0"/>
              <a:t>: 12px;}</a:t>
            </a:r>
          </a:p>
          <a:p>
            <a:pPr marL="914400" lvl="2" indent="0">
              <a:buNone/>
            </a:pPr>
            <a:r>
              <a:rPr lang="pt-BR" dirty="0"/>
              <a:t>&lt;</a:t>
            </a:r>
            <a:r>
              <a:rPr lang="pt-BR" dirty="0" err="1"/>
              <a:t>style</a:t>
            </a:r>
            <a:r>
              <a:rPr lang="pt-BR" dirty="0"/>
              <a:t>&gt;</a:t>
            </a:r>
          </a:p>
          <a:p>
            <a:pPr lvl="1"/>
            <a:endParaRPr lang="pt-BR" dirty="0"/>
          </a:p>
        </p:txBody>
      </p:sp>
    </p:spTree>
    <p:extLst>
      <p:ext uri="{BB962C8B-B14F-4D97-AF65-F5344CB8AC3E}">
        <p14:creationId xmlns:p14="http://schemas.microsoft.com/office/powerpoint/2010/main" val="29762773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Estrutura do Documento</a:t>
            </a:r>
            <a:endParaRPr lang="pt-BR" dirty="0"/>
          </a:p>
        </p:txBody>
      </p:sp>
      <p:sp>
        <p:nvSpPr>
          <p:cNvPr id="3" name="Espaço Reservado para Conteúdo 2"/>
          <p:cNvSpPr>
            <a:spLocks noGrp="1"/>
          </p:cNvSpPr>
          <p:nvPr>
            <p:ph idx="1"/>
          </p:nvPr>
        </p:nvSpPr>
        <p:spPr/>
        <p:txBody>
          <a:bodyPr>
            <a:normAutofit/>
          </a:bodyPr>
          <a:lstStyle/>
          <a:p>
            <a:r>
              <a:rPr lang="pt-BR" dirty="0" err="1" smtClean="0"/>
              <a:t>Style</a:t>
            </a:r>
            <a:endParaRPr lang="pt-BR" dirty="0" smtClean="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2420888"/>
            <a:ext cx="4781550" cy="3381375"/>
          </a:xfrm>
          <a:prstGeom prst="rect">
            <a:avLst/>
          </a:prstGeom>
          <a:ln w="9525">
            <a:solidFill>
              <a:schemeClr val="tx1"/>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5606693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Seções</a:t>
            </a:r>
            <a:endParaRPr lang="pt-BR" dirty="0"/>
          </a:p>
        </p:txBody>
      </p:sp>
      <p:sp>
        <p:nvSpPr>
          <p:cNvPr id="3" name="Espaço Reservado para Conteúdo 2"/>
          <p:cNvSpPr>
            <a:spLocks noGrp="1"/>
          </p:cNvSpPr>
          <p:nvPr>
            <p:ph idx="1"/>
          </p:nvPr>
        </p:nvSpPr>
        <p:spPr/>
        <p:txBody>
          <a:bodyPr>
            <a:normAutofit fontScale="92500" lnSpcReduction="20000"/>
          </a:bodyPr>
          <a:lstStyle/>
          <a:p>
            <a:r>
              <a:rPr lang="pt-BR" dirty="0" smtClean="0"/>
              <a:t>Uma das maiores novidade do HTML5 é a possibilidade de atribuir às diversas seções estruturais do documento um elemento próprio, nativo da linguagem.</a:t>
            </a:r>
          </a:p>
          <a:p>
            <a:pPr lvl="1"/>
            <a:r>
              <a:rPr lang="pt-BR" dirty="0" err="1"/>
              <a:t>a</a:t>
            </a:r>
            <a:r>
              <a:rPr lang="pt-BR" dirty="0" err="1" smtClean="0"/>
              <a:t>rticle</a:t>
            </a:r>
            <a:endParaRPr lang="pt-BR" dirty="0" smtClean="0"/>
          </a:p>
          <a:p>
            <a:pPr lvl="1"/>
            <a:r>
              <a:rPr lang="pt-BR" dirty="0" err="1" smtClean="0"/>
              <a:t>aside</a:t>
            </a:r>
            <a:endParaRPr lang="pt-BR" dirty="0" smtClean="0"/>
          </a:p>
          <a:p>
            <a:pPr lvl="1"/>
            <a:r>
              <a:rPr lang="pt-BR" dirty="0" err="1"/>
              <a:t>f</a:t>
            </a:r>
            <a:r>
              <a:rPr lang="pt-BR" dirty="0" err="1" smtClean="0"/>
              <a:t>ooter</a:t>
            </a:r>
            <a:endParaRPr lang="pt-BR" dirty="0" smtClean="0"/>
          </a:p>
          <a:p>
            <a:pPr lvl="1"/>
            <a:r>
              <a:rPr lang="pt-BR" dirty="0"/>
              <a:t>h</a:t>
            </a:r>
            <a:r>
              <a:rPr lang="pt-BR" dirty="0" smtClean="0"/>
              <a:t>eader</a:t>
            </a:r>
          </a:p>
          <a:p>
            <a:pPr lvl="1"/>
            <a:r>
              <a:rPr lang="pt-BR" dirty="0" err="1"/>
              <a:t>h</a:t>
            </a:r>
            <a:r>
              <a:rPr lang="pt-BR" dirty="0" err="1" smtClean="0"/>
              <a:t>group</a:t>
            </a:r>
            <a:endParaRPr lang="pt-BR" dirty="0" smtClean="0"/>
          </a:p>
          <a:p>
            <a:pPr lvl="1"/>
            <a:r>
              <a:rPr lang="pt-BR" dirty="0" err="1"/>
              <a:t>n</a:t>
            </a:r>
            <a:r>
              <a:rPr lang="pt-BR" dirty="0" err="1" smtClean="0"/>
              <a:t>av</a:t>
            </a:r>
            <a:endParaRPr lang="pt-BR" dirty="0" smtClean="0"/>
          </a:p>
          <a:p>
            <a:pPr lvl="1"/>
            <a:r>
              <a:rPr lang="pt-BR" dirty="0" err="1" smtClean="0"/>
              <a:t>section</a:t>
            </a:r>
            <a:endParaRPr lang="pt-BR" dirty="0" smtClean="0"/>
          </a:p>
          <a:p>
            <a:pPr lvl="1"/>
            <a:endParaRPr lang="pt-BR" dirty="0"/>
          </a:p>
        </p:txBody>
      </p:sp>
    </p:spTree>
    <p:extLst>
      <p:ext uri="{BB962C8B-B14F-4D97-AF65-F5344CB8AC3E}">
        <p14:creationId xmlns:p14="http://schemas.microsoft.com/office/powerpoint/2010/main" val="3836082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Seções</a:t>
            </a:r>
            <a:endParaRPr lang="pt-BR" dirty="0"/>
          </a:p>
        </p:txBody>
      </p:sp>
      <p:sp>
        <p:nvSpPr>
          <p:cNvPr id="3" name="Espaço Reservado para Conteúdo 2"/>
          <p:cNvSpPr>
            <a:spLocks noGrp="1"/>
          </p:cNvSpPr>
          <p:nvPr>
            <p:ph idx="1"/>
          </p:nvPr>
        </p:nvSpPr>
        <p:spPr/>
        <p:txBody>
          <a:bodyPr/>
          <a:lstStyle/>
          <a:p>
            <a:r>
              <a:rPr lang="pt-BR" dirty="0" err="1" smtClean="0"/>
              <a:t>Article</a:t>
            </a:r>
            <a:r>
              <a:rPr lang="pt-BR" dirty="0" smtClean="0"/>
              <a:t> –representa um conteúdo independente e altamente relevante. Pode ser um post, um artigo , um bloco de texto</a:t>
            </a:r>
            <a:endParaRPr lang="pt-BR" dirty="0"/>
          </a:p>
        </p:txBody>
      </p:sp>
    </p:spTree>
    <p:extLst>
      <p:ext uri="{BB962C8B-B14F-4D97-AF65-F5344CB8AC3E}">
        <p14:creationId xmlns:p14="http://schemas.microsoft.com/office/powerpoint/2010/main" val="7721065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Seções</a:t>
            </a:r>
            <a:endParaRPr lang="pt-BR" dirty="0"/>
          </a:p>
        </p:txBody>
      </p:sp>
      <p:sp>
        <p:nvSpPr>
          <p:cNvPr id="3" name="Espaço Reservado para Conteúdo 2"/>
          <p:cNvSpPr>
            <a:spLocks noGrp="1"/>
          </p:cNvSpPr>
          <p:nvPr>
            <p:ph idx="1"/>
          </p:nvPr>
        </p:nvSpPr>
        <p:spPr/>
        <p:txBody>
          <a:bodyPr/>
          <a:lstStyle/>
          <a:p>
            <a:r>
              <a:rPr lang="pt-BR" dirty="0" err="1" smtClean="0"/>
              <a:t>Aside</a:t>
            </a:r>
            <a:r>
              <a:rPr lang="pt-BR" dirty="0" smtClean="0"/>
              <a:t> – Define um bloco de conteúdo que faz referência ao conteúdo principal que o cerca. Pode estar em um barra lateral exibindo informações contextuais, assuntos relacionados, publicidade ou um grupo de navegação secundária.</a:t>
            </a:r>
            <a:endParaRPr lang="pt-BR" dirty="0"/>
          </a:p>
        </p:txBody>
      </p:sp>
    </p:spTree>
    <p:extLst>
      <p:ext uri="{BB962C8B-B14F-4D97-AF65-F5344CB8AC3E}">
        <p14:creationId xmlns:p14="http://schemas.microsoft.com/office/powerpoint/2010/main" val="26493759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Seções</a:t>
            </a:r>
            <a:endParaRPr lang="pt-BR" dirty="0"/>
          </a:p>
        </p:txBody>
      </p:sp>
      <p:sp>
        <p:nvSpPr>
          <p:cNvPr id="3" name="Espaço Reservado para Conteúdo 2"/>
          <p:cNvSpPr>
            <a:spLocks noGrp="1"/>
          </p:cNvSpPr>
          <p:nvPr>
            <p:ph idx="1"/>
          </p:nvPr>
        </p:nvSpPr>
        <p:spPr/>
        <p:txBody>
          <a:bodyPr/>
          <a:lstStyle/>
          <a:p>
            <a:r>
              <a:rPr lang="pt-BR" dirty="0" err="1" smtClean="0"/>
              <a:t>Footer</a:t>
            </a:r>
            <a:r>
              <a:rPr lang="pt-BR" dirty="0" smtClean="0"/>
              <a:t> – Marca a área inferior, normalmente conhecida como rodapé, do conteúdo geral do documento ou do conteúdo de uma seção específica à qual ele está subordinado.</a:t>
            </a:r>
            <a:endParaRPr lang="pt-BR" dirty="0"/>
          </a:p>
        </p:txBody>
      </p:sp>
    </p:spTree>
    <p:extLst>
      <p:ext uri="{BB962C8B-B14F-4D97-AF65-F5344CB8AC3E}">
        <p14:creationId xmlns:p14="http://schemas.microsoft.com/office/powerpoint/2010/main" val="20296987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Seções</a:t>
            </a:r>
            <a:endParaRPr lang="pt-BR" dirty="0"/>
          </a:p>
        </p:txBody>
      </p:sp>
      <p:sp>
        <p:nvSpPr>
          <p:cNvPr id="3" name="Espaço Reservado para Conteúdo 2"/>
          <p:cNvSpPr>
            <a:spLocks noGrp="1"/>
          </p:cNvSpPr>
          <p:nvPr>
            <p:ph idx="1"/>
          </p:nvPr>
        </p:nvSpPr>
        <p:spPr/>
        <p:txBody>
          <a:bodyPr/>
          <a:lstStyle/>
          <a:p>
            <a:r>
              <a:rPr lang="pt-BR" dirty="0" smtClean="0"/>
              <a:t>Header – É formado por um bloco de conteúdo que pode conter um ou mais elementos h1 até h6, campo de busca, elementos de navegação, um logo ou banner, uma introdução, um pequeno prefácio, um índice em formato de lista. Normalmente </a:t>
            </a:r>
            <a:r>
              <a:rPr lang="pt-BR" dirty="0" err="1" smtClean="0"/>
              <a:t>trabalh</a:t>
            </a:r>
            <a:r>
              <a:rPr lang="pt-BR" dirty="0" smtClean="0"/>
              <a:t> com um agregador do conteúdo do cabeçalho de um documento ou de uma seção</a:t>
            </a:r>
            <a:endParaRPr lang="pt-BR" dirty="0"/>
          </a:p>
        </p:txBody>
      </p:sp>
    </p:spTree>
    <p:extLst>
      <p:ext uri="{BB962C8B-B14F-4D97-AF65-F5344CB8AC3E}">
        <p14:creationId xmlns:p14="http://schemas.microsoft.com/office/powerpoint/2010/main" val="25387184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Seções</a:t>
            </a:r>
            <a:endParaRPr lang="pt-BR" dirty="0"/>
          </a:p>
        </p:txBody>
      </p:sp>
      <p:sp>
        <p:nvSpPr>
          <p:cNvPr id="3" name="Espaço Reservado para Conteúdo 2"/>
          <p:cNvSpPr>
            <a:spLocks noGrp="1"/>
          </p:cNvSpPr>
          <p:nvPr>
            <p:ph idx="1"/>
          </p:nvPr>
        </p:nvSpPr>
        <p:spPr/>
        <p:txBody>
          <a:bodyPr/>
          <a:lstStyle/>
          <a:p>
            <a:r>
              <a:rPr lang="pt-BR" dirty="0" err="1" smtClean="0"/>
              <a:t>Hgroup</a:t>
            </a:r>
            <a:r>
              <a:rPr lang="pt-BR" dirty="0" smtClean="0"/>
              <a:t> – Tem como função agrupar dois ou mais elementos h1 até h6 organizando-os em uma hierarquia de títulos e subtítulos</a:t>
            </a:r>
            <a:endParaRPr lang="pt-BR" dirty="0"/>
          </a:p>
        </p:txBody>
      </p:sp>
    </p:spTree>
    <p:extLst>
      <p:ext uri="{BB962C8B-B14F-4D97-AF65-F5344CB8AC3E}">
        <p14:creationId xmlns:p14="http://schemas.microsoft.com/office/powerpoint/2010/main" val="31981393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Seções</a:t>
            </a:r>
            <a:endParaRPr lang="pt-BR" dirty="0"/>
          </a:p>
        </p:txBody>
      </p:sp>
      <p:sp>
        <p:nvSpPr>
          <p:cNvPr id="3" name="Espaço Reservado para Conteúdo 2"/>
          <p:cNvSpPr>
            <a:spLocks noGrp="1"/>
          </p:cNvSpPr>
          <p:nvPr>
            <p:ph idx="1"/>
          </p:nvPr>
        </p:nvSpPr>
        <p:spPr/>
        <p:txBody>
          <a:bodyPr/>
          <a:lstStyle/>
          <a:p>
            <a:r>
              <a:rPr lang="pt-BR" dirty="0" err="1" smtClean="0"/>
              <a:t>Nav</a:t>
            </a:r>
            <a:r>
              <a:rPr lang="pt-BR" dirty="0" smtClean="0"/>
              <a:t> – É uma seção do documento que agrupa links para outras partes do site ou aplicativo. Vale ressaltar que o grupo de links do elemento </a:t>
            </a:r>
            <a:r>
              <a:rPr lang="pt-BR" dirty="0" err="1" smtClean="0"/>
              <a:t>nav</a:t>
            </a:r>
            <a:r>
              <a:rPr lang="pt-BR" dirty="0" smtClean="0"/>
              <a:t> está relacionado com a navegação primária ou global, que pode estar no cabeçalho, no rodapé ou em outras seções do documento.</a:t>
            </a:r>
            <a:endParaRPr lang="pt-BR" dirty="0"/>
          </a:p>
        </p:txBody>
      </p:sp>
    </p:spTree>
    <p:extLst>
      <p:ext uri="{BB962C8B-B14F-4D97-AF65-F5344CB8AC3E}">
        <p14:creationId xmlns:p14="http://schemas.microsoft.com/office/powerpoint/2010/main" val="31075679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Seções</a:t>
            </a:r>
            <a:endParaRPr lang="pt-BR" dirty="0"/>
          </a:p>
        </p:txBody>
      </p:sp>
      <p:sp>
        <p:nvSpPr>
          <p:cNvPr id="3" name="Espaço Reservado para Conteúdo 2"/>
          <p:cNvSpPr>
            <a:spLocks noGrp="1"/>
          </p:cNvSpPr>
          <p:nvPr>
            <p:ph idx="1"/>
          </p:nvPr>
        </p:nvSpPr>
        <p:spPr/>
        <p:txBody>
          <a:bodyPr/>
          <a:lstStyle/>
          <a:p>
            <a:r>
              <a:rPr lang="pt-BR" dirty="0" err="1" smtClean="0"/>
              <a:t>Section</a:t>
            </a:r>
            <a:r>
              <a:rPr lang="pt-BR" dirty="0" smtClean="0"/>
              <a:t> – Entre todos os elementos que marcam e definem a estrutura do documento, o elemento </a:t>
            </a:r>
            <a:r>
              <a:rPr lang="pt-BR" dirty="0" err="1" smtClean="0"/>
              <a:t>section</a:t>
            </a:r>
            <a:r>
              <a:rPr lang="pt-BR" dirty="0" smtClean="0"/>
              <a:t> é o que possui menor especificidade em sua semântica, logo, é o mais genérico. Ele pode abrigar os elementos header, </a:t>
            </a:r>
            <a:r>
              <a:rPr lang="pt-BR" dirty="0" err="1" smtClean="0"/>
              <a:t>article</a:t>
            </a:r>
            <a:r>
              <a:rPr lang="pt-BR" dirty="0" smtClean="0"/>
              <a:t> e </a:t>
            </a:r>
            <a:r>
              <a:rPr lang="pt-BR" dirty="0" err="1" smtClean="0"/>
              <a:t>footer</a:t>
            </a:r>
            <a:r>
              <a:rPr lang="pt-BR" dirty="0" smtClean="0"/>
              <a:t> e sua principal função é dividir o conteúdo em macroestruturas, em grande blocos</a:t>
            </a:r>
            <a:endParaRPr lang="pt-BR" dirty="0"/>
          </a:p>
          <a:p>
            <a:endParaRPr lang="pt-BR" dirty="0"/>
          </a:p>
        </p:txBody>
      </p:sp>
    </p:spTree>
    <p:extLst>
      <p:ext uri="{BB962C8B-B14F-4D97-AF65-F5344CB8AC3E}">
        <p14:creationId xmlns:p14="http://schemas.microsoft.com/office/powerpoint/2010/main" val="2955936962"/>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209</TotalTime>
  <Words>1680</Words>
  <Application>Microsoft Office PowerPoint</Application>
  <PresentationFormat>Apresentação na tela (4:3)</PresentationFormat>
  <Paragraphs>393</Paragraphs>
  <Slides>32</Slides>
  <Notes>1</Notes>
  <HiddenSlides>0</HiddenSlides>
  <MMClips>0</MMClips>
  <ScaleCrop>false</ScaleCrop>
  <HeadingPairs>
    <vt:vector size="4" baseType="variant">
      <vt:variant>
        <vt:lpstr>Tema</vt:lpstr>
      </vt:variant>
      <vt:variant>
        <vt:i4>1</vt:i4>
      </vt:variant>
      <vt:variant>
        <vt:lpstr>Títulos de slides</vt:lpstr>
      </vt:variant>
      <vt:variant>
        <vt:i4>32</vt:i4>
      </vt:variant>
    </vt:vector>
  </HeadingPairs>
  <TitlesOfParts>
    <vt:vector size="33" baseType="lpstr">
      <vt:lpstr>Tema do Office</vt:lpstr>
      <vt:lpstr>HTML5 e CSS3</vt:lpstr>
      <vt:lpstr>Corpo Básico</vt:lpstr>
      <vt:lpstr>Corpo Básico HTML5</vt:lpstr>
      <vt:lpstr>Corpo Básico HTML5</vt:lpstr>
      <vt:lpstr>Modelos de Conteúdo</vt:lpstr>
      <vt:lpstr>Modelos de Conteúdo</vt:lpstr>
      <vt:lpstr>Modelos de Conteúdo</vt:lpstr>
      <vt:lpstr>Modelos de Conteúdo</vt:lpstr>
      <vt:lpstr>Modelos de Conteúdo</vt:lpstr>
      <vt:lpstr>Modelos de Conteúdo</vt:lpstr>
      <vt:lpstr>Modelos de Conteúdo</vt:lpstr>
      <vt:lpstr>Modelos de Conteúdo</vt:lpstr>
      <vt:lpstr>Modelos de Conteúdo</vt:lpstr>
      <vt:lpstr>Modelos de Conteúdo</vt:lpstr>
      <vt:lpstr>Modelos de Conteúdo</vt:lpstr>
      <vt:lpstr>Modelos de Conteúdo</vt:lpstr>
      <vt:lpstr>Modelos de Conteúdo</vt:lpstr>
      <vt:lpstr>Estrutura do Documento</vt:lpstr>
      <vt:lpstr>Estrutura do Documento</vt:lpstr>
      <vt:lpstr>Estrutura do Documento</vt:lpstr>
      <vt:lpstr>Estrutura do Documento</vt:lpstr>
      <vt:lpstr>Estrutura do Documento</vt:lpstr>
      <vt:lpstr>Estrutura do Documento</vt:lpstr>
      <vt:lpstr>Estrutura do Documento</vt:lpstr>
      <vt:lpstr>Seções</vt:lpstr>
      <vt:lpstr>Seções</vt:lpstr>
      <vt:lpstr>Seções</vt:lpstr>
      <vt:lpstr>Seções</vt:lpstr>
      <vt:lpstr>Seções</vt:lpstr>
      <vt:lpstr>Seções</vt:lpstr>
      <vt:lpstr>Seções</vt:lpstr>
      <vt:lpstr>Seções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HTML5 e CSS3</dc:title>
  <dc:creator>Daniel Yuthaka Kawasaki</dc:creator>
  <cp:lastModifiedBy>Daniel Yuthaka Kawasaki</cp:lastModifiedBy>
  <cp:revision>20</cp:revision>
  <dcterms:created xsi:type="dcterms:W3CDTF">2013-10-19T12:58:25Z</dcterms:created>
  <dcterms:modified xsi:type="dcterms:W3CDTF">2013-10-19T18:52:02Z</dcterms:modified>
</cp:coreProperties>
</file>