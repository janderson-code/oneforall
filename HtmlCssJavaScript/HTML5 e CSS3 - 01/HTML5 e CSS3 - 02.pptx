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96" r:id="rId4"/>
    <p:sldId id="280" r:id="rId5"/>
    <p:sldId id="281" r:id="rId6"/>
    <p:sldId id="258" r:id="rId7"/>
    <p:sldId id="266" r:id="rId8"/>
    <p:sldId id="269" r:id="rId9"/>
    <p:sldId id="267" r:id="rId10"/>
    <p:sldId id="268" r:id="rId11"/>
    <p:sldId id="259" r:id="rId12"/>
    <p:sldId id="270" r:id="rId13"/>
    <p:sldId id="260" r:id="rId14"/>
    <p:sldId id="276" r:id="rId15"/>
    <p:sldId id="273" r:id="rId16"/>
    <p:sldId id="274" r:id="rId17"/>
    <p:sldId id="275" r:id="rId18"/>
    <p:sldId id="261" r:id="rId19"/>
    <p:sldId id="277" r:id="rId20"/>
    <p:sldId id="278" r:id="rId21"/>
    <p:sldId id="279" r:id="rId22"/>
    <p:sldId id="265" r:id="rId23"/>
    <p:sldId id="272" r:id="rId24"/>
    <p:sldId id="262" r:id="rId25"/>
    <p:sldId id="271" r:id="rId26"/>
    <p:sldId id="263" r:id="rId27"/>
    <p:sldId id="264" r:id="rId28"/>
    <p:sldId id="284" r:id="rId29"/>
    <p:sldId id="287" r:id="rId30"/>
    <p:sldId id="282" r:id="rId31"/>
    <p:sldId id="283" r:id="rId32"/>
    <p:sldId id="286" r:id="rId33"/>
    <p:sldId id="288" r:id="rId34"/>
    <p:sldId id="289" r:id="rId35"/>
    <p:sldId id="290" r:id="rId36"/>
    <p:sldId id="291" r:id="rId37"/>
    <p:sldId id="292" r:id="rId38"/>
    <p:sldId id="293" r:id="rId39"/>
    <p:sldId id="294" r:id="rId40"/>
    <p:sldId id="295"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6" r:id="rId70"/>
    <p:sldId id="325" r:id="rId71"/>
    <p:sldId id="327" r:id="rId72"/>
    <p:sldId id="328" r:id="rId73"/>
    <p:sldId id="329" r:id="rId74"/>
    <p:sldId id="330" r:id="rId75"/>
    <p:sldId id="331" r:id="rId76"/>
    <p:sldId id="333" r:id="rId77"/>
    <p:sldId id="332" r:id="rId78"/>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DDD9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14" autoAdjust="0"/>
    <p:restoredTop sz="94660"/>
  </p:normalViewPr>
  <p:slideViewPr>
    <p:cSldViewPr>
      <p:cViewPr>
        <p:scale>
          <a:sx n="54" d="100"/>
          <a:sy n="54" d="100"/>
        </p:scale>
        <p:origin x="-1854" y="-11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38EF73A4-A69F-401C-A52D-18B4F3210F9F}" type="datetimeFigureOut">
              <a:rPr lang="pt-BR" smtClean="0"/>
              <a:t>29/10/2013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2354612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8EF73A4-A69F-401C-A52D-18B4F3210F9F}" type="datetimeFigureOut">
              <a:rPr lang="pt-BR" smtClean="0"/>
              <a:t>29/10/2013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2949270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38EF73A4-A69F-401C-A52D-18B4F3210F9F}" type="datetimeFigureOut">
              <a:rPr lang="pt-BR" smtClean="0"/>
              <a:t>29/10/2013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365522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38EF73A4-A69F-401C-A52D-18B4F3210F9F}" type="datetimeFigureOut">
              <a:rPr lang="pt-BR" smtClean="0"/>
              <a:t>29/10/2013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3699561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38EF73A4-A69F-401C-A52D-18B4F3210F9F}" type="datetimeFigureOut">
              <a:rPr lang="pt-BR" smtClean="0"/>
              <a:t>29/10/2013</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557233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38EF73A4-A69F-401C-A52D-18B4F3210F9F}" type="datetimeFigureOut">
              <a:rPr lang="pt-BR" smtClean="0"/>
              <a:t>29/10/2013</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2677758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8EF73A4-A69F-401C-A52D-18B4F3210F9F}" type="datetimeFigureOut">
              <a:rPr lang="pt-BR" smtClean="0"/>
              <a:t>29/10/2013</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26752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38EF73A4-A69F-401C-A52D-18B4F3210F9F}" type="datetimeFigureOut">
              <a:rPr lang="pt-BR" smtClean="0"/>
              <a:t>29/10/2013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2672516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38EF73A4-A69F-401C-A52D-18B4F3210F9F}" type="datetimeFigureOut">
              <a:rPr lang="pt-BR" smtClean="0"/>
              <a:t>29/10/2013</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278014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8EF73A4-A69F-401C-A52D-18B4F3210F9F}" type="datetimeFigureOut">
              <a:rPr lang="pt-BR" smtClean="0"/>
              <a:t>29/10/2013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936433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8EF73A4-A69F-401C-A52D-18B4F3210F9F}" type="datetimeFigureOut">
              <a:rPr lang="pt-BR" smtClean="0"/>
              <a:t>29/10/2013</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C901DC61-30E6-4FF9-B167-91D4C712957A}" type="slidenum">
              <a:rPr lang="pt-BR" smtClean="0"/>
              <a:t>‹nº›</a:t>
            </a:fld>
            <a:endParaRPr lang="pt-BR"/>
          </a:p>
        </p:txBody>
      </p:sp>
    </p:spTree>
    <p:extLst>
      <p:ext uri="{BB962C8B-B14F-4D97-AF65-F5344CB8AC3E}">
        <p14:creationId xmlns:p14="http://schemas.microsoft.com/office/powerpoint/2010/main" val="1311362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EF73A4-A69F-401C-A52D-18B4F3210F9F}" type="datetimeFigureOut">
              <a:rPr lang="pt-BR" smtClean="0"/>
              <a:t>29/10/2013</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01DC61-30E6-4FF9-B167-91D4C712957A}" type="slidenum">
              <a:rPr lang="pt-BR" smtClean="0"/>
              <a:t>‹nº›</a:t>
            </a:fld>
            <a:endParaRPr lang="pt-BR"/>
          </a:p>
        </p:txBody>
      </p:sp>
    </p:spTree>
    <p:extLst>
      <p:ext uri="{BB962C8B-B14F-4D97-AF65-F5344CB8AC3E}">
        <p14:creationId xmlns:p14="http://schemas.microsoft.com/office/powerpoint/2010/main" val="1126840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HTML5 e CSS3</a:t>
            </a:r>
            <a:endParaRPr lang="pt-BR" dirty="0"/>
          </a:p>
        </p:txBody>
      </p:sp>
      <p:sp>
        <p:nvSpPr>
          <p:cNvPr id="3" name="Subtítulo 2"/>
          <p:cNvSpPr>
            <a:spLocks noGrp="1"/>
          </p:cNvSpPr>
          <p:nvPr>
            <p:ph type="subTitle" idx="1"/>
          </p:nvPr>
        </p:nvSpPr>
        <p:spPr/>
        <p:txBody>
          <a:bodyPr/>
          <a:lstStyle/>
          <a:p>
            <a:r>
              <a:rPr lang="pt-BR" dirty="0"/>
              <a:t>Criando </a:t>
            </a:r>
            <a:r>
              <a:rPr lang="pt-BR" dirty="0" err="1" smtClean="0"/>
              <a:t>WebSites</a:t>
            </a:r>
            <a:endParaRPr lang="pt-BR" dirty="0"/>
          </a:p>
        </p:txBody>
      </p:sp>
    </p:spTree>
    <p:extLst>
      <p:ext uri="{BB962C8B-B14F-4D97-AF65-F5344CB8AC3E}">
        <p14:creationId xmlns:p14="http://schemas.microsoft.com/office/powerpoint/2010/main" val="17916711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smtClean="0"/>
              <a:t>Estrutura do documento</a:t>
            </a:r>
            <a:endParaRPr lang="pt-BR" dirty="0"/>
          </a:p>
        </p:txBody>
      </p:sp>
      <p:sp>
        <p:nvSpPr>
          <p:cNvPr id="5" name="Espaço Reservado para Texto 4"/>
          <p:cNvSpPr>
            <a:spLocks noGrp="1"/>
          </p:cNvSpPr>
          <p:nvPr>
            <p:ph type="body" idx="1"/>
          </p:nvPr>
        </p:nvSpPr>
        <p:spPr/>
        <p:txBody>
          <a:bodyPr/>
          <a:lstStyle/>
          <a:p>
            <a:r>
              <a:rPr lang="pt-BR" dirty="0" smtClean="0"/>
              <a:t>HTML5 e CSS3</a:t>
            </a:r>
            <a:endParaRPr lang="pt-BR" dirty="0"/>
          </a:p>
        </p:txBody>
      </p:sp>
    </p:spTree>
    <p:extLst>
      <p:ext uri="{BB962C8B-B14F-4D97-AF65-F5344CB8AC3E}">
        <p14:creationId xmlns:p14="http://schemas.microsoft.com/office/powerpoint/2010/main" val="11721002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Estrutura do documento</a:t>
            </a:r>
          </a:p>
        </p:txBody>
      </p:sp>
      <p:sp>
        <p:nvSpPr>
          <p:cNvPr id="3" name="Espaço Reservado para Conteúdo 2"/>
          <p:cNvSpPr>
            <a:spLocks noGrp="1"/>
          </p:cNvSpPr>
          <p:nvPr>
            <p:ph idx="1"/>
          </p:nvPr>
        </p:nvSpPr>
        <p:spPr/>
        <p:txBody>
          <a:bodyPr>
            <a:normAutofit fontScale="92500" lnSpcReduction="20000"/>
          </a:bodyPr>
          <a:lstStyle/>
          <a:p>
            <a:r>
              <a:rPr lang="pt-BR" dirty="0"/>
              <a:t>Estrutura </a:t>
            </a:r>
            <a:r>
              <a:rPr lang="pt-BR" dirty="0" smtClean="0"/>
              <a:t>Básica</a:t>
            </a:r>
          </a:p>
          <a:p>
            <a:r>
              <a:rPr lang="pt-BR" dirty="0" smtClean="0"/>
              <a:t>Cabeçalho</a:t>
            </a:r>
          </a:p>
          <a:p>
            <a:r>
              <a:rPr lang="pt-BR" dirty="0" err="1" smtClean="0"/>
              <a:t>Article</a:t>
            </a:r>
            <a:endParaRPr lang="pt-BR" dirty="0" smtClean="0"/>
          </a:p>
          <a:p>
            <a:r>
              <a:rPr lang="pt-BR" dirty="0" err="1"/>
              <a:t>Aside</a:t>
            </a:r>
            <a:endParaRPr lang="pt-BR" dirty="0" smtClean="0"/>
          </a:p>
          <a:p>
            <a:r>
              <a:rPr lang="pt-BR" dirty="0" err="1" smtClean="0"/>
              <a:t>Footer</a:t>
            </a:r>
            <a:endParaRPr lang="pt-BR" dirty="0" smtClean="0"/>
          </a:p>
          <a:p>
            <a:r>
              <a:rPr lang="pt-BR" dirty="0"/>
              <a:t>Elementos header e </a:t>
            </a:r>
            <a:r>
              <a:rPr lang="pt-BR" dirty="0" err="1" smtClean="0"/>
              <a:t>hgroup</a:t>
            </a:r>
            <a:endParaRPr lang="pt-BR" dirty="0" smtClean="0"/>
          </a:p>
          <a:p>
            <a:r>
              <a:rPr lang="pt-BR" dirty="0" err="1"/>
              <a:t>Section</a:t>
            </a:r>
            <a:endParaRPr lang="pt-BR" dirty="0"/>
          </a:p>
          <a:p>
            <a:r>
              <a:rPr lang="pt-BR" dirty="0" err="1" smtClean="0"/>
              <a:t>Nav</a:t>
            </a:r>
            <a:endParaRPr lang="pt-BR" dirty="0" smtClean="0"/>
          </a:p>
          <a:p>
            <a:r>
              <a:rPr lang="pt-BR" dirty="0" err="1" smtClean="0"/>
              <a:t>Address</a:t>
            </a:r>
            <a:endParaRPr lang="pt-BR" dirty="0" smtClean="0"/>
          </a:p>
        </p:txBody>
      </p:sp>
    </p:spTree>
    <p:extLst>
      <p:ext uri="{BB962C8B-B14F-4D97-AF65-F5344CB8AC3E}">
        <p14:creationId xmlns:p14="http://schemas.microsoft.com/office/powerpoint/2010/main" val="41739726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t>Estrutura Básica</a:t>
            </a:r>
            <a:endParaRPr lang="pt-BR"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204864"/>
            <a:ext cx="5003912" cy="29818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2204864"/>
            <a:ext cx="5003912" cy="29818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652014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Cabeçalho</a:t>
            </a:r>
            <a:endParaRPr lang="pt-BR" b="1"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155" y="1709738"/>
            <a:ext cx="8445309" cy="41320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40419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b="1" dirty="0" err="1" smtClean="0"/>
              <a:t>Article</a:t>
            </a:r>
            <a:endParaRPr lang="pt-BR" dirty="0"/>
          </a:p>
        </p:txBody>
      </p:sp>
      <p:sp>
        <p:nvSpPr>
          <p:cNvPr id="4" name="Espaço Reservado para Conteúdo 3"/>
          <p:cNvSpPr>
            <a:spLocks noGrp="1"/>
          </p:cNvSpPr>
          <p:nvPr>
            <p:ph idx="1"/>
          </p:nvPr>
        </p:nvSpPr>
        <p:spPr/>
        <p:txBody>
          <a:bodyPr>
            <a:normAutofit fontScale="92500" lnSpcReduction="10000"/>
          </a:bodyPr>
          <a:lstStyle/>
          <a:p>
            <a:r>
              <a:rPr lang="pt-BR" dirty="0" smtClean="0"/>
              <a:t>O elemento </a:t>
            </a:r>
            <a:r>
              <a:rPr lang="pt-BR" dirty="0" err="1" smtClean="0"/>
              <a:t>article</a:t>
            </a:r>
            <a:r>
              <a:rPr lang="pt-BR" dirty="0" smtClean="0"/>
              <a:t> representa um conteúdo independente e altamente relevante, pode ser post, um artigo, um bloco de texto ou ainda um mini aplicativo embutido no conteúdo (</a:t>
            </a:r>
            <a:r>
              <a:rPr lang="pt-BR" i="1" dirty="0" err="1" smtClean="0"/>
              <a:t>widget</a:t>
            </a:r>
            <a:r>
              <a:rPr lang="pt-BR" dirty="0" smtClean="0"/>
              <a:t>). Pode marcar o conteúdo do documento a ser distribuído via RSS, indicado para impressão ou encaminhado por </a:t>
            </a:r>
            <a:r>
              <a:rPr lang="pt-BR" dirty="0" err="1" smtClean="0"/>
              <a:t>email</a:t>
            </a:r>
            <a:r>
              <a:rPr lang="pt-BR" dirty="0" smtClean="0"/>
              <a:t> devido á sua importância dentro do contexto geral do site ou da página. Normalmente é considerado o ponto central do conteúdo do documento.</a:t>
            </a:r>
            <a:endParaRPr lang="pt-BR" dirty="0"/>
          </a:p>
        </p:txBody>
      </p:sp>
    </p:spTree>
    <p:extLst>
      <p:ext uri="{BB962C8B-B14F-4D97-AF65-F5344CB8AC3E}">
        <p14:creationId xmlns:p14="http://schemas.microsoft.com/office/powerpoint/2010/main" val="22315138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Article</a:t>
            </a:r>
            <a:r>
              <a:rPr lang="pt-BR" dirty="0" smtClean="0"/>
              <a:t> – com elementos básicos</a:t>
            </a:r>
            <a:endParaRPr lang="pt-BR"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216" y="2241390"/>
            <a:ext cx="6158326" cy="3191399"/>
          </a:xfrm>
          <a:prstGeom prst="rect">
            <a:avLst/>
          </a:prstGeom>
          <a:ln w="317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
        <p:nvSpPr>
          <p:cNvPr id="3" name="Retângulo 2"/>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6" y="1124744"/>
            <a:ext cx="8980038" cy="4653681"/>
          </a:xfrm>
          <a:prstGeom prst="rect">
            <a:avLst/>
          </a:prstGeom>
          <a:ln w="317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57528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Article</a:t>
            </a:r>
            <a:r>
              <a:rPr lang="pt-BR" dirty="0" smtClean="0"/>
              <a:t> – post de um Blog</a:t>
            </a:r>
            <a:endParaRPr lang="pt-B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217" y="2377788"/>
            <a:ext cx="5043979" cy="32203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541381"/>
            <a:ext cx="8921516" cy="56959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761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err="1"/>
              <a:t>Article</a:t>
            </a:r>
            <a:r>
              <a:rPr lang="pt-BR" dirty="0"/>
              <a:t> – post de um </a:t>
            </a:r>
            <a:r>
              <a:rPr lang="pt-BR" dirty="0" smtClean="0"/>
              <a:t>Blog com comentário</a:t>
            </a:r>
            <a:endParaRPr lang="pt-B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741" y="1994638"/>
            <a:ext cx="5772542" cy="41699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51282"/>
            <a:ext cx="8784976" cy="63460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56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Article</a:t>
            </a:r>
            <a:r>
              <a:rPr lang="pt-BR" dirty="0" smtClean="0"/>
              <a:t> – dentro de única seção</a:t>
            </a:r>
            <a:endParaRPr lang="pt-B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628800"/>
            <a:ext cx="6665913" cy="4962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66" y="116632"/>
            <a:ext cx="8901844" cy="662709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625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normAutofit/>
          </a:bodyPr>
          <a:lstStyle/>
          <a:p>
            <a:r>
              <a:rPr lang="pt-BR" dirty="0" err="1" smtClean="0"/>
              <a:t>Aside</a:t>
            </a:r>
            <a:endParaRPr lang="pt-BR" dirty="0"/>
          </a:p>
        </p:txBody>
      </p:sp>
      <p:sp>
        <p:nvSpPr>
          <p:cNvPr id="4" name="Espaço Reservado para Conteúdo 3"/>
          <p:cNvSpPr>
            <a:spLocks noGrp="1"/>
          </p:cNvSpPr>
          <p:nvPr>
            <p:ph idx="1"/>
          </p:nvPr>
        </p:nvSpPr>
        <p:spPr/>
        <p:txBody>
          <a:bodyPr>
            <a:normAutofit fontScale="62500" lnSpcReduction="20000"/>
          </a:bodyPr>
          <a:lstStyle/>
          <a:p>
            <a:r>
              <a:rPr lang="pt-BR" dirty="0" smtClean="0"/>
              <a:t>O </a:t>
            </a:r>
            <a:r>
              <a:rPr lang="pt-BR" dirty="0"/>
              <a:t>elemento </a:t>
            </a:r>
            <a:r>
              <a:rPr lang="pt-BR" dirty="0" err="1"/>
              <a:t>aside</a:t>
            </a:r>
            <a:r>
              <a:rPr lang="pt-BR" dirty="0"/>
              <a:t> define um bloco de conteúdo que faz referência ao conteúdo principal que o cerca, pode estar ou não em uma barra lateral (</a:t>
            </a:r>
            <a:r>
              <a:rPr lang="pt-BR" dirty="0" err="1"/>
              <a:t>sidebar</a:t>
            </a:r>
            <a:r>
              <a:rPr lang="pt-BR" dirty="0"/>
              <a:t>) exibindo informações contextuais, assuntos relacionados, conteúdo publicitário ou um grupo de navegação secundária.</a:t>
            </a:r>
          </a:p>
          <a:p>
            <a:r>
              <a:rPr lang="pt-BR" dirty="0"/>
              <a:t>Quando usado dentro de um elemento </a:t>
            </a:r>
            <a:r>
              <a:rPr lang="pt-BR" dirty="0" err="1"/>
              <a:t>article</a:t>
            </a:r>
            <a:r>
              <a:rPr lang="pt-BR" dirty="0"/>
              <a:t>, seu conteúdo está diretamente relacionado com o conteúdo do artigo, quando usado fora de um elemento </a:t>
            </a:r>
            <a:r>
              <a:rPr lang="pt-BR" dirty="0" err="1"/>
              <a:t>article</a:t>
            </a:r>
            <a:r>
              <a:rPr lang="pt-BR" dirty="0"/>
              <a:t>, está relacionado com o conteúdo global do documento como, por exemplo, uma lista de links de um blog (</a:t>
            </a:r>
            <a:r>
              <a:rPr lang="pt-BR" dirty="0" err="1"/>
              <a:t>blogroll</a:t>
            </a:r>
            <a:r>
              <a:rPr lang="pt-BR" dirty="0"/>
              <a:t>), blocos de navegação complementar e também publicidade relacionada com conteúdo do documento.</a:t>
            </a:r>
          </a:p>
          <a:p>
            <a:r>
              <a:rPr lang="pt-BR" dirty="0"/>
              <a:t>Veja no exemplo abaixo como o primeiro elemento </a:t>
            </a:r>
            <a:r>
              <a:rPr lang="pt-BR" dirty="0" err="1"/>
              <a:t>aside</a:t>
            </a:r>
            <a:r>
              <a:rPr lang="pt-BR" dirty="0"/>
              <a:t> está diretamente relacionado ao conteúdo do elemento </a:t>
            </a:r>
            <a:r>
              <a:rPr lang="pt-BR" dirty="0" err="1"/>
              <a:t>articleacrescentando</a:t>
            </a:r>
            <a:r>
              <a:rPr lang="pt-BR" dirty="0"/>
              <a:t> informações sobre o conteúdo do artigo (especificando um determinado tipo de trompete) e como o segundo elemento </a:t>
            </a:r>
            <a:r>
              <a:rPr lang="pt-BR" dirty="0" err="1"/>
              <a:t>aside</a:t>
            </a:r>
            <a:r>
              <a:rPr lang="pt-BR" dirty="0"/>
              <a:t> oferece informações complementares sobre o conteúdo global da página (os instrumentos de metal em geral)</a:t>
            </a:r>
          </a:p>
          <a:p>
            <a:endParaRPr lang="pt-BR" dirty="0"/>
          </a:p>
        </p:txBody>
      </p:sp>
    </p:spTree>
    <p:extLst>
      <p:ext uri="{BB962C8B-B14F-4D97-AF65-F5344CB8AC3E}">
        <p14:creationId xmlns:p14="http://schemas.microsoft.com/office/powerpoint/2010/main" val="13082869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err="1" smtClean="0"/>
              <a:t>Aside</a:t>
            </a:r>
            <a:endParaRPr lang="pt-BR"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292584"/>
            <a:ext cx="5544616" cy="53716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32" y="116632"/>
            <a:ext cx="6849144" cy="663548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9854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err="1" smtClean="0"/>
              <a:t>Footer</a:t>
            </a:r>
            <a:endParaRPr lang="pt-BR" dirty="0"/>
          </a:p>
        </p:txBody>
      </p:sp>
      <p:sp>
        <p:nvSpPr>
          <p:cNvPr id="4" name="Espaço Reservado para Conteúdo 3"/>
          <p:cNvSpPr>
            <a:spLocks noGrp="1"/>
          </p:cNvSpPr>
          <p:nvPr>
            <p:ph idx="1"/>
          </p:nvPr>
        </p:nvSpPr>
        <p:spPr/>
        <p:txBody>
          <a:bodyPr>
            <a:normAutofit lnSpcReduction="10000"/>
          </a:bodyPr>
          <a:lstStyle/>
          <a:p>
            <a:r>
              <a:rPr lang="pt-BR" dirty="0" smtClean="0"/>
              <a:t>O </a:t>
            </a:r>
            <a:r>
              <a:rPr lang="pt-BR" dirty="0"/>
              <a:t>elemento </a:t>
            </a:r>
            <a:r>
              <a:rPr lang="pt-BR" dirty="0" err="1"/>
              <a:t>footer</a:t>
            </a:r>
            <a:r>
              <a:rPr lang="pt-BR" dirty="0"/>
              <a:t> marca a área inferior, normalmente conhecida como rodapé, do conteúdo geral do documento ou do conteúdo de uma seção específica a qual ele está subordinado. Pode conter um cabeçalho próprio com bloco de navegação que apontam para informações como nome do autor, links para aprofundamento (saiba mais), links relacionados, ou ainda uma lista de comentários em um blog.</a:t>
            </a:r>
          </a:p>
          <a:p>
            <a:endParaRPr lang="pt-BR" dirty="0"/>
          </a:p>
        </p:txBody>
      </p:sp>
    </p:spTree>
    <p:extLst>
      <p:ext uri="{BB962C8B-B14F-4D97-AF65-F5344CB8AC3E}">
        <p14:creationId xmlns:p14="http://schemas.microsoft.com/office/powerpoint/2010/main" val="15783848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err="1" smtClean="0"/>
              <a:t>Footer</a:t>
            </a:r>
            <a:r>
              <a:rPr lang="pt-BR" b="1" dirty="0" smtClean="0"/>
              <a:t> – função rodapé global</a:t>
            </a:r>
            <a:endParaRPr lang="pt-BR" dirty="0"/>
          </a:p>
        </p:txBody>
      </p:sp>
      <p:sp>
        <p:nvSpPr>
          <p:cNvPr id="3" name="Espaço Reservado para Conteúdo 2"/>
          <p:cNvSpPr>
            <a:spLocks noGrp="1"/>
          </p:cNvSpPr>
          <p:nvPr>
            <p:ph idx="1"/>
          </p:nvPr>
        </p:nvSpPr>
        <p:spPr/>
        <p:txBody>
          <a:bodyPr>
            <a:normAutofit fontScale="92500" lnSpcReduction="20000"/>
          </a:bodyPr>
          <a:lstStyle/>
          <a:p>
            <a:r>
              <a:rPr lang="pt-BR" dirty="0"/>
              <a:t>Como último elemento do documento, na função de rodapé global e contendo um bloco de navegação global do </a:t>
            </a:r>
            <a:r>
              <a:rPr lang="pt-BR" dirty="0" smtClean="0"/>
              <a:t>documento</a:t>
            </a:r>
          </a:p>
          <a:p>
            <a:endParaRPr lang="pt-BR" dirty="0"/>
          </a:p>
          <a:p>
            <a:endParaRPr lang="pt-BR" dirty="0" smtClean="0"/>
          </a:p>
          <a:p>
            <a:endParaRPr lang="pt-BR" dirty="0"/>
          </a:p>
          <a:p>
            <a:endParaRPr lang="pt-BR" dirty="0" smtClean="0"/>
          </a:p>
          <a:p>
            <a:endParaRPr lang="pt-BR" dirty="0"/>
          </a:p>
          <a:p>
            <a:endParaRPr lang="pt-BR" dirty="0" smtClean="0"/>
          </a:p>
          <a:p>
            <a:pPr marL="0" indent="0">
              <a:buNone/>
            </a:pPr>
            <a:r>
              <a:rPr lang="pt-BR" dirty="0"/>
              <a:t>.</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768" y="2817798"/>
            <a:ext cx="4689487" cy="3903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88640"/>
            <a:ext cx="7776906" cy="647299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200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err="1" smtClean="0"/>
              <a:t>Footer</a:t>
            </a:r>
            <a:r>
              <a:rPr lang="pt-BR" b="1" dirty="0" smtClean="0"/>
              <a:t> - rodapé </a:t>
            </a:r>
            <a:r>
              <a:rPr lang="pt-BR" b="1" dirty="0"/>
              <a:t>de uma </a:t>
            </a:r>
            <a:r>
              <a:rPr lang="pt-BR" b="1" dirty="0" smtClean="0"/>
              <a:t>seção</a:t>
            </a:r>
            <a:endParaRPr lang="pt-BR" dirty="0"/>
          </a:p>
        </p:txBody>
      </p:sp>
      <p:sp>
        <p:nvSpPr>
          <p:cNvPr id="3" name="Espaço Reservado para Conteúdo 2"/>
          <p:cNvSpPr>
            <a:spLocks noGrp="1"/>
          </p:cNvSpPr>
          <p:nvPr>
            <p:ph idx="1"/>
          </p:nvPr>
        </p:nvSpPr>
        <p:spPr/>
        <p:txBody>
          <a:bodyPr/>
          <a:lstStyle/>
          <a:p>
            <a:r>
              <a:rPr lang="pt-BR" dirty="0"/>
              <a:t>Como rodapé de uma seção específica do documento</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8" y="2708920"/>
            <a:ext cx="4387816" cy="37985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131" y="141726"/>
            <a:ext cx="7529285" cy="651815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122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err="1" smtClean="0"/>
              <a:t>Footer</a:t>
            </a:r>
            <a:r>
              <a:rPr lang="pt-BR" b="1" dirty="0" smtClean="0"/>
              <a:t> - rodapé </a:t>
            </a:r>
            <a:r>
              <a:rPr lang="pt-BR" b="1" dirty="0"/>
              <a:t>de um </a:t>
            </a:r>
            <a:r>
              <a:rPr lang="pt-BR" b="1" dirty="0" smtClean="0"/>
              <a:t>artigo</a:t>
            </a:r>
            <a:endParaRPr lang="pt-BR" dirty="0"/>
          </a:p>
        </p:txBody>
      </p:sp>
      <p:sp>
        <p:nvSpPr>
          <p:cNvPr id="3" name="Espaço Reservado para Conteúdo 2"/>
          <p:cNvSpPr>
            <a:spLocks noGrp="1"/>
          </p:cNvSpPr>
          <p:nvPr>
            <p:ph idx="1"/>
          </p:nvPr>
        </p:nvSpPr>
        <p:spPr/>
        <p:txBody>
          <a:bodyPr/>
          <a:lstStyle/>
          <a:p>
            <a:r>
              <a:rPr lang="pt-BR" dirty="0"/>
              <a:t>Como rodapé de um artigo específico do documento</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092" y="2708920"/>
            <a:ext cx="5031655" cy="38515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38" y="188640"/>
            <a:ext cx="8335118" cy="63801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56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err="1" smtClean="0"/>
              <a:t>Footer</a:t>
            </a:r>
            <a:r>
              <a:rPr lang="pt-BR" b="1" dirty="0" smtClean="0"/>
              <a:t> - rodapé </a:t>
            </a:r>
            <a:r>
              <a:rPr lang="pt-BR" b="1" dirty="0"/>
              <a:t>com dois blocos de navegação agrupados</a:t>
            </a:r>
            <a:r>
              <a:rPr lang="pt-BR" b="1" dirty="0" smtClean="0"/>
              <a:t>:</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a:t>Como último elemento do documento na função de rodapé com dois blocos de navegação agrupados</a:t>
            </a:r>
            <a:r>
              <a:rPr lang="pt-BR" dirty="0" smtClean="0"/>
              <a:t>:</a:t>
            </a:r>
          </a:p>
          <a:p>
            <a:endParaRPr lang="pt-BR" b="1" dirty="0"/>
          </a:p>
          <a:p>
            <a:endParaRPr lang="pt-BR" b="1" dirty="0" smtClean="0"/>
          </a:p>
          <a:p>
            <a:endParaRPr lang="pt-BR" b="1" dirty="0"/>
          </a:p>
          <a:p>
            <a:endParaRPr lang="pt-BR" b="1" dirty="0" smtClean="0"/>
          </a:p>
          <a:p>
            <a:endParaRPr lang="pt-BR" b="1" dirty="0" smtClean="0"/>
          </a:p>
          <a:p>
            <a:endParaRPr lang="pt-BR" b="1" dirty="0"/>
          </a:p>
          <a:p>
            <a:endParaRPr lang="pt-BR" b="1" dirty="0" smtClean="0"/>
          </a:p>
          <a:p>
            <a:endParaRPr lang="pt-BR" b="1" dirty="0"/>
          </a:p>
          <a:p>
            <a:endParaRPr lang="pt-BR" b="1" dirty="0" smtClean="0"/>
          </a:p>
          <a:p>
            <a:pPr marL="0" indent="0">
              <a:buNone/>
            </a:pPr>
            <a:r>
              <a:rPr lang="pt-BR" b="1" dirty="0"/>
              <a:t>.</a:t>
            </a:r>
            <a:endParaRPr lang="pt-BR"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348880"/>
            <a:ext cx="4464496" cy="43807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780" y="44624"/>
            <a:ext cx="6755596" cy="662892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733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52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anim calcmode="lin" valueType="num">
                                      <p:cBhvr>
                                        <p:cTn id="14" dur="500" fill="hold"/>
                                        <p:tgtEl>
                                          <p:spTgt spid="5"/>
                                        </p:tgtEl>
                                        <p:attrNameLst>
                                          <p:attrName>ppt_x</p:attrName>
                                        </p:attrNameLst>
                                      </p:cBhvr>
                                      <p:tavLst>
                                        <p:tav tm="0">
                                          <p:val>
                                            <p:fltVal val="0.5"/>
                                          </p:val>
                                        </p:tav>
                                        <p:tav tm="100000">
                                          <p:val>
                                            <p:strVal val="#ppt_x"/>
                                          </p:val>
                                        </p:tav>
                                      </p:tavLst>
                                    </p:anim>
                                    <p:anim calcmode="lin" valueType="num">
                                      <p:cBhvr>
                                        <p:cTn id="15"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normAutofit/>
          </a:bodyPr>
          <a:lstStyle/>
          <a:p>
            <a:r>
              <a:rPr lang="pt-BR" b="1" dirty="0"/>
              <a:t>Elementos header e </a:t>
            </a:r>
            <a:r>
              <a:rPr lang="pt-BR" b="1" dirty="0" err="1" smtClean="0"/>
              <a:t>hgroup</a:t>
            </a:r>
            <a:endParaRPr lang="pt-BR" dirty="0"/>
          </a:p>
        </p:txBody>
      </p:sp>
      <p:sp>
        <p:nvSpPr>
          <p:cNvPr id="4" name="Espaço Reservado para Conteúdo 3"/>
          <p:cNvSpPr>
            <a:spLocks noGrp="1"/>
          </p:cNvSpPr>
          <p:nvPr>
            <p:ph idx="1"/>
          </p:nvPr>
        </p:nvSpPr>
        <p:spPr/>
        <p:txBody>
          <a:bodyPr>
            <a:normAutofit fontScale="92500" lnSpcReduction="20000"/>
          </a:bodyPr>
          <a:lstStyle/>
          <a:p>
            <a:r>
              <a:rPr lang="pt-BR" dirty="0" smtClean="0"/>
              <a:t>O </a:t>
            </a:r>
            <a:r>
              <a:rPr lang="pt-BR" dirty="0"/>
              <a:t>elemento header é um bloco de conteúdo que pode conter um ou mais elementos h1 até ,h6, campo de busca, elementos de navegação, um logo ou banner, uma introdução, um pequeno prefácio ou um índice em formato de lista. Normalmente trabalha como um agregador do conteúdo do cabeçalho de um documento ou de uma seção. Dentro dele é possível inserir um </a:t>
            </a:r>
            <a:r>
              <a:rPr lang="pt-BR" dirty="0" err="1"/>
              <a:t>elementohgroup</a:t>
            </a:r>
            <a:r>
              <a:rPr lang="pt-BR" dirty="0"/>
              <a:t> que tem como função agrupar dois ou mais elementos h1até ,h6 organizando-os em uma hierarquia de títulos e subtítulos</a:t>
            </a:r>
            <a:r>
              <a:rPr lang="pt-BR" dirty="0" smtClean="0"/>
              <a:t>.</a:t>
            </a:r>
            <a:endParaRPr lang="pt-BR" dirty="0"/>
          </a:p>
        </p:txBody>
      </p:sp>
    </p:spTree>
    <p:extLst>
      <p:ext uri="{BB962C8B-B14F-4D97-AF65-F5344CB8AC3E}">
        <p14:creationId xmlns:p14="http://schemas.microsoft.com/office/powerpoint/2010/main" val="1208073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smtClean="0"/>
              <a:t>Header - cabeçalho </a:t>
            </a:r>
            <a:r>
              <a:rPr lang="pt-BR" b="1" dirty="0"/>
              <a:t>principal do </a:t>
            </a:r>
            <a:r>
              <a:rPr lang="pt-BR" b="1" dirty="0" smtClean="0"/>
              <a:t>documento</a:t>
            </a:r>
            <a:endParaRPr lang="pt-BR" dirty="0"/>
          </a:p>
        </p:txBody>
      </p:sp>
      <p:sp>
        <p:nvSpPr>
          <p:cNvPr id="3" name="Espaço Reservado para Conteúdo 2"/>
          <p:cNvSpPr>
            <a:spLocks noGrp="1"/>
          </p:cNvSpPr>
          <p:nvPr>
            <p:ph idx="1"/>
          </p:nvPr>
        </p:nvSpPr>
        <p:spPr/>
        <p:txBody>
          <a:bodyPr/>
          <a:lstStyle/>
          <a:p>
            <a:r>
              <a:rPr lang="pt-BR" b="1" dirty="0"/>
              <a:t>Como cabeçalho principal do documento</a:t>
            </a:r>
            <a:endParaRPr lang="pt-BR"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636912"/>
            <a:ext cx="4666029" cy="35722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808" y="352762"/>
            <a:ext cx="7848624" cy="60087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73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smtClean="0"/>
              <a:t>Header - </a:t>
            </a:r>
            <a:r>
              <a:rPr lang="pt-BR" b="1" dirty="0"/>
              <a:t>cabeçalho de um artigo ou seção</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863" y="2420888"/>
            <a:ext cx="6010275" cy="34194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92" y="1052736"/>
            <a:ext cx="8682888" cy="49400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952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b="1" dirty="0" smtClean="0"/>
              <a:t>Header e </a:t>
            </a:r>
            <a:r>
              <a:rPr lang="pt-BR" b="1" dirty="0" err="1" smtClean="0"/>
              <a:t>Hgroup</a:t>
            </a:r>
            <a:r>
              <a:rPr lang="pt-BR" b="1" dirty="0" smtClean="0"/>
              <a:t> - cabeçalho principal</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dirty="0"/>
              <a:t>Como cabeçalho principal do documento incluindo um bloco </a:t>
            </a:r>
            <a:r>
              <a:rPr lang="pt-BR" dirty="0" err="1"/>
              <a:t>hgroup</a:t>
            </a:r>
            <a:r>
              <a:rPr lang="pt-BR" dirty="0"/>
              <a:t> com um título e subtítulo (descrição) de um </a:t>
            </a:r>
            <a:r>
              <a:rPr lang="pt-BR" dirty="0" smtClean="0"/>
              <a:t>blog</a:t>
            </a:r>
          </a:p>
          <a:p>
            <a:endParaRPr lang="pt-BR" dirty="0"/>
          </a:p>
          <a:p>
            <a:endParaRPr lang="pt-BR" dirty="0" smtClean="0"/>
          </a:p>
          <a:p>
            <a:endParaRPr lang="pt-BR" dirty="0"/>
          </a:p>
          <a:p>
            <a:endParaRPr lang="pt-BR" dirty="0" smtClean="0"/>
          </a:p>
          <a:p>
            <a:endParaRPr lang="pt-BR" dirty="0" smtClean="0"/>
          </a:p>
          <a:p>
            <a:endParaRPr lang="pt-BR" dirty="0"/>
          </a:p>
          <a:p>
            <a:endParaRPr lang="pt-BR" dirty="0" smtClean="0"/>
          </a:p>
          <a:p>
            <a:pPr marL="0" indent="0">
              <a:buNone/>
            </a:pPr>
            <a:r>
              <a:rPr lang="pt-BR" dirty="0"/>
              <a:t>.</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8294" y="2759405"/>
            <a:ext cx="6184277" cy="39819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16" y="548680"/>
            <a:ext cx="8847880" cy="569701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728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err="1" smtClean="0"/>
              <a:t>Section</a:t>
            </a:r>
            <a:endParaRPr lang="pt-BR" b="1" dirty="0"/>
          </a:p>
        </p:txBody>
      </p:sp>
      <p:sp>
        <p:nvSpPr>
          <p:cNvPr id="3" name="Espaço Reservado para Conteúdo 2"/>
          <p:cNvSpPr>
            <a:spLocks noGrp="1"/>
          </p:cNvSpPr>
          <p:nvPr>
            <p:ph idx="1"/>
          </p:nvPr>
        </p:nvSpPr>
        <p:spPr/>
        <p:txBody>
          <a:bodyPr>
            <a:normAutofit fontScale="85000" lnSpcReduction="10000"/>
          </a:bodyPr>
          <a:lstStyle/>
          <a:p>
            <a:r>
              <a:rPr lang="pt-BR" dirty="0" smtClean="0"/>
              <a:t>Entre </a:t>
            </a:r>
            <a:r>
              <a:rPr lang="pt-BR" dirty="0"/>
              <a:t>todos os elementos que marcam e definem a estrutura do documento, o </a:t>
            </a:r>
            <a:r>
              <a:rPr lang="pt-BR" dirty="0" err="1"/>
              <a:t>elementosection</a:t>
            </a:r>
            <a:r>
              <a:rPr lang="pt-BR" dirty="0"/>
              <a:t> é o que possui menor especificidade em sua semântica.</a:t>
            </a:r>
          </a:p>
          <a:p>
            <a:r>
              <a:rPr lang="pt-BR" dirty="0"/>
              <a:t>Ele pode abrigar os elementos header, </a:t>
            </a:r>
            <a:r>
              <a:rPr lang="pt-BR" dirty="0" err="1"/>
              <a:t>article</a:t>
            </a:r>
            <a:r>
              <a:rPr lang="pt-BR" dirty="0"/>
              <a:t> e sua principal função é dividir o conteúdo em macro estruturas, em blocos.</a:t>
            </a:r>
          </a:p>
          <a:p>
            <a:r>
              <a:rPr lang="pt-BR" dirty="0"/>
              <a:t>Quando um bloco estrutural tiver características únicas de relevância dentro do conteúdo, como por exemplo, um post de um blog a ser distribuído via RSS, é aconselhável que seja marcado com o elemento </a:t>
            </a:r>
            <a:r>
              <a:rPr lang="pt-BR" dirty="0" err="1"/>
              <a:t>article</a:t>
            </a:r>
            <a:r>
              <a:rPr lang="pt-BR" dirty="0"/>
              <a:t> e não </a:t>
            </a:r>
            <a:r>
              <a:rPr lang="pt-BR" dirty="0" err="1"/>
              <a:t>section</a:t>
            </a:r>
            <a:r>
              <a:rPr lang="pt-BR" dirty="0"/>
              <a:t>.</a:t>
            </a:r>
          </a:p>
          <a:p>
            <a:endParaRPr lang="pt-BR" dirty="0"/>
          </a:p>
        </p:txBody>
      </p:sp>
    </p:spTree>
    <p:extLst>
      <p:ext uri="{BB962C8B-B14F-4D97-AF65-F5344CB8AC3E}">
        <p14:creationId xmlns:p14="http://schemas.microsoft.com/office/powerpoint/2010/main" val="18472356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err="1" smtClean="0"/>
              <a:t>Section</a:t>
            </a:r>
            <a:endParaRPr lang="pt-BR" b="1"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8913" y="1881188"/>
            <a:ext cx="3686175" cy="30956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897" y="332656"/>
            <a:ext cx="7374062" cy="61926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396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err="1" smtClean="0"/>
              <a:t>Nav</a:t>
            </a:r>
            <a:endParaRPr lang="pt-BR" b="1" dirty="0"/>
          </a:p>
        </p:txBody>
      </p:sp>
      <p:sp>
        <p:nvSpPr>
          <p:cNvPr id="3" name="Espaço Reservado para Conteúdo 2"/>
          <p:cNvSpPr>
            <a:spLocks noGrp="1"/>
          </p:cNvSpPr>
          <p:nvPr>
            <p:ph idx="1"/>
          </p:nvPr>
        </p:nvSpPr>
        <p:spPr/>
        <p:txBody>
          <a:bodyPr>
            <a:normAutofit/>
          </a:bodyPr>
          <a:lstStyle/>
          <a:p>
            <a:r>
              <a:rPr lang="pt-BR" dirty="0" smtClean="0"/>
              <a:t>O </a:t>
            </a:r>
            <a:r>
              <a:rPr lang="pt-BR" dirty="0"/>
              <a:t>elemento </a:t>
            </a:r>
            <a:r>
              <a:rPr lang="pt-BR" dirty="0" err="1"/>
              <a:t>nav</a:t>
            </a:r>
            <a:r>
              <a:rPr lang="pt-BR" dirty="0"/>
              <a:t> marca a seção do documento que agrupa links para outras partes do </a:t>
            </a:r>
            <a:r>
              <a:rPr lang="pt-BR" dirty="0" smtClean="0"/>
              <a:t>documento</a:t>
            </a:r>
            <a:endParaRPr lang="pt-BR" dirty="0"/>
          </a:p>
          <a:p>
            <a:r>
              <a:rPr lang="pt-BR" dirty="0"/>
              <a:t>Vale ressaltar que o grupo de links do elemento </a:t>
            </a:r>
            <a:r>
              <a:rPr lang="pt-BR" dirty="0" err="1"/>
              <a:t>nav</a:t>
            </a:r>
            <a:r>
              <a:rPr lang="pt-BR" dirty="0"/>
              <a:t> está relacionado com a navegação primária ou global e pode estar no cabeçalho, no rodapé ou em outras seções do documento.</a:t>
            </a:r>
          </a:p>
          <a:p>
            <a:endParaRPr lang="pt-BR" dirty="0"/>
          </a:p>
        </p:txBody>
      </p:sp>
    </p:spTree>
    <p:extLst>
      <p:ext uri="{BB962C8B-B14F-4D97-AF65-F5344CB8AC3E}">
        <p14:creationId xmlns:p14="http://schemas.microsoft.com/office/powerpoint/2010/main" val="14441546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err="1" smtClean="0"/>
              <a:t>Nav</a:t>
            </a:r>
            <a:endParaRPr lang="pt-BR"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2132856"/>
            <a:ext cx="4343400" cy="37719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421" y="332656"/>
            <a:ext cx="7137158" cy="61980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817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err="1" smtClean="0"/>
              <a:t>Address</a:t>
            </a:r>
            <a:endParaRPr lang="pt-BR" b="1" dirty="0"/>
          </a:p>
        </p:txBody>
      </p:sp>
      <p:sp>
        <p:nvSpPr>
          <p:cNvPr id="3" name="Espaço Reservado para Conteúdo 2"/>
          <p:cNvSpPr>
            <a:spLocks noGrp="1"/>
          </p:cNvSpPr>
          <p:nvPr>
            <p:ph idx="1"/>
          </p:nvPr>
        </p:nvSpPr>
        <p:spPr/>
        <p:txBody>
          <a:bodyPr>
            <a:normAutofit fontScale="85000" lnSpcReduction="20000"/>
          </a:bodyPr>
          <a:lstStyle/>
          <a:p>
            <a:r>
              <a:rPr lang="pt-BR" dirty="0" smtClean="0"/>
              <a:t>O </a:t>
            </a:r>
            <a:r>
              <a:rPr lang="pt-BR" dirty="0"/>
              <a:t>elemento </a:t>
            </a:r>
            <a:r>
              <a:rPr lang="pt-BR" dirty="0" err="1"/>
              <a:t>address</a:t>
            </a:r>
            <a:r>
              <a:rPr lang="pt-BR" dirty="0"/>
              <a:t>, que já era conhecido nas versões anteriores do HTML, agora ganha um novo valor semântico equiparável ao das seções de conteúdo vistas até agora. O elemento </a:t>
            </a:r>
            <a:r>
              <a:rPr lang="pt-BR" dirty="0" err="1"/>
              <a:t>address</a:t>
            </a:r>
            <a:r>
              <a:rPr lang="pt-BR" dirty="0"/>
              <a:t> não é adequado para qualquer endereço físico ou de e-mail. Ele é indicado para fornecer estas (e também outras) informações a respeito das pessoas de contato do documento, geralmente o autor do documento ou o responsável pelo conteúdo exibido. Dentro do elemento </a:t>
            </a:r>
            <a:r>
              <a:rPr lang="pt-BR" dirty="0" err="1"/>
              <a:t>address</a:t>
            </a:r>
            <a:r>
              <a:rPr lang="pt-BR" dirty="0"/>
              <a:t> não são permitidos, no HTML 5, os </a:t>
            </a:r>
            <a:r>
              <a:rPr lang="pt-BR" dirty="0" smtClean="0"/>
              <a:t> elementos </a:t>
            </a:r>
            <a:r>
              <a:rPr lang="pt-BR" dirty="0" err="1" smtClean="0"/>
              <a:t>aside</a:t>
            </a:r>
            <a:r>
              <a:rPr lang="pt-BR" dirty="0" smtClean="0"/>
              <a:t>, </a:t>
            </a:r>
            <a:r>
              <a:rPr lang="pt-BR" dirty="0" err="1" smtClean="0"/>
              <a:t>footer</a:t>
            </a:r>
            <a:r>
              <a:rPr lang="pt-BR" dirty="0" smtClean="0"/>
              <a:t>, h1 até h6, header, header </a:t>
            </a:r>
            <a:r>
              <a:rPr lang="pt-BR" dirty="0" err="1" smtClean="0"/>
              <a:t>group</a:t>
            </a:r>
            <a:r>
              <a:rPr lang="pt-BR" dirty="0" smtClean="0"/>
              <a:t>, </a:t>
            </a:r>
            <a:r>
              <a:rPr lang="pt-BR" dirty="0" err="1" smtClean="0"/>
              <a:t>nav</a:t>
            </a:r>
            <a:r>
              <a:rPr lang="pt-BR" dirty="0" smtClean="0"/>
              <a:t> e </a:t>
            </a:r>
            <a:r>
              <a:rPr lang="pt-BR" dirty="0" err="1" smtClean="0"/>
              <a:t>section</a:t>
            </a:r>
            <a:r>
              <a:rPr lang="pt-BR" dirty="0"/>
              <a:t>.</a:t>
            </a:r>
          </a:p>
          <a:p>
            <a:endParaRPr lang="pt-BR" dirty="0"/>
          </a:p>
        </p:txBody>
      </p:sp>
    </p:spTree>
    <p:extLst>
      <p:ext uri="{BB962C8B-B14F-4D97-AF65-F5344CB8AC3E}">
        <p14:creationId xmlns:p14="http://schemas.microsoft.com/office/powerpoint/2010/main" val="31051594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b="1" dirty="0" err="1" smtClean="0"/>
              <a:t>Address</a:t>
            </a:r>
            <a:endParaRPr lang="pt-BR" b="1"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077543"/>
            <a:ext cx="6408960" cy="30040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45" y="1263931"/>
            <a:ext cx="8766807" cy="41092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738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Grupos de Conteúdo</a:t>
            </a:r>
            <a:endParaRPr lang="pt-BR" dirty="0"/>
          </a:p>
        </p:txBody>
      </p:sp>
      <p:sp>
        <p:nvSpPr>
          <p:cNvPr id="3" name="Espaço Reservado para Texto 2"/>
          <p:cNvSpPr>
            <a:spLocks noGrp="1"/>
          </p:cNvSpPr>
          <p:nvPr>
            <p:ph type="body" idx="1"/>
          </p:nvPr>
        </p:nvSpPr>
        <p:spPr/>
        <p:txBody>
          <a:bodyPr/>
          <a:lstStyle/>
          <a:p>
            <a:r>
              <a:rPr lang="pt-BR" dirty="0" smtClean="0"/>
              <a:t>HTML5 e CSS3</a:t>
            </a:r>
            <a:endParaRPr lang="pt-BR" dirty="0"/>
          </a:p>
        </p:txBody>
      </p:sp>
    </p:spTree>
    <p:extLst>
      <p:ext uri="{BB962C8B-B14F-4D97-AF65-F5344CB8AC3E}">
        <p14:creationId xmlns:p14="http://schemas.microsoft.com/office/powerpoint/2010/main" val="8898108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dirty="0" smtClean="0"/>
              <a:t>Grupo de Conteúdo</a:t>
            </a:r>
            <a:endParaRPr lang="pt-BR" dirty="0"/>
          </a:p>
        </p:txBody>
      </p:sp>
      <p:sp>
        <p:nvSpPr>
          <p:cNvPr id="5" name="Espaço Reservado para Conteúdo 4"/>
          <p:cNvSpPr>
            <a:spLocks noGrp="1"/>
          </p:cNvSpPr>
          <p:nvPr>
            <p:ph idx="1"/>
          </p:nvPr>
        </p:nvSpPr>
        <p:spPr/>
        <p:txBody>
          <a:bodyPr>
            <a:normAutofit fontScale="92500" lnSpcReduction="20000"/>
          </a:bodyPr>
          <a:lstStyle/>
          <a:p>
            <a:r>
              <a:rPr lang="pt-BR" dirty="0" smtClean="0"/>
              <a:t>Elementos </a:t>
            </a:r>
            <a:r>
              <a:rPr lang="pt-BR" dirty="0"/>
              <a:t>p, </a:t>
            </a:r>
            <a:r>
              <a:rPr lang="pt-BR" dirty="0" err="1"/>
              <a:t>blockquote</a:t>
            </a:r>
            <a:r>
              <a:rPr lang="pt-BR" dirty="0"/>
              <a:t> e </a:t>
            </a:r>
            <a:r>
              <a:rPr lang="pt-BR" dirty="0" err="1" smtClean="0"/>
              <a:t>hr</a:t>
            </a:r>
            <a:endParaRPr lang="pt-BR" dirty="0" smtClean="0"/>
          </a:p>
          <a:p>
            <a:r>
              <a:rPr lang="pt-BR" dirty="0" smtClean="0"/>
              <a:t>Lista não ordenada</a:t>
            </a:r>
          </a:p>
          <a:p>
            <a:r>
              <a:rPr lang="pt-BR" dirty="0" smtClean="0"/>
              <a:t>Lista ordenada</a:t>
            </a:r>
          </a:p>
          <a:p>
            <a:r>
              <a:rPr lang="pt-BR" dirty="0"/>
              <a:t>Lista ordenada reversa</a:t>
            </a:r>
          </a:p>
          <a:p>
            <a:r>
              <a:rPr lang="pt-BR" dirty="0"/>
              <a:t>Lista ordenada com inicial</a:t>
            </a:r>
            <a:endParaRPr lang="pt-BR" dirty="0" smtClean="0"/>
          </a:p>
          <a:p>
            <a:r>
              <a:rPr lang="pt-BR" dirty="0"/>
              <a:t>Lista ordenada imposta</a:t>
            </a:r>
          </a:p>
          <a:p>
            <a:r>
              <a:rPr lang="pt-BR" dirty="0"/>
              <a:t>Lista de descrição</a:t>
            </a:r>
            <a:endParaRPr lang="pt-BR" dirty="0" smtClean="0"/>
          </a:p>
          <a:p>
            <a:r>
              <a:rPr lang="pt-BR" dirty="0"/>
              <a:t>Elementos figure e </a:t>
            </a:r>
            <a:r>
              <a:rPr lang="pt-BR" dirty="0" err="1"/>
              <a:t>figurecaption</a:t>
            </a:r>
            <a:endParaRPr lang="pt-BR" dirty="0"/>
          </a:p>
          <a:p>
            <a:r>
              <a:rPr lang="pt-BR" dirty="0" smtClean="0"/>
              <a:t>Elemento </a:t>
            </a:r>
            <a:r>
              <a:rPr lang="pt-BR" dirty="0" err="1"/>
              <a:t>div</a:t>
            </a:r>
            <a:endParaRPr lang="pt-BR" dirty="0"/>
          </a:p>
        </p:txBody>
      </p:sp>
    </p:spTree>
    <p:extLst>
      <p:ext uri="{BB962C8B-B14F-4D97-AF65-F5344CB8AC3E}">
        <p14:creationId xmlns:p14="http://schemas.microsoft.com/office/powerpoint/2010/main" val="11981763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t>Elementos </a:t>
            </a:r>
            <a:r>
              <a:rPr lang="pt-BR" b="1" dirty="0"/>
              <a:t>p, </a:t>
            </a:r>
            <a:r>
              <a:rPr lang="pt-BR" b="1" dirty="0" err="1"/>
              <a:t>blockquote</a:t>
            </a:r>
            <a:r>
              <a:rPr lang="pt-BR" b="1" dirty="0"/>
              <a:t> e </a:t>
            </a:r>
            <a:r>
              <a:rPr lang="pt-BR" b="1" dirty="0" err="1" smtClean="0"/>
              <a:t>hr</a:t>
            </a:r>
            <a:endParaRPr lang="pt-BR" dirty="0"/>
          </a:p>
        </p:txBody>
      </p:sp>
      <p:sp>
        <p:nvSpPr>
          <p:cNvPr id="3" name="Espaço Reservado para Conteúdo 2"/>
          <p:cNvSpPr>
            <a:spLocks noGrp="1"/>
          </p:cNvSpPr>
          <p:nvPr>
            <p:ph idx="1"/>
          </p:nvPr>
        </p:nvSpPr>
        <p:spPr/>
        <p:txBody>
          <a:bodyPr>
            <a:normAutofit fontScale="85000" lnSpcReduction="10000"/>
          </a:bodyPr>
          <a:lstStyle/>
          <a:p>
            <a:r>
              <a:rPr lang="pt-BR" dirty="0"/>
              <a:t>Estes elementos marcam e separam blocos de texto, organizando-os em forma de parágrafos. No HTML 5, junto com o elemento p, o elemento </a:t>
            </a:r>
            <a:r>
              <a:rPr lang="pt-BR" dirty="0" err="1"/>
              <a:t>hr</a:t>
            </a:r>
            <a:r>
              <a:rPr lang="pt-BR" dirty="0"/>
              <a:t> assume também o mesmo nível semântico de um parágrafo, com a função de separar conteúdos através de uma linha, um separador.</a:t>
            </a:r>
          </a:p>
          <a:p>
            <a:r>
              <a:rPr lang="pt-BR" dirty="0"/>
              <a:t>Para quem já era usuário das versões anteriores do HTML e do XHTML, vale ressaltar que os atributos do elemento </a:t>
            </a:r>
            <a:r>
              <a:rPr lang="pt-BR" dirty="0" err="1"/>
              <a:t>hr</a:t>
            </a:r>
            <a:r>
              <a:rPr lang="pt-BR" dirty="0"/>
              <a:t> </a:t>
            </a:r>
            <a:r>
              <a:rPr lang="pt-BR" dirty="0" smtClean="0"/>
              <a:t>como </a:t>
            </a:r>
            <a:r>
              <a:rPr lang="pt-BR" dirty="0" err="1" smtClean="0"/>
              <a:t>align</a:t>
            </a:r>
            <a:r>
              <a:rPr lang="pt-BR" dirty="0"/>
              <a:t>, </a:t>
            </a:r>
            <a:r>
              <a:rPr lang="pt-BR" dirty="0" err="1"/>
              <a:t>noshade</a:t>
            </a:r>
            <a:r>
              <a:rPr lang="pt-BR" dirty="0"/>
              <a:t> e </a:t>
            </a:r>
            <a:r>
              <a:rPr lang="pt-BR" dirty="0" err="1"/>
              <a:t>size</a:t>
            </a:r>
            <a:r>
              <a:rPr lang="pt-BR" dirty="0"/>
              <a:t> não são mais permitidos no HTML 5 e devem ser substituídos por formatação CSS.</a:t>
            </a:r>
          </a:p>
          <a:p>
            <a:endParaRPr lang="pt-BR" dirty="0"/>
          </a:p>
        </p:txBody>
      </p:sp>
    </p:spTree>
    <p:extLst>
      <p:ext uri="{BB962C8B-B14F-4D97-AF65-F5344CB8AC3E}">
        <p14:creationId xmlns:p14="http://schemas.microsoft.com/office/powerpoint/2010/main" val="42152097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Elementos p, </a:t>
            </a:r>
            <a:r>
              <a:rPr lang="pt-BR" b="1" dirty="0" err="1"/>
              <a:t>blockquote</a:t>
            </a:r>
            <a:r>
              <a:rPr lang="pt-BR" b="1" dirty="0"/>
              <a:t> e </a:t>
            </a:r>
            <a:r>
              <a:rPr lang="pt-BR" b="1" dirty="0" err="1"/>
              <a:t>hr</a:t>
            </a:r>
            <a:endParaRPr lang="pt-BR"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197425"/>
            <a:ext cx="7056462" cy="30937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560436"/>
            <a:ext cx="8856984" cy="38831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56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smtClean="0"/>
              <a:t>Lista não ordenada</a:t>
            </a:r>
            <a:endParaRPr lang="pt-BR"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2060848"/>
            <a:ext cx="5105400" cy="37242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692696"/>
            <a:ext cx="7474816" cy="545271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892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Lista </a:t>
            </a:r>
            <a:r>
              <a:rPr lang="pt-BR" b="1" dirty="0" smtClean="0"/>
              <a:t>ordenada</a:t>
            </a:r>
            <a:endParaRPr lang="pt-BR" dirty="0"/>
          </a:p>
        </p:txBody>
      </p:sp>
      <p:sp>
        <p:nvSpPr>
          <p:cNvPr id="3" name="Espaço Reservado para Conteúdo 2"/>
          <p:cNvSpPr>
            <a:spLocks noGrp="1"/>
          </p:cNvSpPr>
          <p:nvPr>
            <p:ph idx="1"/>
          </p:nvPr>
        </p:nvSpPr>
        <p:spPr/>
        <p:txBody>
          <a:bodyPr/>
          <a:lstStyle/>
          <a:p>
            <a:r>
              <a:rPr lang="pt-BR" dirty="0"/>
              <a:t>Identificada pelo elemento </a:t>
            </a:r>
            <a:r>
              <a:rPr lang="pt-BR" dirty="0" err="1"/>
              <a:t>ol</a:t>
            </a:r>
            <a:r>
              <a:rPr lang="pt-BR" dirty="0"/>
              <a:t>, permite a exibição dos seus itens de maneira sequencial.</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957591"/>
            <a:ext cx="4392488" cy="35156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901" y="265583"/>
            <a:ext cx="7781561" cy="622812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463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Lista ordenada </a:t>
            </a:r>
            <a:r>
              <a:rPr lang="pt-BR" b="1" dirty="0" smtClean="0"/>
              <a:t>reversa</a:t>
            </a:r>
            <a:endParaRPr lang="pt-BR" dirty="0"/>
          </a:p>
        </p:txBody>
      </p:sp>
      <p:sp>
        <p:nvSpPr>
          <p:cNvPr id="3" name="Espaço Reservado para Conteúdo 2"/>
          <p:cNvSpPr>
            <a:spLocks noGrp="1"/>
          </p:cNvSpPr>
          <p:nvPr>
            <p:ph idx="1"/>
          </p:nvPr>
        </p:nvSpPr>
        <p:spPr/>
        <p:txBody>
          <a:bodyPr/>
          <a:lstStyle/>
          <a:p>
            <a:r>
              <a:rPr lang="pt-BR" dirty="0"/>
              <a:t>Pelo atributo reverse é possível inverter a ordem da numeração de uma lista ordenada.</a:t>
            </a:r>
          </a:p>
          <a:p>
            <a:r>
              <a:rPr lang="pt-BR" dirty="0"/>
              <a:t>Este recurso </a:t>
            </a:r>
            <a:r>
              <a:rPr lang="pt-BR" dirty="0" smtClean="0"/>
              <a:t>funciona somente no </a:t>
            </a:r>
            <a:r>
              <a:rPr lang="pt-BR" dirty="0" err="1" smtClean="0"/>
              <a:t>Chrome</a:t>
            </a:r>
            <a:endParaRPr lang="pt-B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360565"/>
            <a:ext cx="3888432" cy="32566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63" y="188640"/>
            <a:ext cx="7577453" cy="634630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850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smtClean="0"/>
              <a:t>Lista </a:t>
            </a:r>
            <a:r>
              <a:rPr lang="pt-BR" b="1" dirty="0"/>
              <a:t>ordenada com </a:t>
            </a:r>
            <a:r>
              <a:rPr lang="pt-BR" b="1" dirty="0" smtClean="0"/>
              <a:t>inicial</a:t>
            </a:r>
            <a:endParaRPr lang="pt-BR" dirty="0"/>
          </a:p>
        </p:txBody>
      </p:sp>
      <p:sp>
        <p:nvSpPr>
          <p:cNvPr id="3" name="Espaço Reservado para Conteúdo 2"/>
          <p:cNvSpPr>
            <a:spLocks noGrp="1"/>
          </p:cNvSpPr>
          <p:nvPr>
            <p:ph idx="1"/>
          </p:nvPr>
        </p:nvSpPr>
        <p:spPr/>
        <p:txBody>
          <a:bodyPr/>
          <a:lstStyle/>
          <a:p>
            <a:r>
              <a:rPr lang="pt-BR" dirty="0"/>
              <a:t>No HTML 5 agora é possível atribuir um número para o item inicial através do atributo start.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123038"/>
            <a:ext cx="5544616" cy="35954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829200"/>
            <a:ext cx="8117874" cy="52640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858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Lista ordenada </a:t>
            </a:r>
            <a:r>
              <a:rPr lang="pt-BR" b="1" dirty="0" smtClean="0"/>
              <a:t>imposta</a:t>
            </a:r>
            <a:endParaRPr lang="pt-BR" dirty="0"/>
          </a:p>
        </p:txBody>
      </p:sp>
      <p:sp>
        <p:nvSpPr>
          <p:cNvPr id="3" name="Espaço Reservado para Conteúdo 2"/>
          <p:cNvSpPr>
            <a:spLocks noGrp="1"/>
          </p:cNvSpPr>
          <p:nvPr>
            <p:ph idx="1"/>
          </p:nvPr>
        </p:nvSpPr>
        <p:spPr/>
        <p:txBody>
          <a:bodyPr>
            <a:normAutofit fontScale="70000" lnSpcReduction="20000"/>
          </a:bodyPr>
          <a:lstStyle/>
          <a:p>
            <a:r>
              <a:rPr lang="pt-BR" dirty="0"/>
              <a:t>No HTML 5 é possível impor um valor de numeração a um item de uma lista ordenada através do atributo </a:t>
            </a:r>
            <a:r>
              <a:rPr lang="pt-BR" dirty="0" err="1"/>
              <a:t>value</a:t>
            </a:r>
            <a:r>
              <a:rPr lang="pt-BR" dirty="0"/>
              <a:t>. Veja o exemplo hipotético abaixo, no qual dois concorrentes (</a:t>
            </a:r>
            <a:r>
              <a:rPr lang="pt-BR" dirty="0" err="1"/>
              <a:t>Dizzy</a:t>
            </a:r>
            <a:r>
              <a:rPr lang="pt-BR" dirty="0"/>
              <a:t> </a:t>
            </a:r>
            <a:r>
              <a:rPr lang="pt-BR" dirty="0" err="1"/>
              <a:t>Gillespie</a:t>
            </a:r>
            <a:r>
              <a:rPr lang="pt-BR" dirty="0"/>
              <a:t> e Miles Davis) estão na quarta posição por possuírem o mesmo número de votos</a:t>
            </a:r>
            <a:r>
              <a:rPr lang="pt-BR" dirty="0" smtClean="0"/>
              <a:t>.</a:t>
            </a:r>
          </a:p>
          <a:p>
            <a:endParaRPr lang="pt-BR" dirty="0"/>
          </a:p>
          <a:p>
            <a:endParaRPr lang="pt-BR" dirty="0" smtClean="0"/>
          </a:p>
          <a:p>
            <a:endParaRPr lang="pt-BR" dirty="0"/>
          </a:p>
          <a:p>
            <a:endParaRPr lang="pt-BR" dirty="0" smtClean="0"/>
          </a:p>
          <a:p>
            <a:endParaRPr lang="pt-BR" dirty="0" smtClean="0"/>
          </a:p>
          <a:p>
            <a:endParaRPr lang="pt-BR" dirty="0"/>
          </a:p>
          <a:p>
            <a:endParaRPr lang="pt-BR" dirty="0" smtClean="0"/>
          </a:p>
          <a:p>
            <a:endParaRPr lang="pt-BR" dirty="0"/>
          </a:p>
          <a:p>
            <a:pPr marL="0" indent="0">
              <a:buNone/>
            </a:pPr>
            <a:r>
              <a:rPr lang="pt-BR" dirty="0" smtClean="0"/>
              <a:t>.</a:t>
            </a:r>
            <a:endParaRPr lang="pt-BR"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068960"/>
            <a:ext cx="6717299" cy="36153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167" y="1214647"/>
            <a:ext cx="8127932" cy="437459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148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Lista de </a:t>
            </a:r>
            <a:r>
              <a:rPr lang="pt-BR" b="1" dirty="0" smtClean="0"/>
              <a:t>descrição</a:t>
            </a:r>
            <a:endParaRPr lang="pt-BR" dirty="0"/>
          </a:p>
        </p:txBody>
      </p:sp>
      <p:sp>
        <p:nvSpPr>
          <p:cNvPr id="3" name="Espaço Reservado para Conteúdo 2"/>
          <p:cNvSpPr>
            <a:spLocks noGrp="1"/>
          </p:cNvSpPr>
          <p:nvPr>
            <p:ph idx="1"/>
          </p:nvPr>
        </p:nvSpPr>
        <p:spPr/>
        <p:txBody>
          <a:bodyPr>
            <a:normAutofit fontScale="62500" lnSpcReduction="20000"/>
          </a:bodyPr>
          <a:lstStyle/>
          <a:p>
            <a:r>
              <a:rPr lang="pt-BR" dirty="0"/>
              <a:t>Antes chamado de lista de definição, o elemento dl e seus elementos relativos ( </a:t>
            </a:r>
            <a:r>
              <a:rPr lang="pt-BR" dirty="0" err="1"/>
              <a:t>dt</a:t>
            </a:r>
            <a:r>
              <a:rPr lang="pt-BR" dirty="0"/>
              <a:t> e </a:t>
            </a:r>
            <a:r>
              <a:rPr lang="pt-BR" dirty="0" err="1"/>
              <a:t>dd</a:t>
            </a:r>
            <a:r>
              <a:rPr lang="pt-BR" dirty="0"/>
              <a:t>) são conhecidos agora, no HTML 5, como lista de descrição. Quando for necessário fazer uma definição exata de um termo no conteúdo, o elemento semântico recomendado é o </a:t>
            </a:r>
            <a:r>
              <a:rPr lang="pt-BR" dirty="0" err="1"/>
              <a:t>dfn</a:t>
            </a:r>
            <a:r>
              <a:rPr lang="pt-BR" dirty="0" smtClean="0"/>
              <a:t>.</a:t>
            </a:r>
          </a:p>
          <a:p>
            <a:endParaRPr lang="pt-BR" dirty="0"/>
          </a:p>
          <a:p>
            <a:endParaRPr lang="pt-BR" dirty="0" smtClean="0"/>
          </a:p>
          <a:p>
            <a:endParaRPr lang="pt-BR" dirty="0" smtClean="0"/>
          </a:p>
          <a:p>
            <a:endParaRPr lang="pt-BR" dirty="0"/>
          </a:p>
          <a:p>
            <a:endParaRPr lang="pt-BR" dirty="0" smtClean="0"/>
          </a:p>
          <a:p>
            <a:endParaRPr lang="pt-BR" dirty="0"/>
          </a:p>
          <a:p>
            <a:endParaRPr lang="pt-BR" dirty="0"/>
          </a:p>
          <a:p>
            <a:endParaRPr lang="pt-BR" dirty="0" smtClean="0"/>
          </a:p>
          <a:p>
            <a:endParaRPr lang="pt-BR" dirty="0"/>
          </a:p>
          <a:p>
            <a:pPr marL="0" indent="0">
              <a:buNone/>
            </a:pPr>
            <a:r>
              <a:rPr lang="pt-BR" dirty="0" smtClean="0"/>
              <a:t>.</a:t>
            </a:r>
            <a:endParaRPr lang="pt-BR"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904" y="2708920"/>
            <a:ext cx="6375448" cy="40610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59982"/>
            <a:ext cx="8485721" cy="54053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044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Elementos figure e </a:t>
            </a:r>
            <a:r>
              <a:rPr lang="pt-BR" b="1" dirty="0" err="1" smtClean="0"/>
              <a:t>figurecaption</a:t>
            </a:r>
            <a:endParaRPr lang="pt-BR" dirty="0"/>
          </a:p>
        </p:txBody>
      </p:sp>
      <p:sp>
        <p:nvSpPr>
          <p:cNvPr id="3" name="Espaço Reservado para Conteúdo 2"/>
          <p:cNvSpPr>
            <a:spLocks noGrp="1"/>
          </p:cNvSpPr>
          <p:nvPr>
            <p:ph idx="1"/>
          </p:nvPr>
        </p:nvSpPr>
        <p:spPr/>
        <p:txBody>
          <a:bodyPr/>
          <a:lstStyle/>
          <a:p>
            <a:r>
              <a:rPr lang="pt-BR" dirty="0"/>
              <a:t>O elemento figure marca um bloco de conteúdo independente que normalmente contém imagens, gráficos, diagramas ou ilustrações que fazem referência ao conteúdo principal do documento.</a:t>
            </a:r>
          </a:p>
          <a:p>
            <a:r>
              <a:rPr lang="pt-BR" dirty="0"/>
              <a:t>O elemento </a:t>
            </a:r>
            <a:r>
              <a:rPr lang="pt-BR" dirty="0" err="1"/>
              <a:t>figcaption</a:t>
            </a:r>
            <a:r>
              <a:rPr lang="pt-BR" dirty="0"/>
              <a:t> exibe uma legenda para o elemento figure</a:t>
            </a:r>
            <a:r>
              <a:rPr lang="pt-BR" dirty="0" smtClean="0"/>
              <a:t>.</a:t>
            </a:r>
            <a:endParaRPr lang="pt-BR" dirty="0"/>
          </a:p>
        </p:txBody>
      </p:sp>
    </p:spTree>
    <p:extLst>
      <p:ext uri="{BB962C8B-B14F-4D97-AF65-F5344CB8AC3E}">
        <p14:creationId xmlns:p14="http://schemas.microsoft.com/office/powerpoint/2010/main" val="16937231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b="1" dirty="0"/>
              <a:t>Elementos figure e </a:t>
            </a:r>
            <a:r>
              <a:rPr lang="pt-BR" b="1" dirty="0" err="1"/>
              <a:t>figurecaption</a:t>
            </a:r>
            <a:endParaRPr lang="pt-BR"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383" y="2295302"/>
            <a:ext cx="6453647" cy="3077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122" y="1420529"/>
            <a:ext cx="8589804" cy="40967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3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err="1" smtClean="0"/>
              <a:t>div</a:t>
            </a:r>
            <a:endParaRPr lang="pt-BR" dirty="0"/>
          </a:p>
        </p:txBody>
      </p:sp>
      <p:sp>
        <p:nvSpPr>
          <p:cNvPr id="3" name="Espaço Reservado para Conteúdo 2"/>
          <p:cNvSpPr>
            <a:spLocks noGrp="1"/>
          </p:cNvSpPr>
          <p:nvPr>
            <p:ph idx="1"/>
          </p:nvPr>
        </p:nvSpPr>
        <p:spPr/>
        <p:txBody>
          <a:bodyPr>
            <a:normAutofit fontScale="70000" lnSpcReduction="20000"/>
          </a:bodyPr>
          <a:lstStyle/>
          <a:p>
            <a:r>
              <a:rPr lang="pt-BR" dirty="0"/>
              <a:t>No HTML5, o elemento </a:t>
            </a:r>
            <a:r>
              <a:rPr lang="pt-BR" dirty="0" err="1"/>
              <a:t>div</a:t>
            </a:r>
            <a:r>
              <a:rPr lang="pt-BR" dirty="0"/>
              <a:t> é um container genérico indicado para quando não houver um elemento de valor semântico específico para o conteúdo a ser marcado</a:t>
            </a:r>
            <a:r>
              <a:rPr lang="pt-BR" dirty="0" smtClean="0"/>
              <a:t>.</a:t>
            </a:r>
          </a:p>
          <a:p>
            <a:endParaRPr lang="pt-BR" dirty="0"/>
          </a:p>
          <a:p>
            <a:endParaRPr lang="pt-BR" dirty="0" smtClean="0"/>
          </a:p>
          <a:p>
            <a:endParaRPr lang="pt-BR" dirty="0"/>
          </a:p>
          <a:p>
            <a:endParaRPr lang="pt-BR" dirty="0" smtClean="0"/>
          </a:p>
          <a:p>
            <a:endParaRPr lang="pt-BR" dirty="0"/>
          </a:p>
          <a:p>
            <a:endParaRPr lang="pt-BR" dirty="0" smtClean="0"/>
          </a:p>
          <a:p>
            <a:endParaRPr lang="pt-BR" dirty="0"/>
          </a:p>
          <a:p>
            <a:endParaRPr lang="pt-BR" dirty="0" smtClean="0"/>
          </a:p>
          <a:p>
            <a:endParaRPr lang="pt-BR" dirty="0"/>
          </a:p>
          <a:p>
            <a:pPr marL="0" indent="0">
              <a:buNone/>
            </a:pPr>
            <a:r>
              <a:rPr lang="pt-BR" dirty="0" smtClean="0"/>
              <a:t>.</a:t>
            </a:r>
            <a:endParaRPr lang="pt-BR"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492896"/>
            <a:ext cx="5544616" cy="42448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728" y="310451"/>
            <a:ext cx="8117874" cy="621489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025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 semântica dos elementos de texto</a:t>
            </a:r>
            <a:endParaRPr lang="pt-BR" dirty="0"/>
          </a:p>
        </p:txBody>
      </p:sp>
      <p:sp>
        <p:nvSpPr>
          <p:cNvPr id="3" name="Espaço Reservado para Texto 2"/>
          <p:cNvSpPr>
            <a:spLocks noGrp="1"/>
          </p:cNvSpPr>
          <p:nvPr>
            <p:ph type="body" idx="1"/>
          </p:nvPr>
        </p:nvSpPr>
        <p:spPr/>
        <p:txBody>
          <a:bodyPr/>
          <a:lstStyle/>
          <a:p>
            <a:r>
              <a:rPr lang="pt-BR" dirty="0" smtClean="0"/>
              <a:t>HTML5 e CSS3</a:t>
            </a:r>
            <a:endParaRPr lang="pt-BR" dirty="0"/>
          </a:p>
        </p:txBody>
      </p:sp>
    </p:spTree>
    <p:extLst>
      <p:ext uri="{BB962C8B-B14F-4D97-AF65-F5344CB8AC3E}">
        <p14:creationId xmlns:p14="http://schemas.microsoft.com/office/powerpoint/2010/main" val="5007294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A semântica dos elementos de texto</a:t>
            </a:r>
          </a:p>
        </p:txBody>
      </p:sp>
      <p:sp>
        <p:nvSpPr>
          <p:cNvPr id="3" name="Espaço Reservado para Conteúdo 2"/>
          <p:cNvSpPr>
            <a:spLocks noGrp="1"/>
          </p:cNvSpPr>
          <p:nvPr>
            <p:ph idx="1"/>
          </p:nvPr>
        </p:nvSpPr>
        <p:spPr/>
        <p:txBody>
          <a:bodyPr>
            <a:normAutofit fontScale="77500" lnSpcReduction="20000"/>
          </a:bodyPr>
          <a:lstStyle/>
          <a:p>
            <a:r>
              <a:rPr lang="pt-BR" dirty="0" smtClean="0"/>
              <a:t>Elemento a</a:t>
            </a:r>
          </a:p>
          <a:p>
            <a:r>
              <a:rPr lang="pt-BR" dirty="0" smtClean="0"/>
              <a:t>Elemento b e </a:t>
            </a:r>
            <a:r>
              <a:rPr lang="pt-BR" dirty="0" err="1" smtClean="0"/>
              <a:t>strong</a:t>
            </a:r>
            <a:endParaRPr lang="pt-BR" dirty="0" smtClean="0"/>
          </a:p>
          <a:p>
            <a:r>
              <a:rPr lang="pt-BR" dirty="0" smtClean="0"/>
              <a:t>Elementos i e em</a:t>
            </a:r>
          </a:p>
          <a:p>
            <a:r>
              <a:rPr lang="pt-BR" dirty="0" smtClean="0"/>
              <a:t>Elemento </a:t>
            </a:r>
            <a:r>
              <a:rPr lang="pt-BR" dirty="0" err="1" smtClean="0"/>
              <a:t>small</a:t>
            </a:r>
            <a:endParaRPr lang="pt-BR" dirty="0" smtClean="0"/>
          </a:p>
          <a:p>
            <a:r>
              <a:rPr lang="pt-BR" dirty="0" smtClean="0"/>
              <a:t>Elemento s</a:t>
            </a:r>
          </a:p>
          <a:p>
            <a:r>
              <a:rPr lang="pt-BR" dirty="0" smtClean="0"/>
              <a:t>Elemento cite e q</a:t>
            </a:r>
          </a:p>
          <a:p>
            <a:r>
              <a:rPr lang="pt-BR" dirty="0" smtClean="0"/>
              <a:t>Elemento </a:t>
            </a:r>
            <a:r>
              <a:rPr lang="pt-BR" dirty="0" err="1" smtClean="0"/>
              <a:t>span</a:t>
            </a:r>
            <a:endParaRPr lang="pt-BR" dirty="0" smtClean="0"/>
          </a:p>
          <a:p>
            <a:r>
              <a:rPr lang="pt-BR" dirty="0" smtClean="0"/>
              <a:t>Elemento </a:t>
            </a:r>
            <a:r>
              <a:rPr lang="pt-BR" dirty="0" err="1" smtClean="0"/>
              <a:t>br</a:t>
            </a:r>
            <a:r>
              <a:rPr lang="pt-BR" dirty="0" smtClean="0"/>
              <a:t> e </a:t>
            </a:r>
            <a:r>
              <a:rPr lang="pt-BR" dirty="0" err="1" smtClean="0"/>
              <a:t>wbr</a:t>
            </a:r>
            <a:endParaRPr lang="pt-BR" dirty="0"/>
          </a:p>
          <a:p>
            <a:r>
              <a:rPr lang="pt-BR" dirty="0" smtClean="0"/>
              <a:t>Elemento time</a:t>
            </a:r>
          </a:p>
          <a:p>
            <a:r>
              <a:rPr lang="pt-BR" dirty="0" smtClean="0"/>
              <a:t>Elemento </a:t>
            </a:r>
            <a:r>
              <a:rPr lang="pt-BR" dirty="0" err="1" smtClean="0"/>
              <a:t>mark</a:t>
            </a:r>
            <a:endParaRPr lang="pt-BR" dirty="0" smtClean="0"/>
          </a:p>
          <a:p>
            <a:r>
              <a:rPr lang="pt-BR" dirty="0" smtClean="0"/>
              <a:t>Outros elementos semânticos de texto</a:t>
            </a:r>
            <a:endParaRPr lang="pt-BR" dirty="0"/>
          </a:p>
        </p:txBody>
      </p:sp>
    </p:spTree>
    <p:extLst>
      <p:ext uri="{BB962C8B-B14F-4D97-AF65-F5344CB8AC3E}">
        <p14:creationId xmlns:p14="http://schemas.microsoft.com/office/powerpoint/2010/main" val="25465603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smtClean="0"/>
              <a:t>a</a:t>
            </a:r>
            <a:endParaRPr lang="pt-BR" dirty="0"/>
          </a:p>
        </p:txBody>
      </p:sp>
      <p:sp>
        <p:nvSpPr>
          <p:cNvPr id="3" name="Espaço Reservado para Conteúdo 2"/>
          <p:cNvSpPr>
            <a:spLocks noGrp="1"/>
          </p:cNvSpPr>
          <p:nvPr>
            <p:ph idx="1"/>
          </p:nvPr>
        </p:nvSpPr>
        <p:spPr/>
        <p:txBody>
          <a:bodyPr/>
          <a:lstStyle/>
          <a:p>
            <a:r>
              <a:rPr lang="pt-BR" dirty="0" smtClean="0"/>
              <a:t>Define um hiperlink</a:t>
            </a:r>
          </a:p>
          <a:p>
            <a:endParaRPr lang="pt-BR" dirty="0"/>
          </a:p>
          <a:p>
            <a:r>
              <a:rPr lang="pt-BR" dirty="0" smtClean="0"/>
              <a:t>Exemplos:</a:t>
            </a:r>
          </a:p>
          <a:p>
            <a:pPr lvl="1"/>
            <a:r>
              <a:rPr lang="pt-BR" dirty="0" smtClean="0"/>
              <a:t>Link para um documento no mesmo diretório</a:t>
            </a:r>
            <a:endParaRPr lang="pt-BR" dirty="0"/>
          </a:p>
          <a:p>
            <a:pPr lvl="1"/>
            <a:endParaRPr lang="pt-BR"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0565" y="4005064"/>
            <a:ext cx="5759607" cy="19679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0" y="1700808"/>
            <a:ext cx="8432642" cy="28813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3387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Link para diretório</a:t>
            </a:r>
            <a:endParaRPr lang="pt-BR"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3159" y="2348880"/>
            <a:ext cx="5697682" cy="29787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50098"/>
            <a:ext cx="8568952" cy="447981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6122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Link para um arquivo em diretório (pasta) interno</a:t>
            </a:r>
            <a:endParaRPr lang="pt-BR"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473" y="2420888"/>
            <a:ext cx="5817466" cy="24158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28470"/>
            <a:ext cx="8805384" cy="36567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880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Link para um arquivo em diretório (pasta) um nível acima</a:t>
            </a:r>
            <a:endParaRPr lang="pt-BR"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708920"/>
            <a:ext cx="6124575" cy="26289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28800"/>
            <a:ext cx="8658744" cy="37166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954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Link externo com o uso do atributo </a:t>
            </a:r>
            <a:r>
              <a:rPr lang="pt-BR" dirty="0" err="1" smtClean="0"/>
              <a:t>title</a:t>
            </a:r>
            <a:r>
              <a:rPr lang="pt-BR" dirty="0" smtClean="0"/>
              <a:t> que identifica o título do conteúdo do link</a:t>
            </a:r>
            <a:endParaRPr lang="pt-BR"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5058" y="2708920"/>
            <a:ext cx="6432296" cy="19822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01790"/>
            <a:ext cx="8784976" cy="27073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670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Atributo </a:t>
            </a:r>
            <a:r>
              <a:rPr lang="pt-BR" dirty="0" err="1" smtClean="0"/>
              <a:t>target</a:t>
            </a:r>
            <a:r>
              <a:rPr lang="pt-BR" dirty="0" smtClean="0"/>
              <a:t> no link</a:t>
            </a:r>
            <a:endParaRPr lang="pt-BR"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402" y="2276872"/>
            <a:ext cx="5595609" cy="25190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tângulo 7"/>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p:cNvSpPr txBox="1"/>
          <p:nvPr/>
        </p:nvSpPr>
        <p:spPr>
          <a:xfrm>
            <a:off x="467544" y="5180999"/>
            <a:ext cx="8496944"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pt-BR" sz="2400" dirty="0" smtClean="0"/>
              <a:t>Valores: _</a:t>
            </a:r>
            <a:r>
              <a:rPr lang="pt-BR" sz="2400" dirty="0" err="1" smtClean="0"/>
              <a:t>blank</a:t>
            </a:r>
            <a:r>
              <a:rPr lang="pt-BR" sz="2400" dirty="0" smtClean="0"/>
              <a:t> – abre o link em uma nova janela </a:t>
            </a:r>
          </a:p>
          <a:p>
            <a:r>
              <a:rPr lang="pt-BR" sz="2400" dirty="0"/>
              <a:t>	</a:t>
            </a:r>
            <a:r>
              <a:rPr lang="pt-BR" sz="2400" dirty="0" smtClean="0"/>
              <a:t>  _self – abre o link na mesma janela. É o valor padrão, não é preciso declarar.</a:t>
            </a:r>
            <a:endParaRPr lang="pt-BR" sz="2400"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052736"/>
            <a:ext cx="8795761" cy="395963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36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Uso do atributo </a:t>
            </a:r>
            <a:r>
              <a:rPr lang="pt-BR" dirty="0" err="1" smtClean="0"/>
              <a:t>hreflang</a:t>
            </a:r>
            <a:endParaRPr lang="pt-BR"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476" y="2348880"/>
            <a:ext cx="5973460" cy="25190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84784"/>
            <a:ext cx="8745744" cy="36880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1163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Link de </a:t>
            </a:r>
            <a:r>
              <a:rPr lang="pt-BR" dirty="0" err="1" smtClean="0"/>
              <a:t>email</a:t>
            </a:r>
            <a:endParaRPr lang="pt-BR"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435" y="2276872"/>
            <a:ext cx="6700694" cy="23639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628800"/>
            <a:ext cx="8918623" cy="31463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2516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Agrupamento de vários elementos em um único link</a:t>
            </a:r>
            <a:endParaRPr lang="pt-BR"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903" y="2564904"/>
            <a:ext cx="4904195" cy="309365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612693"/>
            <a:ext cx="8688083" cy="54806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8192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Elemento a</a:t>
            </a:r>
            <a:endParaRPr lang="pt-BR" dirty="0"/>
          </a:p>
        </p:txBody>
      </p:sp>
      <p:sp>
        <p:nvSpPr>
          <p:cNvPr id="3" name="Espaço Reservado para Conteúdo 2"/>
          <p:cNvSpPr>
            <a:spLocks noGrp="1"/>
          </p:cNvSpPr>
          <p:nvPr>
            <p:ph idx="1"/>
          </p:nvPr>
        </p:nvSpPr>
        <p:spPr/>
        <p:txBody>
          <a:bodyPr/>
          <a:lstStyle/>
          <a:p>
            <a:pPr lvl="1"/>
            <a:r>
              <a:rPr lang="pt-BR" dirty="0" smtClean="0"/>
              <a:t>Link interno do documento</a:t>
            </a:r>
            <a:endParaRPr lang="pt-BR"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7244" y="2204864"/>
            <a:ext cx="6067923" cy="30857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052736"/>
            <a:ext cx="8884047" cy="45178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04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it-IT" b="1" dirty="0"/>
              <a:t>Elemento b e Elemento </a:t>
            </a:r>
            <a:r>
              <a:rPr lang="it-IT" b="1" dirty="0" smtClean="0"/>
              <a:t>strong</a:t>
            </a:r>
            <a:endParaRPr lang="pt-BR" dirty="0"/>
          </a:p>
        </p:txBody>
      </p:sp>
      <p:sp>
        <p:nvSpPr>
          <p:cNvPr id="3" name="Espaço Reservado para Conteúdo 2"/>
          <p:cNvSpPr>
            <a:spLocks noGrp="1"/>
          </p:cNvSpPr>
          <p:nvPr>
            <p:ph idx="1"/>
          </p:nvPr>
        </p:nvSpPr>
        <p:spPr/>
        <p:txBody>
          <a:bodyPr>
            <a:normAutofit fontScale="85000" lnSpcReduction="10000"/>
          </a:bodyPr>
          <a:lstStyle/>
          <a:p>
            <a:r>
              <a:rPr lang="pt-BR" dirty="0"/>
              <a:t>Apesar de resultarem no mesmo efeito visual (texto em negrito), no HTML 5 estes elementos podem conviver em harmonia, assumindo diferentes valores semânticos</a:t>
            </a:r>
          </a:p>
          <a:p>
            <a:r>
              <a:rPr lang="pt-BR" dirty="0"/>
              <a:t>O elemento b funciona no mesmo nível de um elemento </a:t>
            </a:r>
            <a:r>
              <a:rPr lang="pt-BR" dirty="0" err="1"/>
              <a:t>span</a:t>
            </a:r>
            <a:r>
              <a:rPr lang="pt-BR" dirty="0"/>
              <a:t> e tem por finalidade apresentar o texto em negrito, destacando-o visualmente porém sem indicar uma maior relevância ao seu significado.</a:t>
            </a:r>
          </a:p>
          <a:p>
            <a:r>
              <a:rPr lang="pt-BR" dirty="0"/>
              <a:t>Já o elemento </a:t>
            </a:r>
            <a:r>
              <a:rPr lang="pt-BR" dirty="0" err="1"/>
              <a:t>strong</a:t>
            </a:r>
            <a:r>
              <a:rPr lang="pt-BR" dirty="0"/>
              <a:t>, além de tornar o texto em negrito, confere a ele uma importância particular, um destaque dentro do contexto.</a:t>
            </a:r>
          </a:p>
        </p:txBody>
      </p:sp>
    </p:spTree>
    <p:extLst>
      <p:ext uri="{BB962C8B-B14F-4D97-AF65-F5344CB8AC3E}">
        <p14:creationId xmlns:p14="http://schemas.microsoft.com/office/powerpoint/2010/main" val="286792267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it-IT" b="1" dirty="0"/>
              <a:t>Elemento b e Elemento strong</a:t>
            </a:r>
            <a:endParaRPr lang="pt-BR"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1872" y="2648053"/>
            <a:ext cx="5258668" cy="24617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624554"/>
            <a:ext cx="8469139" cy="39646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96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Elementos i e </a:t>
            </a:r>
            <a:r>
              <a:rPr lang="pt-BR" b="1" dirty="0" smtClean="0"/>
              <a:t>em</a:t>
            </a:r>
            <a:endParaRPr lang="pt-BR" dirty="0"/>
          </a:p>
        </p:txBody>
      </p:sp>
      <p:sp>
        <p:nvSpPr>
          <p:cNvPr id="3" name="Espaço Reservado para Conteúdo 2"/>
          <p:cNvSpPr>
            <a:spLocks noGrp="1"/>
          </p:cNvSpPr>
          <p:nvPr>
            <p:ph idx="1"/>
          </p:nvPr>
        </p:nvSpPr>
        <p:spPr/>
        <p:txBody>
          <a:bodyPr>
            <a:normAutofit fontScale="85000" lnSpcReduction="10000"/>
          </a:bodyPr>
          <a:lstStyle/>
          <a:p>
            <a:r>
              <a:rPr lang="pt-BR" dirty="0"/>
              <a:t>Os elementos i e em resultam na mesma formatação visual, texto em itálico, porém com valores semânticos diferentes.</a:t>
            </a:r>
          </a:p>
          <a:p>
            <a:r>
              <a:rPr lang="pt-BR" dirty="0"/>
              <a:t>O elemento i fornece uma formatação complementar, pode servir para desambiguar um texto ou esclarecer um conteúdo. Mas seu uso mais característico é para marcar textos técnicos ou em outros idiomas.</a:t>
            </a:r>
          </a:p>
          <a:p>
            <a:r>
              <a:rPr lang="pt-BR" dirty="0"/>
              <a:t>O elemento em, que também torna o texto itálico, enfatiza, realça, exagera um conteúdo. Se o documento for interpretado por um software de leitura de texto, a modulação da voz será facilmente distinguida</a:t>
            </a:r>
            <a:r>
              <a:rPr lang="pt-BR" dirty="0" smtClean="0"/>
              <a:t>.</a:t>
            </a:r>
            <a:endParaRPr lang="pt-BR" dirty="0"/>
          </a:p>
        </p:txBody>
      </p:sp>
    </p:spTree>
    <p:extLst>
      <p:ext uri="{BB962C8B-B14F-4D97-AF65-F5344CB8AC3E}">
        <p14:creationId xmlns:p14="http://schemas.microsoft.com/office/powerpoint/2010/main" val="224644759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Elementos i e </a:t>
            </a:r>
            <a:r>
              <a:rPr lang="pt-BR" b="1" dirty="0" smtClean="0"/>
              <a:t>em</a:t>
            </a:r>
            <a:endParaRPr lang="pt-BR"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8200" y="2194543"/>
            <a:ext cx="5366013" cy="24689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63" y="1593294"/>
            <a:ext cx="8642017" cy="39762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87503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b="1" dirty="0"/>
              <a:t>Elemento </a:t>
            </a:r>
            <a:r>
              <a:rPr lang="pt-BR" b="1" dirty="0" err="1"/>
              <a:t>small</a:t>
            </a:r>
            <a:endParaRPr lang="pt-BR" b="1" dirty="0"/>
          </a:p>
        </p:txBody>
      </p:sp>
      <p:sp>
        <p:nvSpPr>
          <p:cNvPr id="4" name="Espaço Reservado para Conteúdo 3"/>
          <p:cNvSpPr>
            <a:spLocks noGrp="1"/>
          </p:cNvSpPr>
          <p:nvPr>
            <p:ph idx="1"/>
          </p:nvPr>
        </p:nvSpPr>
        <p:spPr/>
        <p:txBody>
          <a:bodyPr>
            <a:normAutofit fontScale="92500" lnSpcReduction="10000"/>
          </a:bodyPr>
          <a:lstStyle/>
          <a:p>
            <a:r>
              <a:rPr lang="pt-BR" dirty="0"/>
              <a:t>O HTML 5 descontinuou o uso do elemento big, que aumenta o tamanho do texto, mas não fez o mesmo com o elemento </a:t>
            </a:r>
            <a:r>
              <a:rPr lang="pt-BR" dirty="0" err="1"/>
              <a:t>small</a:t>
            </a:r>
            <a:r>
              <a:rPr lang="pt-BR" dirty="0"/>
              <a:t>, que, por sua vez, ganha um novo valor semântico nesta versão da linguagem.</a:t>
            </a:r>
          </a:p>
          <a:p>
            <a:r>
              <a:rPr lang="pt-BR" dirty="0"/>
              <a:t>O elemento </a:t>
            </a:r>
            <a:r>
              <a:rPr lang="pt-BR" dirty="0" err="1"/>
              <a:t>small</a:t>
            </a:r>
            <a:r>
              <a:rPr lang="pt-BR" dirty="0"/>
              <a:t> agora é empregado para marcar avisos obrigatórios, restrições legais ou restrições de uso de conteúdo como copyrights, ou seja, não é apenas para tornar o tamanho do texto menor</a:t>
            </a:r>
            <a:r>
              <a:rPr lang="pt-BR" dirty="0" smtClean="0"/>
              <a:t>.</a:t>
            </a:r>
            <a:endParaRPr lang="pt-BR" dirty="0"/>
          </a:p>
        </p:txBody>
      </p:sp>
    </p:spTree>
    <p:extLst>
      <p:ext uri="{BB962C8B-B14F-4D97-AF65-F5344CB8AC3E}">
        <p14:creationId xmlns:p14="http://schemas.microsoft.com/office/powerpoint/2010/main" val="105069175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b="1" dirty="0"/>
              <a:t>Elemento </a:t>
            </a:r>
            <a:r>
              <a:rPr lang="pt-BR" b="1" dirty="0" err="1"/>
              <a:t>small</a:t>
            </a:r>
            <a:endParaRPr lang="pt-BR"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668" y="2157687"/>
            <a:ext cx="5997077" cy="254262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67" y="1700808"/>
            <a:ext cx="8780321" cy="37226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948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smtClean="0"/>
              <a:t>s</a:t>
            </a:r>
            <a:endParaRPr lang="pt-BR" dirty="0"/>
          </a:p>
        </p:txBody>
      </p:sp>
      <p:sp>
        <p:nvSpPr>
          <p:cNvPr id="3" name="Espaço Reservado para Conteúdo 2"/>
          <p:cNvSpPr>
            <a:spLocks noGrp="1"/>
          </p:cNvSpPr>
          <p:nvPr>
            <p:ph idx="1"/>
          </p:nvPr>
        </p:nvSpPr>
        <p:spPr/>
        <p:txBody>
          <a:bodyPr>
            <a:normAutofit lnSpcReduction="10000"/>
          </a:bodyPr>
          <a:lstStyle/>
          <a:p>
            <a:r>
              <a:rPr lang="pt-BR" dirty="0"/>
              <a:t>O elemento s, cuja marcação visual é um risco no texto, não deve ser utilizado para excluir ou eliminar um texto (para isto existe o </a:t>
            </a:r>
            <a:r>
              <a:rPr lang="pt-BR" dirty="0" smtClean="0"/>
              <a:t>elemento </a:t>
            </a:r>
            <a:r>
              <a:rPr lang="pt-BR" dirty="0" err="1" smtClean="0"/>
              <a:t>del</a:t>
            </a:r>
            <a:r>
              <a:rPr lang="pt-BR" dirty="0"/>
              <a:t>), mas sim para mostrar que o conteúdo com ele marcado está desatualizado ou não é mais relevante.</a:t>
            </a:r>
          </a:p>
          <a:p>
            <a:r>
              <a:rPr lang="pt-BR" dirty="0"/>
              <a:t>O elemento </a:t>
            </a:r>
            <a:r>
              <a:rPr lang="pt-BR" dirty="0" err="1"/>
              <a:t>strike</a:t>
            </a:r>
            <a:r>
              <a:rPr lang="pt-BR" dirty="0"/>
              <a:t>, cujo resultado visual no browser também era o conteúdo riscado, teve seu uso descontinuado no HTML 5</a:t>
            </a:r>
            <a:r>
              <a:rPr lang="pt-BR" dirty="0" smtClean="0"/>
              <a:t>.</a:t>
            </a:r>
            <a:endParaRPr lang="pt-BR" dirty="0"/>
          </a:p>
        </p:txBody>
      </p:sp>
    </p:spTree>
    <p:extLst>
      <p:ext uri="{BB962C8B-B14F-4D97-AF65-F5344CB8AC3E}">
        <p14:creationId xmlns:p14="http://schemas.microsoft.com/office/powerpoint/2010/main" val="68824276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b="1" dirty="0"/>
              <a:t>Elemento s</a:t>
            </a:r>
            <a:endParaRPr lang="pt-BR"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338" y="2124050"/>
            <a:ext cx="5267325" cy="31051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908720"/>
            <a:ext cx="8483080" cy="50008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9596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b="1" dirty="0"/>
              <a:t>Elementos cite e q</a:t>
            </a:r>
          </a:p>
        </p:txBody>
      </p:sp>
      <p:sp>
        <p:nvSpPr>
          <p:cNvPr id="4" name="Espaço Reservado para Conteúdo 3"/>
          <p:cNvSpPr>
            <a:spLocks noGrp="1"/>
          </p:cNvSpPr>
          <p:nvPr>
            <p:ph idx="1"/>
          </p:nvPr>
        </p:nvSpPr>
        <p:spPr/>
        <p:txBody>
          <a:bodyPr>
            <a:normAutofit fontScale="85000" lnSpcReduction="10000"/>
          </a:bodyPr>
          <a:lstStyle/>
          <a:p>
            <a:r>
              <a:rPr lang="pt-BR" dirty="0"/>
              <a:t>Ambos os elementos cite e ,</a:t>
            </a:r>
            <a:r>
              <a:rPr lang="pt-BR" dirty="0" err="1"/>
              <a:t>code</a:t>
            </a:r>
            <a:r>
              <a:rPr lang="pt-BR" dirty="0"/>
              <a:t>&gt;q</a:t>
            </a:r>
          </a:p>
          <a:p>
            <a:r>
              <a:rPr lang="pt-BR" dirty="0"/>
              <a:t>são indicados para fazer referências ou citações a outros conteúdos, mas com algumas particularidades.</a:t>
            </a:r>
          </a:p>
          <a:p>
            <a:r>
              <a:rPr lang="pt-BR" dirty="0"/>
              <a:t>Quando citamos o nome de uma obra (filme, livro, animação, tese, programa de televisão, peça de teatro, jogo, ópera, musical, pintura, escultura),utilizamos o elemento cite.</a:t>
            </a:r>
          </a:p>
          <a:p>
            <a:r>
              <a:rPr lang="pt-BR" dirty="0"/>
              <a:t>Quando nos referimos a um fragmento de conteúdo extraído de outra fonte e citado em nosso documento, o uso indicado é o do elemento q. Normalmente, o browser </a:t>
            </a:r>
            <a:r>
              <a:rPr lang="pt-BR" dirty="0" err="1"/>
              <a:t>renderiza</a:t>
            </a:r>
            <a:r>
              <a:rPr lang="pt-BR" dirty="0"/>
              <a:t> este elemento entre aspas</a:t>
            </a:r>
            <a:r>
              <a:rPr lang="pt-BR" dirty="0" smtClean="0"/>
              <a:t>.</a:t>
            </a:r>
            <a:endParaRPr lang="pt-BR" dirty="0"/>
          </a:p>
        </p:txBody>
      </p:sp>
    </p:spTree>
    <p:extLst>
      <p:ext uri="{BB962C8B-B14F-4D97-AF65-F5344CB8AC3E}">
        <p14:creationId xmlns:p14="http://schemas.microsoft.com/office/powerpoint/2010/main" val="5397932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b="1" dirty="0"/>
              <a:t>Elementos cite e q</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3447" y="2276872"/>
            <a:ext cx="4118793" cy="33543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16632"/>
            <a:ext cx="7957581" cy="648072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864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Elementos </a:t>
            </a:r>
            <a:r>
              <a:rPr lang="pt-BR" b="1" dirty="0" err="1"/>
              <a:t>dfn</a:t>
            </a:r>
            <a:r>
              <a:rPr lang="pt-BR" b="1" dirty="0"/>
              <a:t> e </a:t>
            </a:r>
            <a:r>
              <a:rPr lang="pt-BR" b="1" dirty="0" err="1" smtClean="0"/>
              <a:t>abbr</a:t>
            </a:r>
            <a:endParaRPr lang="pt-BR" dirty="0"/>
          </a:p>
        </p:txBody>
      </p:sp>
      <p:sp>
        <p:nvSpPr>
          <p:cNvPr id="3" name="Espaço Reservado para Conteúdo 2"/>
          <p:cNvSpPr>
            <a:spLocks noGrp="1"/>
          </p:cNvSpPr>
          <p:nvPr>
            <p:ph idx="1"/>
          </p:nvPr>
        </p:nvSpPr>
        <p:spPr/>
        <p:txBody>
          <a:bodyPr>
            <a:normAutofit lnSpcReduction="10000"/>
          </a:bodyPr>
          <a:lstStyle/>
          <a:p>
            <a:r>
              <a:rPr lang="pt-BR" dirty="0"/>
              <a:t>O elemento </a:t>
            </a:r>
            <a:r>
              <a:rPr lang="pt-BR" dirty="0" err="1"/>
              <a:t>dfn</a:t>
            </a:r>
            <a:r>
              <a:rPr lang="pt-BR" dirty="0"/>
              <a:t> marca um termo a ser definido no próprio documento ou em um documento externo. Geralmente é utilizado como item de um glossário ou em uma explicação didática.</a:t>
            </a:r>
          </a:p>
          <a:p>
            <a:r>
              <a:rPr lang="pt-BR" dirty="0"/>
              <a:t>O elemento </a:t>
            </a:r>
            <a:r>
              <a:rPr lang="pt-BR" dirty="0" err="1"/>
              <a:t>abbr</a:t>
            </a:r>
            <a:r>
              <a:rPr lang="pt-BR" dirty="0"/>
              <a:t>, junto com o atributo </a:t>
            </a:r>
            <a:r>
              <a:rPr lang="pt-BR" dirty="0" err="1"/>
              <a:t>title</a:t>
            </a:r>
            <a:r>
              <a:rPr lang="pt-BR" dirty="0"/>
              <a:t>, permite indicar o significado de uma determinada sigla ou abreviação que foi definida pelo </a:t>
            </a:r>
            <a:r>
              <a:rPr lang="pt-BR" dirty="0" err="1"/>
              <a:t>elementodfn</a:t>
            </a:r>
            <a:r>
              <a:rPr lang="pt-BR" dirty="0" smtClean="0"/>
              <a:t>.</a:t>
            </a:r>
            <a:endParaRPr lang="pt-BR" dirty="0"/>
          </a:p>
        </p:txBody>
      </p:sp>
    </p:spTree>
    <p:extLst>
      <p:ext uri="{BB962C8B-B14F-4D97-AF65-F5344CB8AC3E}">
        <p14:creationId xmlns:p14="http://schemas.microsoft.com/office/powerpoint/2010/main" val="426756521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Elementos </a:t>
            </a:r>
            <a:r>
              <a:rPr lang="pt-BR" b="1" dirty="0" err="1"/>
              <a:t>dfn</a:t>
            </a:r>
            <a:r>
              <a:rPr lang="pt-BR" b="1" dirty="0"/>
              <a:t> e </a:t>
            </a:r>
            <a:r>
              <a:rPr lang="pt-BR" b="1" dirty="0" err="1" smtClean="0"/>
              <a:t>abbr</a:t>
            </a:r>
            <a:endParaRPr lang="pt-BR" dirty="0"/>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590" y="1865354"/>
            <a:ext cx="5559232" cy="312729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97" y="912745"/>
            <a:ext cx="8953199" cy="50365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7502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err="1" smtClean="0"/>
              <a:t>span</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dirty="0"/>
              <a:t>O Elemento </a:t>
            </a:r>
            <a:r>
              <a:rPr lang="pt-BR" dirty="0" err="1"/>
              <a:t>span</a:t>
            </a:r>
            <a:r>
              <a:rPr lang="pt-BR" dirty="0"/>
              <a:t> é um </a:t>
            </a:r>
            <a:r>
              <a:rPr lang="pt-BR" i="1" dirty="0"/>
              <a:t>container</a:t>
            </a:r>
            <a:r>
              <a:rPr lang="pt-BR" dirty="0"/>
              <a:t> genérico em linha (</a:t>
            </a:r>
            <a:r>
              <a:rPr lang="pt-BR" i="1" dirty="0" err="1"/>
              <a:t>inline</a:t>
            </a:r>
            <a:r>
              <a:rPr lang="pt-BR" dirty="0"/>
              <a:t>), ao contrário do seu parente mais próximo, o elemento </a:t>
            </a:r>
            <a:r>
              <a:rPr lang="pt-BR" dirty="0" err="1"/>
              <a:t>div</a:t>
            </a:r>
            <a:r>
              <a:rPr lang="pt-BR" dirty="0"/>
              <a:t> , que é um elemento de bloco (</a:t>
            </a:r>
            <a:r>
              <a:rPr lang="pt-BR" i="1" dirty="0" err="1"/>
              <a:t>block</a:t>
            </a:r>
            <a:r>
              <a:rPr lang="pt-BR" dirty="0" smtClean="0"/>
              <a:t>).</a:t>
            </a:r>
          </a:p>
          <a:p>
            <a:endParaRPr lang="pt-BR" dirty="0"/>
          </a:p>
          <a:p>
            <a:endParaRPr lang="pt-BR" dirty="0" smtClean="0"/>
          </a:p>
          <a:p>
            <a:endParaRPr lang="pt-BR" dirty="0"/>
          </a:p>
          <a:p>
            <a:endParaRPr lang="pt-BR" dirty="0" smtClean="0"/>
          </a:p>
          <a:p>
            <a:endParaRPr lang="pt-BR" dirty="0" smtClean="0"/>
          </a:p>
          <a:p>
            <a:endParaRPr lang="pt-BR" dirty="0"/>
          </a:p>
          <a:p>
            <a:endParaRPr lang="pt-BR" dirty="0" smtClean="0"/>
          </a:p>
          <a:p>
            <a:pPr marL="0" indent="0">
              <a:buNone/>
            </a:pPr>
            <a:r>
              <a:rPr lang="pt-BR" dirty="0" smtClean="0"/>
              <a:t>.</a:t>
            </a: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924944"/>
            <a:ext cx="5518943" cy="244529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63043"/>
            <a:ext cx="8888312" cy="39381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662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Elementos </a:t>
            </a:r>
            <a:r>
              <a:rPr lang="pt-BR" b="1" dirty="0" err="1"/>
              <a:t>br</a:t>
            </a:r>
            <a:r>
              <a:rPr lang="pt-BR" b="1" dirty="0"/>
              <a:t> e </a:t>
            </a:r>
            <a:r>
              <a:rPr lang="pt-BR" b="1" dirty="0" err="1" smtClean="0"/>
              <a:t>wbr</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a:t>Além do elemento </a:t>
            </a:r>
            <a:r>
              <a:rPr lang="pt-BR" dirty="0" err="1"/>
              <a:t>br</a:t>
            </a:r>
            <a:r>
              <a:rPr lang="pt-BR" dirty="0"/>
              <a:t>, já conhecido por marcar uma quebra de linha tradicional, o HTML 5 traz uma novidade: o elemento </a:t>
            </a:r>
            <a:r>
              <a:rPr lang="pt-BR" dirty="0" err="1"/>
              <a:t>wbr</a:t>
            </a:r>
            <a:endParaRPr lang="pt-BR" dirty="0"/>
          </a:p>
          <a:p>
            <a:r>
              <a:rPr lang="pt-BR" dirty="0"/>
              <a:t>Apesar do browser realizar a quebra de linha automaticamente, no caso de palavras ou expressões longas, pode ser que ela ocorra em um lugar onde ela altere a compreensão do seu sentido. Para este caso, o elemento </a:t>
            </a:r>
            <a:r>
              <a:rPr lang="pt-BR" dirty="0" err="1"/>
              <a:t>wbrindica</a:t>
            </a:r>
            <a:r>
              <a:rPr lang="pt-BR" dirty="0"/>
              <a:t> o ponto exato onde desejamos que esta quebra ocorra.</a:t>
            </a:r>
          </a:p>
          <a:p>
            <a:r>
              <a:rPr lang="pt-BR" dirty="0"/>
              <a:t>Você pode testar a funcionalidade deste recurso redimensionando no sentido horizontal a janela do browser até o ponto em que o texto exiba a quebra de linha.</a:t>
            </a:r>
          </a:p>
        </p:txBody>
      </p:sp>
    </p:spTree>
    <p:extLst>
      <p:ext uri="{BB962C8B-B14F-4D97-AF65-F5344CB8AC3E}">
        <p14:creationId xmlns:p14="http://schemas.microsoft.com/office/powerpoint/2010/main" val="10104507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normAutofit/>
          </a:bodyPr>
          <a:lstStyle/>
          <a:p>
            <a:r>
              <a:rPr lang="pt-BR" b="1" dirty="0"/>
              <a:t>Elementos </a:t>
            </a:r>
            <a:r>
              <a:rPr lang="pt-BR" b="1" dirty="0" err="1"/>
              <a:t>br</a:t>
            </a:r>
            <a:r>
              <a:rPr lang="pt-BR" b="1" dirty="0"/>
              <a:t> e </a:t>
            </a:r>
            <a:r>
              <a:rPr lang="pt-BR" b="1" dirty="0" err="1" smtClean="0"/>
              <a:t>wbr</a:t>
            </a:r>
            <a:endParaRPr lang="pt-BR" dirty="0"/>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6924" y="1712926"/>
            <a:ext cx="6028565" cy="34321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066" y="924271"/>
            <a:ext cx="8826422" cy="50250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7571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smtClean="0"/>
              <a:t>time</a:t>
            </a:r>
            <a:endParaRPr lang="pt-BR" dirty="0"/>
          </a:p>
        </p:txBody>
      </p:sp>
      <p:sp>
        <p:nvSpPr>
          <p:cNvPr id="3" name="Espaço Reservado para Conteúdo 2"/>
          <p:cNvSpPr>
            <a:spLocks noGrp="1"/>
          </p:cNvSpPr>
          <p:nvPr>
            <p:ph idx="1"/>
          </p:nvPr>
        </p:nvSpPr>
        <p:spPr/>
        <p:txBody>
          <a:bodyPr>
            <a:normAutofit fontScale="77500" lnSpcReduction="20000"/>
          </a:bodyPr>
          <a:lstStyle/>
          <a:p>
            <a:r>
              <a:rPr lang="pt-BR" dirty="0"/>
              <a:t>O elemento time (novo no HTML 5) marca um conteúdo específico que mostra um horário ou uma data. Utilizado junto com os </a:t>
            </a:r>
            <a:r>
              <a:rPr lang="pt-BR" dirty="0" err="1"/>
              <a:t>atributosdatetime</a:t>
            </a:r>
            <a:r>
              <a:rPr lang="pt-BR" dirty="0"/>
              <a:t> e </a:t>
            </a:r>
            <a:r>
              <a:rPr lang="pt-BR" dirty="0" err="1"/>
              <a:t>pubtime</a:t>
            </a:r>
            <a:r>
              <a:rPr lang="pt-BR" dirty="0"/>
              <a:t>, permite diferenciar uma data genérica da data em que o conteúdo ou artigo foi publicado</a:t>
            </a:r>
            <a:r>
              <a:rPr lang="pt-BR" dirty="0" smtClean="0"/>
              <a:t>.</a:t>
            </a:r>
          </a:p>
          <a:p>
            <a:endParaRPr lang="pt-BR" dirty="0"/>
          </a:p>
          <a:p>
            <a:endParaRPr lang="pt-BR" dirty="0" smtClean="0"/>
          </a:p>
          <a:p>
            <a:endParaRPr lang="pt-BR" dirty="0"/>
          </a:p>
          <a:p>
            <a:endParaRPr lang="pt-BR" dirty="0" smtClean="0"/>
          </a:p>
          <a:p>
            <a:endParaRPr lang="pt-BR" dirty="0"/>
          </a:p>
          <a:p>
            <a:endParaRPr lang="pt-BR" dirty="0" smtClean="0"/>
          </a:p>
          <a:p>
            <a:pPr marL="0" indent="0">
              <a:buNone/>
            </a:pPr>
            <a:r>
              <a:rPr lang="pt-BR" dirty="0"/>
              <a:t>.</a:t>
            </a: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634" y="3429000"/>
            <a:ext cx="5572670" cy="229554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55" y="1532204"/>
            <a:ext cx="8974841" cy="36969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9385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err="1" smtClean="0"/>
              <a:t>mark</a:t>
            </a:r>
            <a:endParaRPr lang="pt-BR" dirty="0"/>
          </a:p>
        </p:txBody>
      </p:sp>
      <p:sp>
        <p:nvSpPr>
          <p:cNvPr id="3" name="Espaço Reservado para Conteúdo 2"/>
          <p:cNvSpPr>
            <a:spLocks noGrp="1"/>
          </p:cNvSpPr>
          <p:nvPr>
            <p:ph idx="1"/>
          </p:nvPr>
        </p:nvSpPr>
        <p:spPr/>
        <p:txBody>
          <a:bodyPr>
            <a:normAutofit lnSpcReduction="10000"/>
          </a:bodyPr>
          <a:lstStyle/>
          <a:p>
            <a:r>
              <a:rPr lang="pt-BR" dirty="0"/>
              <a:t>No HTML 5 o novo elemento </a:t>
            </a:r>
            <a:r>
              <a:rPr lang="pt-BR" dirty="0" err="1"/>
              <a:t>mark</a:t>
            </a:r>
            <a:r>
              <a:rPr lang="pt-BR" dirty="0"/>
              <a:t> tem como função destacar, realçar um texto, como por exemplo, quando fazemos uma busca por uma palavra em um mecanismo de busca e este retorna os resultados encontrados destacados com uma formatação diferente (</a:t>
            </a:r>
            <a:r>
              <a:rPr lang="pt-BR" i="1" dirty="0" err="1"/>
              <a:t>highlighted</a:t>
            </a:r>
            <a:r>
              <a:rPr lang="pt-BR" i="1" dirty="0"/>
              <a:t> </a:t>
            </a:r>
            <a:r>
              <a:rPr lang="pt-BR" i="1" dirty="0" err="1"/>
              <a:t>text</a:t>
            </a:r>
            <a:r>
              <a:rPr lang="pt-BR" dirty="0"/>
              <a:t>)</a:t>
            </a:r>
          </a:p>
          <a:p>
            <a:r>
              <a:rPr lang="pt-BR" dirty="0"/>
              <a:t>Seu uso mais efetivo é combinado com um estilo CSS que lhe adiciona uma cor de fundo</a:t>
            </a:r>
            <a:r>
              <a:rPr lang="pt-BR" dirty="0" smtClean="0"/>
              <a:t>.</a:t>
            </a:r>
            <a:endParaRPr lang="pt-BR" dirty="0"/>
          </a:p>
        </p:txBody>
      </p:sp>
    </p:spTree>
    <p:extLst>
      <p:ext uri="{BB962C8B-B14F-4D97-AF65-F5344CB8AC3E}">
        <p14:creationId xmlns:p14="http://schemas.microsoft.com/office/powerpoint/2010/main" val="344046271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err="1" smtClean="0"/>
              <a:t>mark</a:t>
            </a:r>
            <a:endParaRPr lang="pt-BR" dirty="0"/>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3059" y="2022793"/>
            <a:ext cx="5516294" cy="281241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316688"/>
            <a:ext cx="8884047" cy="452942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005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Elemento </a:t>
            </a:r>
            <a:r>
              <a:rPr lang="pt-BR" b="1" dirty="0" err="1" smtClean="0"/>
              <a:t>mark</a:t>
            </a:r>
            <a:r>
              <a:rPr lang="pt-BR" b="1" dirty="0" smtClean="0"/>
              <a:t> com estilo (CSS)</a:t>
            </a:r>
            <a:endParaRPr lang="pt-BR" dirty="0"/>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4965" y="1988840"/>
            <a:ext cx="5034331" cy="331140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tângulo 4"/>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873" y="442967"/>
            <a:ext cx="8918623" cy="586635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764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b="1" dirty="0"/>
              <a:t>Outros elementos de </a:t>
            </a:r>
            <a:r>
              <a:rPr lang="pt-BR" b="1" dirty="0" smtClean="0"/>
              <a:t>texto</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b="1" dirty="0"/>
              <a:t>Trechos de códigos</a:t>
            </a:r>
          </a:p>
          <a:p>
            <a:r>
              <a:rPr lang="pt-BR" dirty="0"/>
              <a:t>O elemento </a:t>
            </a:r>
            <a:r>
              <a:rPr lang="pt-BR" dirty="0" err="1"/>
              <a:t>code</a:t>
            </a:r>
            <a:r>
              <a:rPr lang="pt-BR" dirty="0"/>
              <a:t> identifica trechos de códigos ou linguagens de programação dentro da marcação, normalmente </a:t>
            </a:r>
            <a:r>
              <a:rPr lang="pt-BR" dirty="0" err="1"/>
              <a:t>renderizados</a:t>
            </a:r>
            <a:r>
              <a:rPr lang="pt-BR" dirty="0"/>
              <a:t> pelos </a:t>
            </a:r>
            <a:r>
              <a:rPr lang="pt-BR" dirty="0" smtClean="0"/>
              <a:t>browsers como </a:t>
            </a:r>
            <a:r>
              <a:rPr lang="pt-BR" dirty="0"/>
              <a:t>texto em fonte courier</a:t>
            </a:r>
            <a:r>
              <a:rPr lang="pt-BR" dirty="0" smtClean="0"/>
              <a:t>.</a:t>
            </a:r>
          </a:p>
          <a:p>
            <a:endParaRPr lang="pt-BR" dirty="0"/>
          </a:p>
          <a:p>
            <a:endParaRPr lang="pt-BR" dirty="0" smtClean="0"/>
          </a:p>
          <a:p>
            <a:endParaRPr lang="pt-BR" dirty="0"/>
          </a:p>
          <a:p>
            <a:endParaRPr lang="pt-BR" dirty="0" smtClean="0"/>
          </a:p>
          <a:p>
            <a:pPr marL="0" indent="0">
              <a:buNone/>
            </a:pPr>
            <a:endParaRPr lang="pt-BR" dirty="0" smtClean="0"/>
          </a:p>
          <a:p>
            <a:pPr marL="0" indent="0">
              <a:buNone/>
            </a:pPr>
            <a:r>
              <a:rPr lang="pt-BR" dirty="0"/>
              <a:t>.</a:t>
            </a:r>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454004"/>
            <a:ext cx="5544616" cy="31433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030902"/>
            <a:ext cx="8929661" cy="506239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72" y="260648"/>
            <a:ext cx="8130257" cy="889727"/>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3885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2771"/>
                                        </p:tgtEl>
                                        <p:attrNameLst>
                                          <p:attrName>style.visibility</p:attrName>
                                        </p:attrNameLst>
                                      </p:cBhvr>
                                      <p:to>
                                        <p:strVal val="visible"/>
                                      </p:to>
                                    </p:set>
                                    <p:anim calcmode="lin" valueType="num">
                                      <p:cBhvr>
                                        <p:cTn id="18" dur="500" fill="hold"/>
                                        <p:tgtEl>
                                          <p:spTgt spid="32771"/>
                                        </p:tgtEl>
                                        <p:attrNameLst>
                                          <p:attrName>ppt_w</p:attrName>
                                        </p:attrNameLst>
                                      </p:cBhvr>
                                      <p:tavLst>
                                        <p:tav tm="0">
                                          <p:val>
                                            <p:fltVal val="0"/>
                                          </p:val>
                                        </p:tav>
                                        <p:tav tm="100000">
                                          <p:val>
                                            <p:strVal val="#ppt_w"/>
                                          </p:val>
                                        </p:tav>
                                      </p:tavLst>
                                    </p:anim>
                                    <p:anim calcmode="lin" valueType="num">
                                      <p:cBhvr>
                                        <p:cTn id="19" dur="500" fill="hold"/>
                                        <p:tgtEl>
                                          <p:spTgt spid="32771"/>
                                        </p:tgtEl>
                                        <p:attrNameLst>
                                          <p:attrName>ppt_h</p:attrName>
                                        </p:attrNameLst>
                                      </p:cBhvr>
                                      <p:tavLst>
                                        <p:tav tm="0">
                                          <p:val>
                                            <p:fltVal val="0"/>
                                          </p:val>
                                        </p:tav>
                                        <p:tav tm="100000">
                                          <p:val>
                                            <p:strVal val="#ppt_h"/>
                                          </p:val>
                                        </p:tav>
                                      </p:tavLst>
                                    </p:anim>
                                    <p:animEffect transition="in" filter="fade">
                                      <p:cBhvr>
                                        <p:cTn id="20" dur="500"/>
                                        <p:tgtEl>
                                          <p:spTgt spid="32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Outros elementos de texto</a:t>
            </a:r>
            <a:endParaRPr lang="pt-BR" dirty="0"/>
          </a:p>
        </p:txBody>
      </p:sp>
      <p:sp>
        <p:nvSpPr>
          <p:cNvPr id="3" name="Espaço Reservado para Conteúdo 2"/>
          <p:cNvSpPr>
            <a:spLocks noGrp="1"/>
          </p:cNvSpPr>
          <p:nvPr>
            <p:ph idx="1"/>
          </p:nvPr>
        </p:nvSpPr>
        <p:spPr/>
        <p:txBody>
          <a:bodyPr/>
          <a:lstStyle/>
          <a:p>
            <a:r>
              <a:rPr lang="pt-BR" b="1" dirty="0"/>
              <a:t>Texto sobrescrito: elemento </a:t>
            </a:r>
            <a:r>
              <a:rPr lang="pt-BR" b="1" dirty="0" smtClean="0"/>
              <a:t>sub</a:t>
            </a:r>
            <a:endParaRPr lang="pt-BR" b="1" dirty="0"/>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708" y="2348880"/>
            <a:ext cx="5878997" cy="34715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010660"/>
            <a:ext cx="8607441" cy="50826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89" y="332656"/>
            <a:ext cx="8330835" cy="518637"/>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98752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3795"/>
                                        </p:tgtEl>
                                        <p:attrNameLst>
                                          <p:attrName>style.visibility</p:attrName>
                                        </p:attrNameLst>
                                      </p:cBhvr>
                                      <p:to>
                                        <p:strVal val="visible"/>
                                      </p:to>
                                    </p:set>
                                    <p:anim calcmode="lin" valueType="num">
                                      <p:cBhvr>
                                        <p:cTn id="18" dur="500" fill="hold"/>
                                        <p:tgtEl>
                                          <p:spTgt spid="33795"/>
                                        </p:tgtEl>
                                        <p:attrNameLst>
                                          <p:attrName>ppt_w</p:attrName>
                                        </p:attrNameLst>
                                      </p:cBhvr>
                                      <p:tavLst>
                                        <p:tav tm="0">
                                          <p:val>
                                            <p:fltVal val="0"/>
                                          </p:val>
                                        </p:tav>
                                        <p:tav tm="100000">
                                          <p:val>
                                            <p:strVal val="#ppt_w"/>
                                          </p:val>
                                        </p:tav>
                                      </p:tavLst>
                                    </p:anim>
                                    <p:anim calcmode="lin" valueType="num">
                                      <p:cBhvr>
                                        <p:cTn id="19" dur="500" fill="hold"/>
                                        <p:tgtEl>
                                          <p:spTgt spid="33795"/>
                                        </p:tgtEl>
                                        <p:attrNameLst>
                                          <p:attrName>ppt_h</p:attrName>
                                        </p:attrNameLst>
                                      </p:cBhvr>
                                      <p:tavLst>
                                        <p:tav tm="0">
                                          <p:val>
                                            <p:fltVal val="0"/>
                                          </p:val>
                                        </p:tav>
                                        <p:tav tm="100000">
                                          <p:val>
                                            <p:strVal val="#ppt_h"/>
                                          </p:val>
                                        </p:tav>
                                      </p:tavLst>
                                    </p:anim>
                                    <p:animEffect transition="in" filter="fade">
                                      <p:cBhvr>
                                        <p:cTn id="20"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Outros elementos de texto</a:t>
            </a:r>
            <a:endParaRPr lang="pt-BR" dirty="0"/>
          </a:p>
        </p:txBody>
      </p:sp>
      <p:sp>
        <p:nvSpPr>
          <p:cNvPr id="3" name="Espaço Reservado para Conteúdo 2"/>
          <p:cNvSpPr>
            <a:spLocks noGrp="1"/>
          </p:cNvSpPr>
          <p:nvPr>
            <p:ph idx="1"/>
          </p:nvPr>
        </p:nvSpPr>
        <p:spPr/>
        <p:txBody>
          <a:bodyPr/>
          <a:lstStyle/>
          <a:p>
            <a:r>
              <a:rPr lang="pt-BR" b="1" dirty="0"/>
              <a:t>Texto </a:t>
            </a:r>
            <a:r>
              <a:rPr lang="pt-BR" b="1" dirty="0" err="1"/>
              <a:t>superescrito</a:t>
            </a:r>
            <a:r>
              <a:rPr lang="pt-BR" b="1" dirty="0"/>
              <a:t>: elemento </a:t>
            </a:r>
            <a:r>
              <a:rPr lang="pt-BR" b="1" dirty="0" err="1" smtClean="0"/>
              <a:t>sup</a:t>
            </a:r>
            <a:endParaRPr lang="pt-BR" b="1" dirty="0"/>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747" y="2564904"/>
            <a:ext cx="5544919" cy="27837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249933"/>
            <a:ext cx="8930148" cy="44833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8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1365" y="692696"/>
            <a:ext cx="6221271" cy="583947"/>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2471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4819"/>
                                        </p:tgtEl>
                                        <p:attrNameLst>
                                          <p:attrName>style.visibility</p:attrName>
                                        </p:attrNameLst>
                                      </p:cBhvr>
                                      <p:to>
                                        <p:strVal val="visible"/>
                                      </p:to>
                                    </p:set>
                                    <p:anim calcmode="lin" valueType="num">
                                      <p:cBhvr>
                                        <p:cTn id="18" dur="500" fill="hold"/>
                                        <p:tgtEl>
                                          <p:spTgt spid="34819"/>
                                        </p:tgtEl>
                                        <p:attrNameLst>
                                          <p:attrName>ppt_w</p:attrName>
                                        </p:attrNameLst>
                                      </p:cBhvr>
                                      <p:tavLst>
                                        <p:tav tm="0">
                                          <p:val>
                                            <p:fltVal val="0"/>
                                          </p:val>
                                        </p:tav>
                                        <p:tav tm="100000">
                                          <p:val>
                                            <p:strVal val="#ppt_w"/>
                                          </p:val>
                                        </p:tav>
                                      </p:tavLst>
                                    </p:anim>
                                    <p:anim calcmode="lin" valueType="num">
                                      <p:cBhvr>
                                        <p:cTn id="19" dur="500" fill="hold"/>
                                        <p:tgtEl>
                                          <p:spTgt spid="34819"/>
                                        </p:tgtEl>
                                        <p:attrNameLst>
                                          <p:attrName>ppt_h</p:attrName>
                                        </p:attrNameLst>
                                      </p:cBhvr>
                                      <p:tavLst>
                                        <p:tav tm="0">
                                          <p:val>
                                            <p:fltVal val="0"/>
                                          </p:val>
                                        </p:tav>
                                        <p:tav tm="100000">
                                          <p:val>
                                            <p:strVal val="#ppt_h"/>
                                          </p:val>
                                        </p:tav>
                                      </p:tavLst>
                                    </p:anim>
                                    <p:animEffect transition="in" filter="fade">
                                      <p:cBhvr>
                                        <p:cTn id="20" dur="500"/>
                                        <p:tgtEl>
                                          <p:spTgt spid="34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Outros elementos de texto</a:t>
            </a:r>
            <a:endParaRPr lang="pt-BR" dirty="0"/>
          </a:p>
        </p:txBody>
      </p:sp>
      <p:sp>
        <p:nvSpPr>
          <p:cNvPr id="3" name="Espaço Reservado para Conteúdo 2"/>
          <p:cNvSpPr>
            <a:spLocks noGrp="1"/>
          </p:cNvSpPr>
          <p:nvPr>
            <p:ph idx="1"/>
          </p:nvPr>
        </p:nvSpPr>
        <p:spPr/>
        <p:txBody>
          <a:bodyPr/>
          <a:lstStyle/>
          <a:p>
            <a:r>
              <a:rPr lang="pt-BR" b="1" dirty="0"/>
              <a:t>Apontando uma ação de </a:t>
            </a:r>
            <a:r>
              <a:rPr lang="pt-BR" b="1" dirty="0" smtClean="0"/>
              <a:t>teclado</a:t>
            </a:r>
            <a:endParaRPr lang="pt-BR" dirty="0" smtClean="0"/>
          </a:p>
          <a:p>
            <a:pPr lvl="1"/>
            <a:r>
              <a:rPr lang="pt-BR" dirty="0"/>
              <a:t>O elemento </a:t>
            </a:r>
            <a:r>
              <a:rPr lang="pt-BR" dirty="0" err="1"/>
              <a:t>kbd</a:t>
            </a:r>
            <a:r>
              <a:rPr lang="pt-BR" dirty="0"/>
              <a:t> marca o nome de uma tecla do teclado.</a:t>
            </a:r>
            <a:endParaRPr lang="pt-BR" b="1" dirty="0"/>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2324" y="3212976"/>
            <a:ext cx="5537764" cy="32918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764704"/>
            <a:ext cx="8918623" cy="53016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50" y="260648"/>
            <a:ext cx="8375700" cy="981768"/>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42121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5843"/>
                                        </p:tgtEl>
                                        <p:attrNameLst>
                                          <p:attrName>style.visibility</p:attrName>
                                        </p:attrNameLst>
                                      </p:cBhvr>
                                      <p:to>
                                        <p:strVal val="visible"/>
                                      </p:to>
                                    </p:set>
                                    <p:anim calcmode="lin" valueType="num">
                                      <p:cBhvr>
                                        <p:cTn id="18" dur="500" fill="hold"/>
                                        <p:tgtEl>
                                          <p:spTgt spid="35843"/>
                                        </p:tgtEl>
                                        <p:attrNameLst>
                                          <p:attrName>ppt_w</p:attrName>
                                        </p:attrNameLst>
                                      </p:cBhvr>
                                      <p:tavLst>
                                        <p:tav tm="0">
                                          <p:val>
                                            <p:fltVal val="0"/>
                                          </p:val>
                                        </p:tav>
                                        <p:tav tm="100000">
                                          <p:val>
                                            <p:strVal val="#ppt_w"/>
                                          </p:val>
                                        </p:tav>
                                      </p:tavLst>
                                    </p:anim>
                                    <p:anim calcmode="lin" valueType="num">
                                      <p:cBhvr>
                                        <p:cTn id="19" dur="500" fill="hold"/>
                                        <p:tgtEl>
                                          <p:spTgt spid="35843"/>
                                        </p:tgtEl>
                                        <p:attrNameLst>
                                          <p:attrName>ppt_h</p:attrName>
                                        </p:attrNameLst>
                                      </p:cBhvr>
                                      <p:tavLst>
                                        <p:tav tm="0">
                                          <p:val>
                                            <p:fltVal val="0"/>
                                          </p:val>
                                        </p:tav>
                                        <p:tav tm="100000">
                                          <p:val>
                                            <p:strVal val="#ppt_h"/>
                                          </p:val>
                                        </p:tav>
                                      </p:tavLst>
                                    </p:anim>
                                    <p:animEffect transition="in" filter="fade">
                                      <p:cBhvr>
                                        <p:cTn id="20" dur="500"/>
                                        <p:tgtEl>
                                          <p:spTgt spid="35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Outros elementos de texto</a:t>
            </a:r>
            <a:endParaRPr lang="pt-BR" dirty="0"/>
          </a:p>
        </p:txBody>
      </p:sp>
      <p:sp>
        <p:nvSpPr>
          <p:cNvPr id="3" name="Espaço Reservado para Conteúdo 2"/>
          <p:cNvSpPr>
            <a:spLocks noGrp="1"/>
          </p:cNvSpPr>
          <p:nvPr>
            <p:ph idx="1"/>
          </p:nvPr>
        </p:nvSpPr>
        <p:spPr/>
        <p:txBody>
          <a:bodyPr>
            <a:normAutofit fontScale="85000" lnSpcReduction="20000"/>
          </a:bodyPr>
          <a:lstStyle/>
          <a:p>
            <a:r>
              <a:rPr lang="pt-BR" b="1" dirty="0"/>
              <a:t>Inverter a ordem de um texto</a:t>
            </a:r>
          </a:p>
          <a:p>
            <a:pPr lvl="1"/>
            <a:r>
              <a:rPr lang="pt-BR" dirty="0"/>
              <a:t>O elemento </a:t>
            </a:r>
            <a:r>
              <a:rPr lang="pt-BR" dirty="0" err="1"/>
              <a:t>bdo</a:t>
            </a:r>
            <a:r>
              <a:rPr lang="pt-BR" dirty="0"/>
              <a:t> permite definir o sentido da escrita do texto e os atributos </a:t>
            </a:r>
            <a:r>
              <a:rPr lang="pt-BR" dirty="0" err="1"/>
              <a:t>rtl</a:t>
            </a:r>
            <a:r>
              <a:rPr lang="pt-BR" dirty="0"/>
              <a:t> </a:t>
            </a:r>
            <a:r>
              <a:rPr lang="pt-BR" dirty="0" err="1"/>
              <a:t>eltr</a:t>
            </a:r>
            <a:r>
              <a:rPr lang="pt-BR" dirty="0"/>
              <a:t> indicam, respectivamente: da direita para esquerda e da esquerda para direita. Por exemplo, aplicado na palavra “trombone”, o resultado seria “</a:t>
            </a:r>
            <a:r>
              <a:rPr lang="pt-BR" dirty="0" err="1"/>
              <a:t>enobmort</a:t>
            </a:r>
            <a:r>
              <a:rPr lang="pt-BR" dirty="0" smtClean="0"/>
              <a:t>”.</a:t>
            </a:r>
          </a:p>
          <a:p>
            <a:pPr lvl="1"/>
            <a:endParaRPr lang="pt-BR" dirty="0"/>
          </a:p>
          <a:p>
            <a:pPr lvl="1"/>
            <a:endParaRPr lang="pt-BR" dirty="0" smtClean="0"/>
          </a:p>
          <a:p>
            <a:pPr lvl="1"/>
            <a:endParaRPr lang="pt-BR" dirty="0"/>
          </a:p>
          <a:p>
            <a:pPr lvl="1"/>
            <a:endParaRPr lang="pt-BR" dirty="0" smtClean="0"/>
          </a:p>
          <a:p>
            <a:pPr marL="457200" lvl="1" indent="0">
              <a:buNone/>
            </a:pPr>
            <a:endParaRPr lang="pt-BR" dirty="0" smtClean="0"/>
          </a:p>
          <a:p>
            <a:pPr marL="457200" lvl="1" indent="0">
              <a:buNone/>
            </a:pPr>
            <a:endParaRPr lang="pt-BR" dirty="0"/>
          </a:p>
          <a:p>
            <a:pPr marL="457200" lvl="1" indent="0">
              <a:buNone/>
            </a:pPr>
            <a:r>
              <a:rPr lang="pt-BR" dirty="0" smtClean="0"/>
              <a:t>.</a:t>
            </a:r>
            <a:endParaRPr lang="pt-BR" dirty="0"/>
          </a:p>
          <a:p>
            <a:endParaRPr lang="pt-BR"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139" y="3655583"/>
            <a:ext cx="4195723" cy="30857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ângulo 5"/>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440013"/>
            <a:ext cx="8176279" cy="60133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2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dirty="0"/>
              <a:t>Outros elementos de texto</a:t>
            </a:r>
            <a:endParaRPr lang="pt-BR" dirty="0"/>
          </a:p>
        </p:txBody>
      </p:sp>
      <p:sp>
        <p:nvSpPr>
          <p:cNvPr id="3" name="Espaço Reservado para Conteúdo 2"/>
          <p:cNvSpPr>
            <a:spLocks noGrp="1"/>
          </p:cNvSpPr>
          <p:nvPr>
            <p:ph idx="1"/>
          </p:nvPr>
        </p:nvSpPr>
        <p:spPr/>
        <p:txBody>
          <a:bodyPr>
            <a:normAutofit lnSpcReduction="10000"/>
          </a:bodyPr>
          <a:lstStyle/>
          <a:p>
            <a:r>
              <a:rPr lang="pt-BR" b="1" dirty="0"/>
              <a:t>Variáveis e saída de dados</a:t>
            </a:r>
          </a:p>
          <a:p>
            <a:pPr lvl="1"/>
            <a:r>
              <a:rPr lang="pt-BR" dirty="0"/>
              <a:t>Podem ser marcadas pelos elementos var e </a:t>
            </a:r>
            <a:r>
              <a:rPr lang="pt-BR" dirty="0" err="1"/>
              <a:t>samp</a:t>
            </a:r>
            <a:r>
              <a:rPr lang="pt-BR" dirty="0"/>
              <a:t>.</a:t>
            </a:r>
          </a:p>
          <a:p>
            <a:pPr marL="0" indent="0">
              <a:buNone/>
            </a:pPr>
            <a:endParaRPr lang="pt-BR" dirty="0" smtClean="0"/>
          </a:p>
          <a:p>
            <a:pPr marL="0" indent="0">
              <a:buNone/>
            </a:pPr>
            <a:endParaRPr lang="pt-BR" dirty="0" smtClean="0"/>
          </a:p>
          <a:p>
            <a:pPr marL="0" indent="0">
              <a:buNone/>
            </a:pPr>
            <a:endParaRPr lang="pt-BR" dirty="0"/>
          </a:p>
          <a:p>
            <a:pPr marL="0" indent="0">
              <a:buNone/>
            </a:pPr>
            <a:endParaRPr lang="pt-BR" dirty="0" smtClean="0"/>
          </a:p>
          <a:p>
            <a:pPr marL="0" indent="0">
              <a:buNone/>
            </a:pPr>
            <a:endParaRPr lang="pt-BR" dirty="0"/>
          </a:p>
          <a:p>
            <a:pPr marL="0" indent="0">
              <a:buNone/>
            </a:pPr>
            <a:r>
              <a:rPr lang="pt-BR" dirty="0" smtClean="0"/>
              <a:t>.</a:t>
            </a:r>
            <a:endParaRPr lang="pt-BR" dirty="0"/>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0949" y="2880574"/>
            <a:ext cx="5480514" cy="32847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tângulo 6"/>
          <p:cNvSpPr/>
          <p:nvPr/>
        </p:nvSpPr>
        <p:spPr>
          <a:xfrm>
            <a:off x="0" y="0"/>
            <a:ext cx="9144000" cy="6858000"/>
          </a:xfrm>
          <a:prstGeom prst="rect">
            <a:avLst/>
          </a:prstGeom>
          <a:solidFill>
            <a:srgbClr val="7F7F7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58" y="875214"/>
            <a:ext cx="8826422" cy="52900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8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301" y="404664"/>
            <a:ext cx="7053383" cy="1262185"/>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32428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7891"/>
                                        </p:tgtEl>
                                        <p:attrNameLst>
                                          <p:attrName>style.visibility</p:attrName>
                                        </p:attrNameLst>
                                      </p:cBhvr>
                                      <p:to>
                                        <p:strVal val="visible"/>
                                      </p:to>
                                    </p:set>
                                    <p:anim calcmode="lin" valueType="num">
                                      <p:cBhvr>
                                        <p:cTn id="18" dur="500" fill="hold"/>
                                        <p:tgtEl>
                                          <p:spTgt spid="37891"/>
                                        </p:tgtEl>
                                        <p:attrNameLst>
                                          <p:attrName>ppt_w</p:attrName>
                                        </p:attrNameLst>
                                      </p:cBhvr>
                                      <p:tavLst>
                                        <p:tav tm="0">
                                          <p:val>
                                            <p:fltVal val="0"/>
                                          </p:val>
                                        </p:tav>
                                        <p:tav tm="100000">
                                          <p:val>
                                            <p:strVal val="#ppt_w"/>
                                          </p:val>
                                        </p:tav>
                                      </p:tavLst>
                                    </p:anim>
                                    <p:anim calcmode="lin" valueType="num">
                                      <p:cBhvr>
                                        <p:cTn id="19" dur="500" fill="hold"/>
                                        <p:tgtEl>
                                          <p:spTgt spid="37891"/>
                                        </p:tgtEl>
                                        <p:attrNameLst>
                                          <p:attrName>ppt_h</p:attrName>
                                        </p:attrNameLst>
                                      </p:cBhvr>
                                      <p:tavLst>
                                        <p:tav tm="0">
                                          <p:val>
                                            <p:fltVal val="0"/>
                                          </p:val>
                                        </p:tav>
                                        <p:tav tm="100000">
                                          <p:val>
                                            <p:strVal val="#ppt_h"/>
                                          </p:val>
                                        </p:tav>
                                      </p:tavLst>
                                    </p:anim>
                                    <p:animEffect transition="in" filter="fade">
                                      <p:cBhvr>
                                        <p:cTn id="20"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609</TotalTime>
  <Words>769</Words>
  <Application>Microsoft Office PowerPoint</Application>
  <PresentationFormat>Apresentação na tela (4:3)</PresentationFormat>
  <Paragraphs>275</Paragraphs>
  <Slides>77</Slides>
  <Notes>0</Notes>
  <HiddenSlides>0</HiddenSlides>
  <MMClips>0</MMClips>
  <ScaleCrop>false</ScaleCrop>
  <HeadingPairs>
    <vt:vector size="4" baseType="variant">
      <vt:variant>
        <vt:lpstr>Tema</vt:lpstr>
      </vt:variant>
      <vt:variant>
        <vt:i4>1</vt:i4>
      </vt:variant>
      <vt:variant>
        <vt:lpstr>Títulos de slides</vt:lpstr>
      </vt:variant>
      <vt:variant>
        <vt:i4>77</vt:i4>
      </vt:variant>
    </vt:vector>
  </HeadingPairs>
  <TitlesOfParts>
    <vt:vector size="78" baseType="lpstr">
      <vt:lpstr>Tema do Office</vt:lpstr>
      <vt:lpstr>HTML5 e CSS3</vt:lpstr>
      <vt:lpstr>Estrutura do documento</vt:lpstr>
      <vt:lpstr>Estrutura do documento</vt:lpstr>
      <vt:lpstr>Estrutura Básica</vt:lpstr>
      <vt:lpstr>Cabeçalho</vt:lpstr>
      <vt:lpstr>Article</vt:lpstr>
      <vt:lpstr>Article – com elementos básicos</vt:lpstr>
      <vt:lpstr>Article – post de um Blog</vt:lpstr>
      <vt:lpstr>Article – post de um Blog com comentário</vt:lpstr>
      <vt:lpstr>Article – dentro de única seção</vt:lpstr>
      <vt:lpstr>Aside</vt:lpstr>
      <vt:lpstr>Aside</vt:lpstr>
      <vt:lpstr>Footer</vt:lpstr>
      <vt:lpstr>Footer – função rodapé global</vt:lpstr>
      <vt:lpstr>Footer - rodapé de uma seção</vt:lpstr>
      <vt:lpstr>Footer - rodapé de um artigo</vt:lpstr>
      <vt:lpstr>Footer - rodapé com dois blocos de navegação agrupados:</vt:lpstr>
      <vt:lpstr>Elementos header e hgroup</vt:lpstr>
      <vt:lpstr>Header - cabeçalho principal do documento</vt:lpstr>
      <vt:lpstr>Header - cabeçalho de um artigo ou seção</vt:lpstr>
      <vt:lpstr>Header e Hgroup - cabeçalho principal</vt:lpstr>
      <vt:lpstr>Section</vt:lpstr>
      <vt:lpstr>Section</vt:lpstr>
      <vt:lpstr>Nav</vt:lpstr>
      <vt:lpstr>Nav</vt:lpstr>
      <vt:lpstr>Address</vt:lpstr>
      <vt:lpstr>Address</vt:lpstr>
      <vt:lpstr>Grupos de Conteúdo</vt:lpstr>
      <vt:lpstr>Grupo de Conteúdo</vt:lpstr>
      <vt:lpstr>Elementos p, blockquote e hr</vt:lpstr>
      <vt:lpstr>Elementos p, blockquote e hr</vt:lpstr>
      <vt:lpstr>Lista não ordenada</vt:lpstr>
      <vt:lpstr>Lista ordenada</vt:lpstr>
      <vt:lpstr>Lista ordenada reversa</vt:lpstr>
      <vt:lpstr>Lista ordenada com inicial</vt:lpstr>
      <vt:lpstr>Lista ordenada imposta</vt:lpstr>
      <vt:lpstr>Lista de descrição</vt:lpstr>
      <vt:lpstr>Elementos figure e figurecaption</vt:lpstr>
      <vt:lpstr>Elementos figure e figurecaption</vt:lpstr>
      <vt:lpstr>Elemento div</vt:lpstr>
      <vt:lpstr>A semântica dos elementos de texto</vt:lpstr>
      <vt:lpstr>A semântica dos elementos de texto</vt:lpstr>
      <vt:lpstr>Elemento a</vt:lpstr>
      <vt:lpstr>Elemento a</vt:lpstr>
      <vt:lpstr>Elemento a</vt:lpstr>
      <vt:lpstr>Elemento a</vt:lpstr>
      <vt:lpstr>Elemento a</vt:lpstr>
      <vt:lpstr>Elemento a</vt:lpstr>
      <vt:lpstr>Elemento a</vt:lpstr>
      <vt:lpstr>Elemento a</vt:lpstr>
      <vt:lpstr>Elemento a</vt:lpstr>
      <vt:lpstr>Elemento a</vt:lpstr>
      <vt:lpstr>Elemento b e Elemento strong</vt:lpstr>
      <vt:lpstr>Elemento b e Elemento strong</vt:lpstr>
      <vt:lpstr>Elementos i e em</vt:lpstr>
      <vt:lpstr>Elementos i e em</vt:lpstr>
      <vt:lpstr>Elemento small</vt:lpstr>
      <vt:lpstr>Elemento small</vt:lpstr>
      <vt:lpstr>Elemento s</vt:lpstr>
      <vt:lpstr>Elemento s</vt:lpstr>
      <vt:lpstr>Elementos cite e q</vt:lpstr>
      <vt:lpstr>Elementos cite e q</vt:lpstr>
      <vt:lpstr>Elementos dfn e abbr</vt:lpstr>
      <vt:lpstr>Elementos dfn e abbr</vt:lpstr>
      <vt:lpstr>Elemento span</vt:lpstr>
      <vt:lpstr>Elementos br e wbr</vt:lpstr>
      <vt:lpstr>Elementos br e wbr</vt:lpstr>
      <vt:lpstr>Elemento time</vt:lpstr>
      <vt:lpstr>Elemento mark</vt:lpstr>
      <vt:lpstr>Elemento mark</vt:lpstr>
      <vt:lpstr>Elemento mark com estilo (CSS)</vt:lpstr>
      <vt:lpstr>Outros elementos de texto</vt:lpstr>
      <vt:lpstr>Outros elementos de texto</vt:lpstr>
      <vt:lpstr>Outros elementos de texto</vt:lpstr>
      <vt:lpstr>Outros elementos de texto</vt:lpstr>
      <vt:lpstr>Outros elementos de texto</vt:lpstr>
      <vt:lpstr>Outros elementos de texto</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Daniel Y. Kawasaki</dc:creator>
  <cp:lastModifiedBy>Daniel Yuthaka Kawasaki</cp:lastModifiedBy>
  <cp:revision>42</cp:revision>
  <dcterms:created xsi:type="dcterms:W3CDTF">2013-10-24T17:35:22Z</dcterms:created>
  <dcterms:modified xsi:type="dcterms:W3CDTF">2013-10-29T13:37:35Z</dcterms:modified>
</cp:coreProperties>
</file>