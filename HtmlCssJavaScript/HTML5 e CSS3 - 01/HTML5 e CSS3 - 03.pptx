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34" r:id="rId3"/>
    <p:sldId id="335" r:id="rId4"/>
    <p:sldId id="339" r:id="rId5"/>
    <p:sldId id="336" r:id="rId6"/>
    <p:sldId id="337" r:id="rId7"/>
    <p:sldId id="338" r:id="rId8"/>
    <p:sldId id="370" r:id="rId9"/>
    <p:sldId id="341" r:id="rId10"/>
    <p:sldId id="340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71" r:id="rId21"/>
    <p:sldId id="355" r:id="rId22"/>
    <p:sldId id="356" r:id="rId23"/>
    <p:sldId id="357" r:id="rId24"/>
    <p:sldId id="352" r:id="rId25"/>
    <p:sldId id="351" r:id="rId26"/>
    <p:sldId id="353" r:id="rId27"/>
    <p:sldId id="358" r:id="rId28"/>
    <p:sldId id="359" r:id="rId29"/>
    <p:sldId id="360" r:id="rId30"/>
    <p:sldId id="361" r:id="rId31"/>
    <p:sldId id="362" r:id="rId32"/>
    <p:sldId id="363" r:id="rId33"/>
    <p:sldId id="372" r:id="rId34"/>
    <p:sldId id="364" r:id="rId35"/>
    <p:sldId id="367" r:id="rId36"/>
    <p:sldId id="365" r:id="rId37"/>
    <p:sldId id="366" r:id="rId38"/>
    <p:sldId id="374" r:id="rId39"/>
    <p:sldId id="368" r:id="rId40"/>
    <p:sldId id="369" r:id="rId41"/>
    <p:sldId id="373" r:id="rId4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FFD89-4290-43AD-BC86-85419D39F999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61A25-AFDF-485C-BD73-477322337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85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61A25-AFDF-485C-BD73-47732233789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506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61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27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2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56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23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75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2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51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1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433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36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F73A4-A69F-401C-A52D-18B4F3210F9F}" type="datetimeFigureOut">
              <a:rPr lang="pt-BR" smtClean="0"/>
              <a:t>09/11/2013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84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odelos/img_relativo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odelos/img_absoluto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modelos/img_bloco_texto.html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odelos/img_link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svg_img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svg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odelos/iframe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iframe_link.htm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youtube_object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youtube_embed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audio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audio_download.html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video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video_poster.html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odelos/video_source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odelos/video_flash.html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hyperlink" Target="modelos/canvas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canvas_css.html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modelos/canvas_coordinate.html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codepen.io/stuffit/pen/KrAwx" TargetMode="External"/><Relationship Id="rId2" Type="http://schemas.openxmlformats.org/officeDocument/2006/relationships/hyperlink" Target="https://developer.mozilla.org/en-US/demos/detail/zen-photon-garden/laun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depen.io/soulwire/pen/Ffvlo" TargetMode="External"/><Relationship Id="rId5" Type="http://schemas.openxmlformats.org/officeDocument/2006/relationships/hyperlink" Target="http://canvasrider.com/tracks/409068" TargetMode="External"/><Relationship Id="rId4" Type="http://schemas.openxmlformats.org/officeDocument/2006/relationships/hyperlink" Target="http://codepen.io/pixelgrid/pen/ECrKd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hyperlink" Target="modelos/map.html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HTML5 e CSS3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Criando </a:t>
            </a:r>
            <a:r>
              <a:rPr lang="pt-BR" dirty="0" err="1" smtClean="0"/>
              <a:t>WebSites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167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Conteúdo embutido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HTML5 e CSS3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31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Conteúdo Embutido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Elemento </a:t>
            </a:r>
            <a:r>
              <a:rPr lang="pt-BR" dirty="0" err="1" smtClean="0"/>
              <a:t>img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iframe</a:t>
            </a:r>
            <a:endParaRPr lang="pt-BR" dirty="0" smtClean="0"/>
          </a:p>
          <a:p>
            <a:r>
              <a:rPr lang="pt-BR" dirty="0" smtClean="0"/>
              <a:t>Elementos </a:t>
            </a:r>
            <a:r>
              <a:rPr lang="pt-BR" dirty="0" err="1" smtClean="0"/>
              <a:t>embed</a:t>
            </a:r>
            <a:r>
              <a:rPr lang="pt-BR" dirty="0" smtClean="0"/>
              <a:t>, </a:t>
            </a:r>
            <a:r>
              <a:rPr lang="pt-BR" dirty="0" err="1" smtClean="0"/>
              <a:t>object</a:t>
            </a:r>
            <a:r>
              <a:rPr lang="pt-BR" dirty="0" smtClean="0"/>
              <a:t>, param</a:t>
            </a:r>
          </a:p>
          <a:p>
            <a:r>
              <a:rPr lang="pt-BR" dirty="0"/>
              <a:t>Elementos </a:t>
            </a:r>
            <a:r>
              <a:rPr lang="pt-BR" dirty="0" err="1" smtClean="0"/>
              <a:t>Audio</a:t>
            </a:r>
            <a:r>
              <a:rPr lang="pt-BR" dirty="0" smtClean="0"/>
              <a:t>, </a:t>
            </a:r>
            <a:r>
              <a:rPr lang="pt-BR" dirty="0" err="1" smtClean="0"/>
              <a:t>video</a:t>
            </a:r>
            <a:r>
              <a:rPr lang="pt-BR" dirty="0" smtClean="0"/>
              <a:t>, </a:t>
            </a:r>
            <a:r>
              <a:rPr lang="pt-BR" dirty="0" err="1" smtClean="0"/>
              <a:t>sound</a:t>
            </a:r>
            <a:r>
              <a:rPr lang="pt-BR" dirty="0" smtClean="0"/>
              <a:t>, </a:t>
            </a:r>
            <a:r>
              <a:rPr lang="pt-BR" dirty="0" err="1" smtClean="0"/>
              <a:t>track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Canvas</a:t>
            </a:r>
            <a:endParaRPr lang="pt-BR" dirty="0" smtClean="0"/>
          </a:p>
          <a:p>
            <a:r>
              <a:rPr lang="pt-BR" dirty="0"/>
              <a:t>Elementos </a:t>
            </a:r>
            <a:r>
              <a:rPr lang="pt-BR" dirty="0" err="1" smtClean="0"/>
              <a:t>Map</a:t>
            </a:r>
            <a:r>
              <a:rPr lang="pt-BR" dirty="0" smtClean="0"/>
              <a:t>, </a:t>
            </a:r>
            <a:r>
              <a:rPr lang="pt-BR" dirty="0" err="1" smtClean="0"/>
              <a:t>area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2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img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Imagem com endereço </a:t>
            </a:r>
            <a:r>
              <a:rPr lang="pt-BR" b="1" dirty="0" smtClean="0"/>
              <a:t>relativo</a:t>
            </a:r>
            <a:endParaRPr lang="pt-BR" b="1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913" y="2425897"/>
            <a:ext cx="5658585" cy="3235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68386"/>
            <a:ext cx="8284735" cy="4736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445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img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Imagem com endereço absoluto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106" y="2564904"/>
            <a:ext cx="5466201" cy="2984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71242"/>
            <a:ext cx="8803370" cy="4806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673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img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Imagem em um bloco de texto</a:t>
            </a: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552" y="2677737"/>
            <a:ext cx="4547720" cy="3703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84" y="178438"/>
            <a:ext cx="8056564" cy="6561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/>
          <p:cNvSpPr/>
          <p:nvPr/>
        </p:nvSpPr>
        <p:spPr>
          <a:xfrm>
            <a:off x="-36512" y="-27384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57526"/>
            <a:ext cx="8590460" cy="317958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Retângulo 9">
            <a:hlinkClick r:id="rId5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75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img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Imagem com </a:t>
            </a:r>
            <a:r>
              <a:rPr lang="pt-BR" b="1" dirty="0" smtClean="0"/>
              <a:t>link</a:t>
            </a:r>
            <a:endParaRPr lang="pt-BR" b="1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105" y="2685129"/>
            <a:ext cx="5924203" cy="31201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8673625" cy="4568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526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Selecione duas imagem na internet e baixe no computador e salve os endereços de origem.</a:t>
            </a:r>
          </a:p>
          <a:p>
            <a:r>
              <a:rPr lang="pt-BR" dirty="0" smtClean="0"/>
              <a:t>Crie um arquivo </a:t>
            </a:r>
            <a:r>
              <a:rPr lang="pt-BR" dirty="0" err="1" smtClean="0"/>
              <a:t>html</a:t>
            </a:r>
            <a:r>
              <a:rPr lang="pt-BR" dirty="0" smtClean="0"/>
              <a:t> e insira as imagens como endereço relativo e como endereço absoluto.</a:t>
            </a:r>
          </a:p>
          <a:p>
            <a:r>
              <a:rPr lang="pt-BR" dirty="0" smtClean="0"/>
              <a:t>Coloque o endereço nas imagens.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554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SVG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Formato SVG (</a:t>
            </a:r>
            <a:r>
              <a:rPr lang="pt-BR" dirty="0" err="1"/>
              <a:t>Scalable</a:t>
            </a:r>
            <a:r>
              <a:rPr lang="pt-BR" dirty="0"/>
              <a:t> Vectorial </a:t>
            </a:r>
            <a:r>
              <a:rPr lang="pt-BR" dirty="0" err="1"/>
              <a:t>Graphics</a:t>
            </a:r>
            <a:r>
              <a:rPr lang="pt-BR" dirty="0"/>
              <a:t>) é uma especificação de linguagem baseada em XML para representar arquivos vetoriais bidimensionais, estáticos ou animados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2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SVG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Com o elemento </a:t>
            </a:r>
            <a:r>
              <a:rPr lang="pt-BR" b="1" dirty="0" err="1"/>
              <a:t>img</a:t>
            </a:r>
            <a:endParaRPr lang="pt-BR" b="1" dirty="0"/>
          </a:p>
          <a:p>
            <a:pPr lvl="1"/>
            <a:r>
              <a:rPr lang="pt-BR" dirty="0"/>
              <a:t>No HTML 5 você pode usar o elemento </a:t>
            </a:r>
            <a:r>
              <a:rPr lang="pt-BR" dirty="0" err="1"/>
              <a:t>img</a:t>
            </a:r>
            <a:r>
              <a:rPr lang="pt-BR" dirty="0"/>
              <a:t> para incorporar um arquivo de formato vetorial SVG em um documento. Antes de usar este recurso em seus projetos, verifique a compatibilidade desta marcação com os agentes de usuário</a:t>
            </a:r>
            <a:r>
              <a:rPr lang="pt-BR" dirty="0" smtClean="0"/>
              <a:t>.</a:t>
            </a:r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dirty="0" smtClean="0"/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180" y="3422690"/>
            <a:ext cx="4688875" cy="27541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42201"/>
            <a:ext cx="8306628" cy="4879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27384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580" y="1412776"/>
            <a:ext cx="2858840" cy="15619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Retângulo 8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838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SVG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Elemento </a:t>
            </a:r>
            <a:r>
              <a:rPr lang="pt-BR" b="1" dirty="0" err="1"/>
              <a:t>svg</a:t>
            </a:r>
            <a:endParaRPr lang="pt-BR" b="1" dirty="0"/>
          </a:p>
          <a:p>
            <a:pPr lvl="1"/>
            <a:r>
              <a:rPr lang="pt-BR" dirty="0"/>
              <a:t>Também é possível incorporar um trecho de código SVG para representar uma imagem vetorial construída a partir de coordenadas numéricas e de informações de contorno e preenchimento.</a:t>
            </a:r>
          </a:p>
          <a:p>
            <a:pPr lvl="1"/>
            <a:r>
              <a:rPr lang="pt-BR" dirty="0"/>
              <a:t>O elemento </a:t>
            </a:r>
            <a:r>
              <a:rPr lang="pt-BR" dirty="0" err="1"/>
              <a:t>svg</a:t>
            </a:r>
            <a:r>
              <a:rPr lang="pt-BR" dirty="0"/>
              <a:t> não é nativo da linguagem HTML 5, mas pode ser lido dentro um documento HTML 5</a:t>
            </a:r>
            <a:r>
              <a:rPr lang="pt-BR" dirty="0" smtClean="0"/>
              <a:t>.</a:t>
            </a:r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marL="457200" lvl="1" indent="0">
              <a:buNone/>
            </a:pPr>
            <a:endParaRPr lang="pt-BR" dirty="0" smtClean="0"/>
          </a:p>
          <a:p>
            <a:pPr marL="457200" lvl="1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697" y="4077072"/>
            <a:ext cx="4295018" cy="2591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8"/>
            <a:ext cx="8369776" cy="5050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/>
          <p:cNvSpPr/>
          <p:nvPr/>
        </p:nvSpPr>
        <p:spPr>
          <a:xfrm>
            <a:off x="-36512" y="27384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696" y="980728"/>
            <a:ext cx="2286780" cy="155174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Retângulo 9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431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iframe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Os elementos frame, </a:t>
            </a:r>
            <a:r>
              <a:rPr lang="pt-BR" dirty="0" err="1" smtClean="0"/>
              <a:t>frameset</a:t>
            </a:r>
            <a:r>
              <a:rPr lang="pt-BR" dirty="0"/>
              <a:t> </a:t>
            </a:r>
            <a:r>
              <a:rPr lang="pt-BR" dirty="0" smtClean="0"/>
              <a:t>e </a:t>
            </a:r>
            <a:r>
              <a:rPr lang="pt-BR" dirty="0" err="1" smtClean="0"/>
              <a:t>noframes</a:t>
            </a:r>
            <a:r>
              <a:rPr lang="pt-BR" dirty="0" smtClean="0"/>
              <a:t> foram retirados do HTML 5 por não permitirem a exibição de um </a:t>
            </a:r>
            <a:r>
              <a:rPr lang="pt-BR" dirty="0"/>
              <a:t>documento que contemple os requisitos básicos de usabilidade, acessibilidade e indexação. Porém, o elemento </a:t>
            </a:r>
            <a:r>
              <a:rPr lang="pt-BR" dirty="0" err="1"/>
              <a:t>iframe</a:t>
            </a:r>
            <a:r>
              <a:rPr lang="pt-BR" dirty="0"/>
              <a:t> continua presente no HTML 5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471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iframe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Iframe</a:t>
            </a:r>
            <a:r>
              <a:rPr lang="pt-BR" b="1" dirty="0"/>
              <a:t> </a:t>
            </a:r>
            <a:r>
              <a:rPr lang="pt-BR" b="1" dirty="0" smtClean="0"/>
              <a:t>simples</a:t>
            </a:r>
            <a:endParaRPr lang="pt-BR" b="1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155" y="2492896"/>
            <a:ext cx="5934102" cy="3070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400"/>
            <a:ext cx="8688118" cy="4494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295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iframe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Link para </a:t>
            </a:r>
            <a:r>
              <a:rPr lang="pt-BR" b="1" dirty="0" err="1" smtClean="0"/>
              <a:t>Iframe</a:t>
            </a:r>
            <a:endParaRPr lang="pt-BR" b="1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76" y="2434436"/>
            <a:ext cx="5411661" cy="3441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8"/>
            <a:ext cx="8715534" cy="55425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27384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42" y="188640"/>
            <a:ext cx="7808116" cy="101244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Retângulo 8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8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Elementos </a:t>
            </a:r>
            <a:r>
              <a:rPr lang="pt-BR" b="1" dirty="0" err="1"/>
              <a:t>embed</a:t>
            </a:r>
            <a:r>
              <a:rPr lang="pt-BR" b="1" dirty="0"/>
              <a:t> e </a:t>
            </a:r>
            <a:r>
              <a:rPr lang="pt-BR" b="1" dirty="0" err="1" smtClean="0"/>
              <a:t>object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O elemento </a:t>
            </a:r>
            <a:r>
              <a:rPr lang="pt-BR" dirty="0" err="1"/>
              <a:t>object</a:t>
            </a:r>
            <a:r>
              <a:rPr lang="pt-BR" dirty="0"/>
              <a:t> pode ser utilizado para incluir objetos como imagens, áudio, vídeos, componentes ActiveX e outros tipos de conteúdo que precisam de um </a:t>
            </a:r>
            <a:r>
              <a:rPr lang="pt-BR" dirty="0" err="1"/>
              <a:t>plugin</a:t>
            </a:r>
            <a:r>
              <a:rPr lang="pt-BR" dirty="0"/>
              <a:t> externo para serem exibidos.</a:t>
            </a:r>
          </a:p>
          <a:p>
            <a:r>
              <a:rPr lang="pt-BR" dirty="0"/>
              <a:t>O </a:t>
            </a:r>
            <a:r>
              <a:rPr lang="pt-BR" dirty="0" err="1"/>
              <a:t>embed</a:t>
            </a:r>
            <a:r>
              <a:rPr lang="pt-BR" dirty="0"/>
              <a:t> , apesar de ser usado na prática desde a época do browser Netscape, não era um elemento oficial das especificações do HTML 4 e XHTML . No HTML 5, seu uso é regulamentado e ele passa a fazer parte da especificação da linguagem. Sua função também é adicionar um conteúdo externo que necessite de um </a:t>
            </a:r>
            <a:r>
              <a:rPr lang="pt-BR" dirty="0" err="1"/>
              <a:t>plugin</a:t>
            </a:r>
            <a:r>
              <a:rPr lang="pt-BR" dirty="0"/>
              <a:t> para ser exibido pelo browser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102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Elementos </a:t>
            </a:r>
            <a:r>
              <a:rPr lang="pt-BR" b="1" dirty="0" err="1"/>
              <a:t>embed</a:t>
            </a:r>
            <a:r>
              <a:rPr lang="pt-BR" b="1" dirty="0"/>
              <a:t> e </a:t>
            </a:r>
            <a:r>
              <a:rPr lang="pt-BR" b="1" dirty="0" err="1"/>
              <a:t>object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Conteúdo em SWF com </a:t>
            </a:r>
            <a:r>
              <a:rPr lang="pt-BR" b="1" dirty="0" err="1" smtClean="0"/>
              <a:t>embed</a:t>
            </a:r>
            <a:endParaRPr lang="pt-BR" b="1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299" y="2420888"/>
            <a:ext cx="6004948" cy="23615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0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6792"/>
            <a:ext cx="8791845" cy="3457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98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Elementos </a:t>
            </a:r>
            <a:r>
              <a:rPr lang="pt-BR" b="1" dirty="0" err="1"/>
              <a:t>embed</a:t>
            </a:r>
            <a:r>
              <a:rPr lang="pt-BR" b="1" dirty="0"/>
              <a:t> e </a:t>
            </a:r>
            <a:r>
              <a:rPr lang="pt-BR" b="1" dirty="0" err="1"/>
              <a:t>object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Conteúdo em SWF com </a:t>
            </a:r>
            <a:r>
              <a:rPr lang="pt-BR" b="1" dirty="0" err="1" smtClean="0"/>
              <a:t>object</a:t>
            </a:r>
            <a:endParaRPr lang="pt-BR" b="1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13" y="2289958"/>
            <a:ext cx="5554786" cy="3155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-36512" y="0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8946039" cy="5081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683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Elementos </a:t>
            </a:r>
            <a:r>
              <a:rPr lang="pt-BR" b="1" dirty="0" err="1"/>
              <a:t>embed</a:t>
            </a:r>
            <a:r>
              <a:rPr lang="pt-BR" b="1" dirty="0"/>
              <a:t> e </a:t>
            </a:r>
            <a:r>
              <a:rPr lang="pt-BR" b="1" dirty="0" err="1"/>
              <a:t>object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Conteúdo embutido do </a:t>
            </a:r>
            <a:r>
              <a:rPr lang="pt-BR" b="1" dirty="0" err="1"/>
              <a:t>Youtube</a:t>
            </a:r>
            <a:r>
              <a:rPr lang="pt-BR" b="1" dirty="0"/>
              <a:t> com </a:t>
            </a:r>
            <a:r>
              <a:rPr lang="pt-BR" b="1" dirty="0" err="1" smtClean="0"/>
              <a:t>object</a:t>
            </a:r>
            <a:endParaRPr lang="pt-BR" b="1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435" y="2420888"/>
            <a:ext cx="5115542" cy="24760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-36512" y="0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40" y="1367590"/>
            <a:ext cx="8238633" cy="3987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4462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048" y="873245"/>
            <a:ext cx="6066315" cy="4922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Retângulo 8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196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Elementos </a:t>
            </a:r>
            <a:r>
              <a:rPr lang="pt-BR" b="1" dirty="0" err="1"/>
              <a:t>embed</a:t>
            </a:r>
            <a:r>
              <a:rPr lang="pt-BR" b="1" dirty="0"/>
              <a:t> e </a:t>
            </a:r>
            <a:r>
              <a:rPr lang="pt-BR" b="1" dirty="0" err="1"/>
              <a:t>object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Conteúdo embutido do </a:t>
            </a:r>
            <a:r>
              <a:rPr lang="pt-BR" b="1" dirty="0" err="1"/>
              <a:t>Youtube</a:t>
            </a:r>
            <a:r>
              <a:rPr lang="pt-BR" b="1" dirty="0"/>
              <a:t> com </a:t>
            </a:r>
            <a:r>
              <a:rPr lang="pt-BR" b="1" dirty="0" err="1" smtClean="0"/>
              <a:t>embed</a:t>
            </a:r>
            <a:endParaRPr lang="pt-BR" b="1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652" y="2452646"/>
            <a:ext cx="5353109" cy="2075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-36512" y="0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82" y="1628800"/>
            <a:ext cx="8621236" cy="3342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567" y="1159678"/>
            <a:ext cx="5552866" cy="4538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Retângulo 11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91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Selecione um vídeo no </a:t>
            </a:r>
            <a:r>
              <a:rPr lang="pt-BR" dirty="0" err="1" smtClean="0"/>
              <a:t>Youtube</a:t>
            </a:r>
            <a:r>
              <a:rPr lang="pt-BR" dirty="0" smtClean="0"/>
              <a:t>.</a:t>
            </a:r>
          </a:p>
          <a:p>
            <a:r>
              <a:rPr lang="pt-BR" dirty="0" smtClean="0"/>
              <a:t>Crie um arquivo </a:t>
            </a:r>
            <a:r>
              <a:rPr lang="pt-BR" dirty="0" err="1" smtClean="0"/>
              <a:t>html</a:t>
            </a:r>
            <a:r>
              <a:rPr lang="pt-BR" dirty="0" smtClean="0"/>
              <a:t> e inclua no código com </a:t>
            </a:r>
            <a:r>
              <a:rPr lang="pt-BR" dirty="0" err="1" smtClean="0"/>
              <a:t>object</a:t>
            </a:r>
            <a:r>
              <a:rPr lang="pt-BR" dirty="0" smtClean="0"/>
              <a:t> e </a:t>
            </a:r>
            <a:r>
              <a:rPr lang="pt-BR" dirty="0" err="1" smtClean="0"/>
              <a:t>embed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71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/>
              <a:t>Audio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elemento </a:t>
            </a:r>
            <a:r>
              <a:rPr lang="pt-BR" dirty="0" err="1" smtClean="0"/>
              <a:t>audio</a:t>
            </a:r>
            <a:r>
              <a:rPr lang="pt-BR" dirty="0" smtClean="0"/>
              <a:t> possibilita a incorporação e reprodução diretamente pelo navegador. Porém os navegadores ainda não chegaram a um consenso sobre os formatos de áudio.</a:t>
            </a:r>
          </a:p>
        </p:txBody>
      </p:sp>
    </p:spTree>
    <p:extLst>
      <p:ext uri="{BB962C8B-B14F-4D97-AF65-F5344CB8AC3E}">
        <p14:creationId xmlns:p14="http://schemas.microsoft.com/office/powerpoint/2010/main" val="133204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Audio</a:t>
            </a:r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1674"/>
              </p:ext>
            </p:extLst>
          </p:nvPr>
        </p:nvGraphicFramePr>
        <p:xfrm>
          <a:off x="467544" y="1556792"/>
          <a:ext cx="8208912" cy="49733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00800"/>
                <a:gridCol w="10081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Formato</a:t>
                      </a:r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Suporte</a:t>
                      </a:r>
                      <a:endParaRPr lang="pt-BR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1" dirty="0" smtClean="0"/>
                        <a:t>AAC</a:t>
                      </a:r>
                      <a:r>
                        <a:rPr lang="pt-BR" sz="1800" dirty="0" smtClean="0"/>
                        <a:t> (.m4a,</a:t>
                      </a:r>
                      <a:r>
                        <a:rPr lang="pt-BR" sz="1800" baseline="0" dirty="0" smtClean="0"/>
                        <a:t> .m4b, .m4p, .m4v, .m4r, .3gp, .mp4, .</a:t>
                      </a:r>
                      <a:r>
                        <a:rPr lang="pt-BR" sz="1800" baseline="0" dirty="0" err="1" smtClean="0"/>
                        <a:t>acc</a:t>
                      </a:r>
                      <a:r>
                        <a:rPr lang="pt-BR" sz="1800" baseline="0" dirty="0" smtClean="0"/>
                        <a:t>)</a:t>
                      </a:r>
                    </a:p>
                    <a:p>
                      <a:r>
                        <a:rPr lang="pt-BR" sz="1800" baseline="0" dirty="0" smtClean="0"/>
                        <a:t>AAC (</a:t>
                      </a:r>
                      <a:r>
                        <a:rPr lang="pt-BR" sz="1800" baseline="0" dirty="0" err="1" smtClean="0"/>
                        <a:t>Advanced</a:t>
                      </a:r>
                      <a:r>
                        <a:rPr lang="pt-BR" sz="1800" baseline="0" dirty="0" smtClean="0"/>
                        <a:t> </a:t>
                      </a:r>
                      <a:r>
                        <a:rPr lang="pt-BR" sz="1800" baseline="0" dirty="0" err="1" smtClean="0"/>
                        <a:t>Audio</a:t>
                      </a:r>
                      <a:r>
                        <a:rPr lang="pt-BR" sz="1800" baseline="0" dirty="0" smtClean="0"/>
                        <a:t> </a:t>
                      </a:r>
                      <a:r>
                        <a:rPr lang="pt-BR" sz="1800" baseline="0" dirty="0" err="1" smtClean="0"/>
                        <a:t>Coding</a:t>
                      </a:r>
                      <a:r>
                        <a:rPr lang="pt-BR" sz="1800" baseline="0" dirty="0" smtClean="0"/>
                        <a:t>) ou M4A é um formato de som digital com qualidade superior ao MP3. Formato padrão para </a:t>
                      </a:r>
                      <a:r>
                        <a:rPr lang="pt-BR" sz="1800" baseline="0" dirty="0" err="1" smtClean="0"/>
                        <a:t>iPad</a:t>
                      </a:r>
                      <a:r>
                        <a:rPr lang="pt-BR" sz="1800" baseline="0" dirty="0" smtClean="0"/>
                        <a:t>, iPhone, iPod e Playstation 3. </a:t>
                      </a:r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Safari</a:t>
                      </a:r>
                      <a:br>
                        <a:rPr lang="pt-BR" sz="1600" dirty="0" smtClean="0"/>
                      </a:br>
                      <a:r>
                        <a:rPr lang="pt-BR" sz="1600" dirty="0" smtClean="0"/>
                        <a:t>IE9</a:t>
                      </a:r>
                      <a:endParaRPr lang="pt-BR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MP3 (.mp3)</a:t>
                      </a:r>
                    </a:p>
                    <a:p>
                      <a:r>
                        <a:rPr lang="pt-BR" sz="1800" dirty="0" smtClean="0"/>
                        <a:t>MP3 (MPEG-1 ou MPEG-2 </a:t>
                      </a:r>
                      <a:r>
                        <a:rPr lang="pt-BR" sz="1800" dirty="0" err="1" smtClean="0"/>
                        <a:t>Audio</a:t>
                      </a:r>
                      <a:r>
                        <a:rPr lang="pt-BR" sz="1800" dirty="0" smtClean="0"/>
                        <a:t> </a:t>
                      </a:r>
                      <a:r>
                        <a:rPr lang="pt-BR" sz="1800" dirty="0" err="1" smtClean="0"/>
                        <a:t>Layer</a:t>
                      </a:r>
                      <a:r>
                        <a:rPr lang="pt-BR" sz="1800" dirty="0" smtClean="0"/>
                        <a:t> 3) é o formato de áudio mais popular na web e nos dispositivos que reproduzem áudio digital</a:t>
                      </a:r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 smtClean="0"/>
                        <a:t>Chrome</a:t>
                      </a:r>
                      <a:endParaRPr lang="pt-BR" sz="1600" dirty="0" smtClean="0"/>
                    </a:p>
                    <a:p>
                      <a:pPr algn="ctr"/>
                      <a:r>
                        <a:rPr lang="pt-BR" sz="1600" dirty="0" smtClean="0"/>
                        <a:t>Safari</a:t>
                      </a:r>
                    </a:p>
                    <a:p>
                      <a:pPr algn="ctr"/>
                      <a:r>
                        <a:rPr lang="pt-BR" sz="1600" dirty="0" smtClean="0"/>
                        <a:t>IE9</a:t>
                      </a:r>
                      <a:endParaRPr lang="pt-BR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err="1" smtClean="0"/>
                        <a:t>Ogg</a:t>
                      </a:r>
                      <a:r>
                        <a:rPr lang="pt-BR" sz="1800" dirty="0" smtClean="0"/>
                        <a:t> </a:t>
                      </a:r>
                      <a:r>
                        <a:rPr lang="pt-BR" sz="1800" dirty="0" err="1" smtClean="0"/>
                        <a:t>Vorbis</a:t>
                      </a:r>
                      <a:r>
                        <a:rPr lang="pt-BR" sz="1800" dirty="0" smtClean="0"/>
                        <a:t> (.</a:t>
                      </a:r>
                      <a:r>
                        <a:rPr lang="pt-BR" sz="1800" dirty="0" err="1" smtClean="0"/>
                        <a:t>ogg</a:t>
                      </a:r>
                      <a:r>
                        <a:rPr lang="pt-BR" sz="1800" dirty="0" smtClean="0"/>
                        <a:t>, .</a:t>
                      </a:r>
                      <a:r>
                        <a:rPr lang="pt-BR" sz="1800" dirty="0" err="1" smtClean="0"/>
                        <a:t>oga</a:t>
                      </a:r>
                      <a:r>
                        <a:rPr lang="pt-BR" sz="1800" dirty="0" smtClean="0"/>
                        <a:t>)</a:t>
                      </a:r>
                    </a:p>
                    <a:p>
                      <a:r>
                        <a:rPr lang="pt-BR" sz="1800" dirty="0" smtClean="0"/>
                        <a:t>Formato muito</a:t>
                      </a:r>
                      <a:r>
                        <a:rPr lang="pt-BR" sz="1800" baseline="0" dirty="0" smtClean="0"/>
                        <a:t> </a:t>
                      </a:r>
                      <a:r>
                        <a:rPr lang="pt-BR" sz="1800" baseline="0" dirty="0" err="1" smtClean="0"/>
                        <a:t>usadi</a:t>
                      </a:r>
                      <a:r>
                        <a:rPr lang="pt-BR" sz="1800" baseline="0" dirty="0" smtClean="0"/>
                        <a:t> em videogames e agora também na web. Por se tratar de formato aberto, te recebido muita atenção </a:t>
                      </a:r>
                      <a:r>
                        <a:rPr lang="pt-BR" sz="1800" baseline="0" dirty="0" err="1" smtClean="0"/>
                        <a:t>dosdesenvolvedores</a:t>
                      </a:r>
                      <a:r>
                        <a:rPr lang="pt-BR" sz="1800" baseline="0" dirty="0" smtClean="0"/>
                        <a:t> e dos fabricantes de navegadores e dispositivos.</a:t>
                      </a:r>
                      <a:endParaRPr lang="pt-BR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 smtClean="0"/>
                        <a:t>Chrome</a:t>
                      </a:r>
                      <a:endParaRPr lang="pt-BR" sz="1600" dirty="0" smtClean="0"/>
                    </a:p>
                    <a:p>
                      <a:pPr algn="ctr"/>
                      <a:r>
                        <a:rPr lang="pt-BR" sz="1600" dirty="0" smtClean="0"/>
                        <a:t>Firefox</a:t>
                      </a:r>
                    </a:p>
                    <a:p>
                      <a:pPr algn="ctr"/>
                      <a:r>
                        <a:rPr lang="pt-BR" sz="1600" dirty="0" smtClean="0"/>
                        <a:t>Opera</a:t>
                      </a:r>
                      <a:endParaRPr lang="pt-BR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WAVE (.</a:t>
                      </a:r>
                      <a:r>
                        <a:rPr lang="pt-BR" sz="1800" dirty="0" err="1" smtClean="0"/>
                        <a:t>wav</a:t>
                      </a:r>
                      <a:r>
                        <a:rPr lang="pt-BR" sz="1800" dirty="0" smtClean="0"/>
                        <a:t>)</a:t>
                      </a:r>
                    </a:p>
                    <a:p>
                      <a:r>
                        <a:rPr lang="pt-BR" sz="1800" dirty="0" smtClean="0"/>
                        <a:t>WAVE (</a:t>
                      </a:r>
                      <a:r>
                        <a:rPr lang="pt-BR" sz="1800" dirty="0" err="1" smtClean="0"/>
                        <a:t>Waveform</a:t>
                      </a:r>
                      <a:r>
                        <a:rPr lang="pt-BR" sz="1800" baseline="0" dirty="0" smtClean="0"/>
                        <a:t> </a:t>
                      </a:r>
                      <a:r>
                        <a:rPr lang="pt-BR" sz="1800" baseline="0" dirty="0" err="1" smtClean="0"/>
                        <a:t>Audio</a:t>
                      </a:r>
                      <a:r>
                        <a:rPr lang="pt-BR" sz="1800" baseline="0" dirty="0" smtClean="0"/>
                        <a:t> File </a:t>
                      </a:r>
                      <a:r>
                        <a:rPr lang="pt-BR" sz="1800" baseline="0" dirty="0" err="1" smtClean="0"/>
                        <a:t>Format</a:t>
                      </a:r>
                      <a:r>
                        <a:rPr lang="pt-BR" sz="1800" baseline="0" dirty="0" smtClean="0"/>
                        <a:t>) é o formato de áudio padrão da Microsoft. Apesar de ser bem aceito, seu uso é restrito porque não é um formato com compressão, ou seja, arquivos grandes.</a:t>
                      </a:r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 smtClean="0"/>
                        <a:t>Chrome</a:t>
                      </a:r>
                      <a:endParaRPr lang="pt-BR" sz="1600" dirty="0" smtClean="0"/>
                    </a:p>
                    <a:p>
                      <a:pPr algn="ctr"/>
                      <a:r>
                        <a:rPr lang="pt-BR" sz="1600" dirty="0" smtClean="0"/>
                        <a:t>Firefox</a:t>
                      </a:r>
                    </a:p>
                    <a:p>
                      <a:pPr algn="ctr"/>
                      <a:r>
                        <a:rPr lang="pt-BR" sz="1600" dirty="0" smtClean="0"/>
                        <a:t>Opera</a:t>
                      </a:r>
                    </a:p>
                    <a:p>
                      <a:pPr algn="ctr"/>
                      <a:r>
                        <a:rPr lang="pt-BR" sz="1600" dirty="0" smtClean="0"/>
                        <a:t>Safari</a:t>
                      </a:r>
                    </a:p>
                    <a:p>
                      <a:pPr algn="ctr"/>
                      <a:r>
                        <a:rPr lang="pt-BR" sz="1600" dirty="0" smtClean="0"/>
                        <a:t>IE9</a:t>
                      </a:r>
                      <a:endParaRPr lang="pt-BR" sz="16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50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Audio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Atributos:</a:t>
            </a:r>
          </a:p>
          <a:p>
            <a:pPr lvl="1"/>
            <a:r>
              <a:rPr lang="pt-BR" b="1" dirty="0" err="1" smtClean="0"/>
              <a:t>autoplay</a:t>
            </a:r>
            <a:r>
              <a:rPr lang="pt-BR" dirty="0" smtClean="0"/>
              <a:t>: define se o som começa a tocar automaticamente ou se espera a intervenção do usuário;</a:t>
            </a:r>
          </a:p>
          <a:p>
            <a:pPr lvl="1"/>
            <a:r>
              <a:rPr lang="pt-BR" b="1" dirty="0" err="1" smtClean="0"/>
              <a:t>controls</a:t>
            </a:r>
            <a:r>
              <a:rPr lang="pt-BR" dirty="0" smtClean="0"/>
              <a:t>: permite que o navegador exiba ou não uma interface de controle (play, stop, pause e outros);</a:t>
            </a:r>
          </a:p>
          <a:p>
            <a:pPr lvl="1"/>
            <a:r>
              <a:rPr lang="pt-BR" b="1" dirty="0"/>
              <a:t>l</a:t>
            </a:r>
            <a:r>
              <a:rPr lang="pt-BR" b="1" dirty="0" smtClean="0"/>
              <a:t>oop</a:t>
            </a:r>
            <a:r>
              <a:rPr lang="pt-BR" dirty="0" smtClean="0"/>
              <a:t>: indica a repetição do som;</a:t>
            </a:r>
          </a:p>
          <a:p>
            <a:pPr lvl="1"/>
            <a:r>
              <a:rPr lang="pt-BR" b="1" dirty="0" err="1"/>
              <a:t>p</a:t>
            </a:r>
            <a:r>
              <a:rPr lang="pt-BR" b="1" dirty="0" err="1" smtClean="0"/>
              <a:t>reload</a:t>
            </a:r>
            <a:r>
              <a:rPr lang="pt-BR" dirty="0" smtClean="0"/>
              <a:t>: permite que o arquivo seja pré-carregado na página, caso a opção </a:t>
            </a:r>
            <a:r>
              <a:rPr lang="pt-BR" dirty="0" err="1" smtClean="0"/>
              <a:t>autoplay</a:t>
            </a:r>
            <a:r>
              <a:rPr lang="pt-BR" dirty="0" smtClean="0"/>
              <a:t> não esteja indicada;</a:t>
            </a:r>
          </a:p>
          <a:p>
            <a:pPr lvl="1"/>
            <a:r>
              <a:rPr lang="pt-BR" b="1" dirty="0" err="1"/>
              <a:t>s</a:t>
            </a:r>
            <a:r>
              <a:rPr lang="pt-BR" b="1" dirty="0" err="1" smtClean="0"/>
              <a:t>rc</a:t>
            </a:r>
            <a:r>
              <a:rPr lang="pt-BR" dirty="0" smtClean="0"/>
              <a:t>: indica a origem (URL) do arquivo a se reproduzido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821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audio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Um único </a:t>
            </a:r>
            <a:r>
              <a:rPr lang="pt-BR" b="1" dirty="0" smtClean="0"/>
              <a:t>formato</a:t>
            </a:r>
            <a:endParaRPr lang="pt-BR" b="1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373" y="2492896"/>
            <a:ext cx="5029667" cy="1960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33" y="1611473"/>
            <a:ext cx="8910363" cy="3473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996" y="1212399"/>
            <a:ext cx="5772636" cy="79814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Retângulo 9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925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audio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Vários formatos e opção de download do arquivo, visível quando o browser do usuário não oferecer suporte para nenhum dos formatos indicados ou para o elemento </a:t>
            </a:r>
            <a:r>
              <a:rPr lang="pt-BR" dirty="0" err="1"/>
              <a:t>audio</a:t>
            </a:r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144" y="2996952"/>
            <a:ext cx="5826125" cy="35935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32019"/>
            <a:ext cx="8530030" cy="5261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684" y="1196752"/>
            <a:ext cx="5772636" cy="79814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Retângulo 8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126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</a:t>
            </a:r>
            <a:r>
              <a:rPr lang="pt-BR" dirty="0" smtClean="0"/>
              <a:t> </a:t>
            </a:r>
            <a:r>
              <a:rPr lang="pt-BR" b="1" dirty="0" err="1" smtClean="0"/>
              <a:t>Video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elemento </a:t>
            </a:r>
            <a:r>
              <a:rPr lang="pt-BR" dirty="0" err="1" smtClean="0"/>
              <a:t>video</a:t>
            </a:r>
            <a:r>
              <a:rPr lang="pt-BR" dirty="0" smtClean="0"/>
              <a:t> </a:t>
            </a:r>
            <a:r>
              <a:rPr lang="pt-BR" dirty="0"/>
              <a:t>possibilita a </a:t>
            </a:r>
            <a:r>
              <a:rPr lang="pt-BR" dirty="0" smtClean="0"/>
              <a:t>inclusão </a:t>
            </a:r>
            <a:r>
              <a:rPr lang="pt-BR" dirty="0"/>
              <a:t>e reprodução </a:t>
            </a:r>
            <a:r>
              <a:rPr lang="pt-BR" dirty="0" smtClean="0"/>
              <a:t>de conteúdo de vídeo sem a necessidade dos </a:t>
            </a:r>
            <a:r>
              <a:rPr lang="pt-BR" dirty="0" err="1" smtClean="0"/>
              <a:t>plugins</a:t>
            </a:r>
            <a:r>
              <a:rPr lang="pt-BR" dirty="0" smtClean="0"/>
              <a:t> (Real Player, </a:t>
            </a:r>
            <a:r>
              <a:rPr lang="pt-BR" dirty="0" err="1" smtClean="0"/>
              <a:t>Quick</a:t>
            </a:r>
            <a:r>
              <a:rPr lang="pt-BR" dirty="0" smtClean="0"/>
              <a:t> Time, Windows Media Player, Flash Player) diretamente </a:t>
            </a:r>
            <a:r>
              <a:rPr lang="pt-BR" dirty="0"/>
              <a:t>pelo navegador. </a:t>
            </a:r>
          </a:p>
        </p:txBody>
      </p:sp>
    </p:spTree>
    <p:extLst>
      <p:ext uri="{BB962C8B-B14F-4D97-AF65-F5344CB8AC3E}">
        <p14:creationId xmlns:p14="http://schemas.microsoft.com/office/powerpoint/2010/main" val="411439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</a:t>
            </a:r>
            <a:r>
              <a:rPr lang="pt-BR" dirty="0"/>
              <a:t> </a:t>
            </a:r>
            <a:r>
              <a:rPr lang="pt-BR" b="1" dirty="0" err="1"/>
              <a:t>Video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Formatos ou Containers</a:t>
            </a:r>
          </a:p>
          <a:p>
            <a:pPr lvl="1"/>
            <a:r>
              <a:rPr lang="pt-BR" b="1" dirty="0" smtClean="0"/>
              <a:t>Flash </a:t>
            </a:r>
            <a:r>
              <a:rPr lang="pt-BR" b="1" dirty="0" err="1" smtClean="0"/>
              <a:t>Video</a:t>
            </a:r>
            <a:r>
              <a:rPr lang="pt-BR" dirty="0" smtClean="0"/>
              <a:t>: formato de </a:t>
            </a:r>
            <a:r>
              <a:rPr lang="pt-BR" dirty="0" err="1" smtClean="0"/>
              <a:t>video</a:t>
            </a:r>
            <a:r>
              <a:rPr lang="pt-BR" dirty="0" smtClean="0"/>
              <a:t> padrão do Adobe Flash Player e possui a extensão .</a:t>
            </a:r>
            <a:r>
              <a:rPr lang="pt-BR" dirty="0" err="1" smtClean="0"/>
              <a:t>flv</a:t>
            </a:r>
            <a:endParaRPr lang="pt-BR" dirty="0" smtClean="0"/>
          </a:p>
          <a:p>
            <a:pPr lvl="1"/>
            <a:r>
              <a:rPr lang="pt-BR" b="1" dirty="0" smtClean="0"/>
              <a:t>MPEG4</a:t>
            </a:r>
            <a:r>
              <a:rPr lang="pt-BR" dirty="0" smtClean="0"/>
              <a:t>: desenvolvido pela </a:t>
            </a:r>
            <a:r>
              <a:rPr lang="pt-BR" dirty="0" err="1" smtClean="0"/>
              <a:t>Moving</a:t>
            </a:r>
            <a:r>
              <a:rPr lang="pt-BR" dirty="0" smtClean="0"/>
              <a:t> Picture Experts </a:t>
            </a:r>
            <a:r>
              <a:rPr lang="pt-BR" dirty="0" err="1" smtClean="0"/>
              <a:t>Group</a:t>
            </a:r>
            <a:r>
              <a:rPr lang="pt-BR" dirty="0" smtClean="0"/>
              <a:t> (MPEG), é baseado no formato .</a:t>
            </a:r>
            <a:r>
              <a:rPr lang="pt-BR" dirty="0" err="1" smtClean="0"/>
              <a:t>mov</a:t>
            </a:r>
            <a:r>
              <a:rPr lang="pt-BR" dirty="0" smtClean="0"/>
              <a:t>, que era nativo do </a:t>
            </a:r>
            <a:r>
              <a:rPr lang="pt-BR" dirty="0" err="1" smtClean="0"/>
              <a:t>Quick</a:t>
            </a:r>
            <a:r>
              <a:rPr lang="pt-BR" dirty="0" smtClean="0"/>
              <a:t> Time Player (Apple) e usa as extensões .mp4 ou .m4v</a:t>
            </a:r>
          </a:p>
          <a:p>
            <a:pPr lvl="1"/>
            <a:r>
              <a:rPr lang="pt-BR" b="1" dirty="0" err="1" smtClean="0"/>
              <a:t>Ogg</a:t>
            </a:r>
            <a:r>
              <a:rPr lang="pt-BR" dirty="0" smtClean="0"/>
              <a:t>: é um formato aberto e por este motivo vem ganhando popularidade e compatibilidade (</a:t>
            </a:r>
            <a:r>
              <a:rPr lang="pt-BR" dirty="0" err="1" smtClean="0"/>
              <a:t>Chrome</a:t>
            </a:r>
            <a:r>
              <a:rPr lang="pt-BR" dirty="0" smtClean="0"/>
              <a:t>, Firefox e Opera). Pode ser usado como formato de vídeo com o codec </a:t>
            </a:r>
            <a:r>
              <a:rPr lang="pt-BR" dirty="0" err="1" smtClean="0"/>
              <a:t>Theora</a:t>
            </a:r>
            <a:r>
              <a:rPr lang="pt-BR" dirty="0" smtClean="0"/>
              <a:t> (</a:t>
            </a:r>
            <a:r>
              <a:rPr lang="pt-BR" dirty="0" err="1" smtClean="0"/>
              <a:t>Ogg</a:t>
            </a:r>
            <a:r>
              <a:rPr lang="pt-BR" dirty="0" smtClean="0"/>
              <a:t> </a:t>
            </a:r>
            <a:r>
              <a:rPr lang="pt-BR" dirty="0" err="1" smtClean="0"/>
              <a:t>Theora</a:t>
            </a:r>
            <a:r>
              <a:rPr lang="pt-BR" dirty="0" smtClean="0"/>
              <a:t>) e usa a extensão .</a:t>
            </a:r>
            <a:r>
              <a:rPr lang="pt-BR" dirty="0" err="1" smtClean="0"/>
              <a:t>ogv</a:t>
            </a:r>
            <a:endParaRPr lang="pt-BR" dirty="0" smtClean="0"/>
          </a:p>
          <a:p>
            <a:pPr lvl="1"/>
            <a:r>
              <a:rPr lang="pt-BR" b="1" dirty="0" err="1" smtClean="0"/>
              <a:t>WebM</a:t>
            </a:r>
            <a:r>
              <a:rPr lang="pt-BR" dirty="0" smtClean="0"/>
              <a:t>: desenvolvida em formato aberto com o apoio do Google especialmente para ser usado com o HTML5. Sua extensão é o .</a:t>
            </a:r>
            <a:r>
              <a:rPr lang="pt-BR" dirty="0" err="1" smtClean="0"/>
              <a:t>webm</a:t>
            </a:r>
            <a:endParaRPr lang="pt-BR" dirty="0" smtClean="0"/>
          </a:p>
          <a:p>
            <a:pPr lvl="1"/>
            <a:r>
              <a:rPr lang="pt-BR" b="1" dirty="0" smtClean="0"/>
              <a:t>AVI</a:t>
            </a:r>
            <a:r>
              <a:rPr lang="pt-BR" dirty="0" smtClean="0"/>
              <a:t>: formato padrão de vídeo da Microsoft, com pouca compatibilidade em relação aos navegadores e </a:t>
            </a:r>
            <a:r>
              <a:rPr lang="pt-BR" dirty="0" err="1" smtClean="0"/>
              <a:t>codecs</a:t>
            </a:r>
            <a:r>
              <a:rPr lang="pt-BR" dirty="0" smtClean="0"/>
              <a:t> atuais. Sua extensão é o .</a:t>
            </a:r>
            <a:r>
              <a:rPr lang="pt-BR" dirty="0" err="1" smtClean="0"/>
              <a:t>avi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95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</a:t>
            </a:r>
            <a:r>
              <a:rPr lang="pt-BR" dirty="0"/>
              <a:t> </a:t>
            </a:r>
            <a:r>
              <a:rPr lang="pt-BR" b="1" dirty="0" err="1"/>
              <a:t>Video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err="1" smtClean="0"/>
              <a:t>Codecs</a:t>
            </a:r>
            <a:endParaRPr lang="pt-BR" dirty="0" smtClean="0"/>
          </a:p>
          <a:p>
            <a:pPr lvl="1"/>
            <a:r>
              <a:rPr lang="pt-BR" dirty="0" smtClean="0"/>
              <a:t>Um codec é um dispositivo ou software capaz de codificar e/ou decodificar um fluxo de dados  digitais. No caso da reprodução de vídeo, </a:t>
            </a:r>
            <a:r>
              <a:rPr lang="pt-BR" dirty="0" err="1" smtClean="0"/>
              <a:t>ops</a:t>
            </a:r>
            <a:r>
              <a:rPr lang="pt-BR" dirty="0" smtClean="0"/>
              <a:t> </a:t>
            </a:r>
            <a:r>
              <a:rPr lang="pt-BR" dirty="0" err="1" smtClean="0"/>
              <a:t>codecs</a:t>
            </a:r>
            <a:r>
              <a:rPr lang="pt-BR" dirty="0" smtClean="0"/>
              <a:t> permitem a exibição das imagens na tela e o envio do áudio aos alto-falantes do dispositivo. Os principais </a:t>
            </a:r>
            <a:r>
              <a:rPr lang="pt-BR" dirty="0" err="1" smtClean="0"/>
              <a:t>codecs</a:t>
            </a:r>
            <a:r>
              <a:rPr lang="pt-BR" dirty="0" smtClean="0"/>
              <a:t> são:</a:t>
            </a:r>
          </a:p>
          <a:p>
            <a:pPr lvl="2"/>
            <a:r>
              <a:rPr lang="pt-BR" b="1" dirty="0" smtClean="0"/>
              <a:t>H.264</a:t>
            </a:r>
            <a:r>
              <a:rPr lang="pt-BR" dirty="0" smtClean="0"/>
              <a:t>: utilizado pelos dispositivos Apple, Adobe Flash Player, reprodutores Blue Ray, Sistema </a:t>
            </a:r>
            <a:r>
              <a:rPr lang="pt-BR" dirty="0" err="1" smtClean="0"/>
              <a:t>Brasileir</a:t>
            </a:r>
            <a:r>
              <a:rPr lang="pt-BR" dirty="0" smtClean="0"/>
              <a:t> de Televisão Digital e pelos containers MPEG4 em geral.</a:t>
            </a:r>
          </a:p>
          <a:p>
            <a:pPr lvl="2"/>
            <a:r>
              <a:rPr lang="pt-BR" b="1" dirty="0" err="1" smtClean="0"/>
              <a:t>Theora</a:t>
            </a:r>
            <a:r>
              <a:rPr lang="pt-BR" dirty="0" smtClean="0"/>
              <a:t>: utilizado normalmente com um container de vídeo </a:t>
            </a:r>
            <a:r>
              <a:rPr lang="pt-BR" dirty="0" err="1" smtClean="0"/>
              <a:t>Ogg</a:t>
            </a:r>
            <a:r>
              <a:rPr lang="pt-BR" dirty="0" smtClean="0"/>
              <a:t>, é por isso sempre chamado de </a:t>
            </a:r>
            <a:r>
              <a:rPr lang="pt-BR" dirty="0" err="1" smtClean="0"/>
              <a:t>Ogg</a:t>
            </a:r>
            <a:r>
              <a:rPr lang="pt-BR" dirty="0" smtClean="0"/>
              <a:t> </a:t>
            </a:r>
            <a:r>
              <a:rPr lang="pt-BR" dirty="0" err="1" smtClean="0"/>
              <a:t>Theora</a:t>
            </a:r>
            <a:r>
              <a:rPr lang="pt-BR" dirty="0" smtClean="0"/>
              <a:t>. O Firefox suporta o </a:t>
            </a:r>
            <a:r>
              <a:rPr lang="pt-BR" dirty="0" err="1" smtClean="0"/>
              <a:t>Ogg</a:t>
            </a:r>
            <a:r>
              <a:rPr lang="pt-BR" dirty="0" smtClean="0"/>
              <a:t> </a:t>
            </a:r>
            <a:r>
              <a:rPr lang="pt-BR" dirty="0" err="1" smtClean="0"/>
              <a:t>Theora</a:t>
            </a:r>
            <a:r>
              <a:rPr lang="pt-BR" dirty="0" smtClean="0"/>
              <a:t> desde a sua versão 3.5.</a:t>
            </a:r>
          </a:p>
          <a:p>
            <a:pPr lvl="2"/>
            <a:r>
              <a:rPr lang="pt-BR" b="1" dirty="0" smtClean="0"/>
              <a:t>VP8</a:t>
            </a:r>
            <a:r>
              <a:rPr lang="pt-BR" dirty="0" smtClean="0"/>
              <a:t>: Integrado ao container </a:t>
            </a:r>
            <a:r>
              <a:rPr lang="pt-BR" dirty="0" err="1" smtClean="0"/>
              <a:t>WebM</a:t>
            </a:r>
            <a:r>
              <a:rPr lang="pt-BR" dirty="0" smtClean="0"/>
              <a:t> e desenvolvido em uma parceria Google/Opera/Mozilla. É um padrão aberto.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376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</a:t>
            </a:r>
            <a:r>
              <a:rPr lang="pt-BR" dirty="0"/>
              <a:t> </a:t>
            </a:r>
            <a:r>
              <a:rPr lang="pt-BR" b="1" dirty="0" err="1"/>
              <a:t>Video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 smtClean="0"/>
              <a:t>Vídeo com largura </a:t>
            </a:r>
            <a:r>
              <a:rPr lang="pt-BR" dirty="0"/>
              <a:t>e altura (</a:t>
            </a:r>
            <a:r>
              <a:rPr lang="pt-BR" dirty="0" err="1"/>
              <a:t>width</a:t>
            </a:r>
            <a:r>
              <a:rPr lang="pt-BR" dirty="0"/>
              <a:t> e </a:t>
            </a:r>
            <a:r>
              <a:rPr lang="pt-BR" dirty="0" err="1"/>
              <a:t>height</a:t>
            </a:r>
            <a:r>
              <a:rPr lang="pt-BR" dirty="0"/>
              <a:t>) </a:t>
            </a:r>
            <a:r>
              <a:rPr lang="pt-BR" dirty="0" smtClean="0"/>
              <a:t>definido e com </a:t>
            </a:r>
            <a:r>
              <a:rPr lang="pt-BR" dirty="0"/>
              <a:t>a exibição do controlador (</a:t>
            </a:r>
            <a:r>
              <a:rPr lang="pt-BR" dirty="0" err="1"/>
              <a:t>controls</a:t>
            </a:r>
            <a:r>
              <a:rPr lang="pt-BR" dirty="0"/>
              <a:t>) e solicitando o </a:t>
            </a:r>
            <a:r>
              <a:rPr lang="pt-BR" dirty="0" err="1"/>
              <a:t>pré</a:t>
            </a:r>
            <a:r>
              <a:rPr lang="pt-BR" dirty="0"/>
              <a:t> carregamento (</a:t>
            </a:r>
            <a:r>
              <a:rPr lang="pt-BR" dirty="0" err="1"/>
              <a:t>preload</a:t>
            </a:r>
            <a:r>
              <a:rPr lang="pt-BR" dirty="0" smtClean="0"/>
              <a:t>)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140968"/>
            <a:ext cx="4860974" cy="2013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28800"/>
            <a:ext cx="8611512" cy="3566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800100"/>
            <a:ext cx="3543300" cy="262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177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</a:t>
            </a:r>
            <a:r>
              <a:rPr lang="pt-BR" dirty="0"/>
              <a:t> </a:t>
            </a:r>
            <a:r>
              <a:rPr lang="pt-BR" b="1" dirty="0" err="1"/>
              <a:t>Video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Vídeo com </a:t>
            </a:r>
            <a:r>
              <a:rPr lang="pt-BR" dirty="0"/>
              <a:t>o atributo </a:t>
            </a:r>
            <a:r>
              <a:rPr lang="pt-BR" dirty="0" err="1"/>
              <a:t>poster</a:t>
            </a:r>
            <a:r>
              <a:rPr lang="pt-BR" dirty="0"/>
              <a:t> para exibir um imagem caso o formato indicado no código não seja </a:t>
            </a:r>
            <a:r>
              <a:rPr lang="pt-BR" dirty="0" smtClean="0"/>
              <a:t>compatível </a:t>
            </a:r>
            <a:r>
              <a:rPr lang="pt-BR" dirty="0"/>
              <a:t>com o browser do </a:t>
            </a:r>
            <a:r>
              <a:rPr lang="pt-BR" dirty="0" smtClean="0"/>
              <a:t>usuário.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642" y="3068960"/>
            <a:ext cx="4642470" cy="1837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8224420" cy="3255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778" y="836712"/>
            <a:ext cx="4310444" cy="3008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096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</a:t>
            </a:r>
            <a:r>
              <a:rPr lang="pt-BR" dirty="0"/>
              <a:t> </a:t>
            </a:r>
            <a:r>
              <a:rPr lang="pt-BR" b="1" dirty="0" err="1"/>
              <a:t>Video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Vídeo </a:t>
            </a:r>
            <a:r>
              <a:rPr lang="pt-BR" dirty="0"/>
              <a:t>em vários formatos através do elemento </a:t>
            </a:r>
            <a:r>
              <a:rPr lang="pt-BR" dirty="0" err="1"/>
              <a:t>source</a:t>
            </a:r>
            <a:r>
              <a:rPr lang="pt-BR" dirty="0"/>
              <a:t> e com link para download como alternativa de </a:t>
            </a:r>
            <a:r>
              <a:rPr lang="pt-BR" dirty="0" smtClean="0"/>
              <a:t>segurança.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960" y="3053783"/>
            <a:ext cx="4588493" cy="2247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5" y="1065627"/>
            <a:ext cx="8941673" cy="4379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988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</a:t>
            </a:r>
            <a:r>
              <a:rPr lang="pt-BR" dirty="0"/>
              <a:t> </a:t>
            </a:r>
            <a:r>
              <a:rPr lang="pt-BR" b="1" dirty="0" err="1"/>
              <a:t>Video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Flash Player como alternativa e link para </a:t>
            </a:r>
            <a:r>
              <a:rPr lang="pt-BR" dirty="0" smtClean="0"/>
              <a:t>download.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320" y="2710447"/>
            <a:ext cx="4305772" cy="3166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3198"/>
            <a:ext cx="8390731" cy="6171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08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Selecione um vídeo no </a:t>
            </a:r>
            <a:r>
              <a:rPr lang="pt-BR" dirty="0" err="1" smtClean="0"/>
              <a:t>Youtube</a:t>
            </a:r>
            <a:r>
              <a:rPr lang="pt-BR" dirty="0" smtClean="0"/>
              <a:t> e baixe-o utilizando o site keepvid.com.</a:t>
            </a:r>
          </a:p>
          <a:p>
            <a:r>
              <a:rPr lang="pt-BR" dirty="0" smtClean="0"/>
              <a:t>Crie um arquivo </a:t>
            </a:r>
            <a:r>
              <a:rPr lang="pt-BR" dirty="0" err="1" smtClean="0"/>
              <a:t>html</a:t>
            </a:r>
            <a:r>
              <a:rPr lang="pt-BR" dirty="0" smtClean="0"/>
              <a:t> e inclua no código com </a:t>
            </a:r>
            <a:r>
              <a:rPr lang="pt-BR" dirty="0" err="1" smtClean="0"/>
              <a:t>video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386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canvas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O elemento </a:t>
            </a:r>
            <a:r>
              <a:rPr lang="pt-BR" dirty="0" err="1"/>
              <a:t>canvas</a:t>
            </a:r>
            <a:r>
              <a:rPr lang="pt-BR" dirty="0"/>
              <a:t>, novidade do HTML 5, permite que a informação para a construção de imagens baseadas em pixels seja inserida diretamente no código do documento.</a:t>
            </a:r>
          </a:p>
          <a:p>
            <a:r>
              <a:rPr lang="pt-BR" dirty="0"/>
              <a:t>O elemento </a:t>
            </a:r>
            <a:r>
              <a:rPr lang="pt-BR" dirty="0" err="1"/>
              <a:t>canvas</a:t>
            </a:r>
            <a:r>
              <a:rPr lang="pt-BR" dirty="0"/>
              <a:t> apenas delimita em que local da tela isto acontece. O processo de desenho é controlado por uma API específica para este elemento que interage com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r>
              <a:rPr lang="pt-BR" dirty="0"/>
              <a:t>Por enquanto, as imagens criadas são objetos em duas dimensões (2D), mas já existem experimentos para construção de objetos 3D com a API </a:t>
            </a:r>
            <a:r>
              <a:rPr lang="pt-BR" dirty="0" err="1"/>
              <a:t>Canvas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26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canvas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893" y="2145292"/>
            <a:ext cx="5372626" cy="3005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652669" cy="48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874" y="181438"/>
            <a:ext cx="3538252" cy="41836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581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canvas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 formatação CSS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146" y="2348880"/>
            <a:ext cx="5366120" cy="36822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8642191" cy="5930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619672" y="1700808"/>
            <a:ext cx="4320480" cy="864096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0" y="177924"/>
            <a:ext cx="3009900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0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canvas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Coordenada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" t="10351" r="70881" b="75431"/>
          <a:stretch/>
        </p:blipFill>
        <p:spPr bwMode="auto">
          <a:xfrm>
            <a:off x="2555776" y="2852936"/>
            <a:ext cx="3455355" cy="138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607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Elemento </a:t>
            </a:r>
            <a:r>
              <a:rPr lang="pt-BR" b="1" dirty="0" err="1"/>
              <a:t>canvas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developer.mozilla.org/en-US/demos/detail/zen-photon-garden/launch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3"/>
              </a:rPr>
              <a:t>http://codepen.io/stuffit/pen/KrAwx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4"/>
              </a:rPr>
              <a:t>http://</a:t>
            </a:r>
            <a:r>
              <a:rPr lang="pt-BR" dirty="0" smtClean="0">
                <a:hlinkClick r:id="rId4"/>
              </a:rPr>
              <a:t>codepen.io/pixelgrid/pen/ECrKd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5"/>
              </a:rPr>
              <a:t>http://</a:t>
            </a:r>
            <a:r>
              <a:rPr lang="pt-BR" dirty="0" smtClean="0">
                <a:hlinkClick r:id="rId5"/>
              </a:rPr>
              <a:t>canvasrider.com/tracks/409068</a:t>
            </a:r>
            <a:endParaRPr lang="pt-BR" dirty="0" smtClean="0"/>
          </a:p>
          <a:p>
            <a:endParaRPr lang="pt-BR" dirty="0"/>
          </a:p>
          <a:p>
            <a:r>
              <a:rPr lang="pt-BR" dirty="0">
                <a:hlinkClick r:id="rId6"/>
              </a:rPr>
              <a:t>http://</a:t>
            </a:r>
            <a:r>
              <a:rPr lang="pt-BR" dirty="0" smtClean="0">
                <a:hlinkClick r:id="rId6"/>
              </a:rPr>
              <a:t>codepen.io/soulwire/pen/Ffvlo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520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Elementos </a:t>
            </a:r>
            <a:r>
              <a:rPr lang="pt-BR" b="1" dirty="0" err="1" smtClean="0"/>
              <a:t>map</a:t>
            </a:r>
            <a:r>
              <a:rPr lang="pt-BR" b="1" dirty="0" smtClean="0"/>
              <a:t> e </a:t>
            </a:r>
            <a:r>
              <a:rPr lang="pt-BR" b="1" dirty="0" err="1" smtClean="0"/>
              <a:t>area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A linguagem HTML permite marcar áreas sensíveis dentro de uma imagem que podem receber links ou ações do usuário</a:t>
            </a:r>
          </a:p>
          <a:p>
            <a:pPr lvl="1"/>
            <a:r>
              <a:rPr lang="pt-BR" b="1" dirty="0" err="1" smtClean="0"/>
              <a:t>map</a:t>
            </a:r>
            <a:r>
              <a:rPr lang="pt-BR" dirty="0" smtClean="0"/>
              <a:t>: especifica que existe uma ou mais regiões dentro de uma imagem que podem receber uma marcação precisa de coordenadas através do elemento </a:t>
            </a:r>
            <a:r>
              <a:rPr lang="pt-BR" dirty="0" err="1" smtClean="0"/>
              <a:t>area</a:t>
            </a:r>
            <a:endParaRPr lang="pt-BR" dirty="0" smtClean="0"/>
          </a:p>
          <a:p>
            <a:pPr lvl="1"/>
            <a:r>
              <a:rPr lang="pt-BR" b="1" dirty="0" err="1"/>
              <a:t>a</a:t>
            </a:r>
            <a:r>
              <a:rPr lang="pt-BR" b="1" dirty="0" err="1" smtClean="0"/>
              <a:t>rea</a:t>
            </a:r>
            <a:r>
              <a:rPr lang="pt-BR" dirty="0" smtClean="0"/>
              <a:t>: possui um atributo específico, o atributo </a:t>
            </a:r>
            <a:r>
              <a:rPr lang="pt-BR" dirty="0" err="1" smtClean="0"/>
              <a:t>shape</a:t>
            </a:r>
            <a:r>
              <a:rPr lang="pt-BR" dirty="0" smtClean="0"/>
              <a:t>, que permite definir e mapear as seguinte formas geométricas em uma imagem:</a:t>
            </a:r>
          </a:p>
          <a:p>
            <a:pPr lvl="2"/>
            <a:r>
              <a:rPr lang="pt-BR" b="1" dirty="0" err="1" smtClean="0"/>
              <a:t>circle</a:t>
            </a:r>
            <a:r>
              <a:rPr lang="pt-BR" dirty="0" smtClean="0"/>
              <a:t>: um círculo com três coordenadas: as duas primeiras marcam a posição x e y do seu centro e a terceira o valor do raio;</a:t>
            </a:r>
          </a:p>
          <a:p>
            <a:pPr lvl="2"/>
            <a:r>
              <a:rPr lang="pt-BR" b="1" dirty="0" err="1"/>
              <a:t>r</a:t>
            </a:r>
            <a:r>
              <a:rPr lang="pt-BR" b="1" dirty="0" err="1" smtClean="0"/>
              <a:t>ect</a:t>
            </a:r>
            <a:r>
              <a:rPr lang="pt-BR" dirty="0" smtClean="0"/>
              <a:t>: um retângulo com quatro coordenadas: as duas primeiras marcam o vértice superior esquerdo e as duas últimas o vértice inferior direito;</a:t>
            </a:r>
          </a:p>
          <a:p>
            <a:pPr lvl="2"/>
            <a:r>
              <a:rPr lang="pt-BR" b="1" dirty="0" err="1"/>
              <a:t>p</a:t>
            </a:r>
            <a:r>
              <a:rPr lang="pt-BR" b="1" dirty="0" err="1" smtClean="0"/>
              <a:t>oly</a:t>
            </a:r>
            <a:r>
              <a:rPr lang="pt-BR" dirty="0" smtClean="0"/>
              <a:t>: um polígono, menos usado, recebe três pares de coordenadas  para definir seu formato</a:t>
            </a:r>
          </a:p>
          <a:p>
            <a:pPr lvl="2"/>
            <a:endParaRPr lang="pt-BR" dirty="0"/>
          </a:p>
          <a:p>
            <a:pPr lvl="1"/>
            <a:r>
              <a:rPr lang="pt-BR" dirty="0" smtClean="0"/>
              <a:t>Atributo </a:t>
            </a:r>
            <a:r>
              <a:rPr lang="pt-BR" dirty="0" err="1" smtClean="0"/>
              <a:t>alt</a:t>
            </a:r>
            <a:r>
              <a:rPr lang="pt-BR" dirty="0" smtClean="0"/>
              <a:t> no elemento </a:t>
            </a:r>
            <a:r>
              <a:rPr lang="pt-BR" dirty="0" err="1" smtClean="0"/>
              <a:t>area</a:t>
            </a:r>
            <a:r>
              <a:rPr lang="pt-BR" dirty="0" smtClean="0"/>
              <a:t>, assume o valor do link a que se refere, diferentemente do valor de uma imagem.</a:t>
            </a:r>
          </a:p>
          <a:p>
            <a:pPr lvl="1"/>
            <a:r>
              <a:rPr lang="pt-BR" dirty="0" smtClean="0"/>
              <a:t>Atributo </a:t>
            </a:r>
            <a:r>
              <a:rPr lang="pt-BR" dirty="0" err="1" smtClean="0"/>
              <a:t>usemap</a:t>
            </a:r>
            <a:r>
              <a:rPr lang="pt-BR" dirty="0" smtClean="0"/>
              <a:t> usado dentro do elemento </a:t>
            </a:r>
            <a:r>
              <a:rPr lang="pt-BR" dirty="0" err="1" smtClean="0"/>
              <a:t>img</a:t>
            </a:r>
            <a:r>
              <a:rPr lang="pt-BR" dirty="0" smtClean="0"/>
              <a:t>, relaciona a imagem com o elemento </a:t>
            </a:r>
            <a:r>
              <a:rPr lang="pt-BR" dirty="0" err="1" smtClean="0"/>
              <a:t>map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887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Elementos </a:t>
            </a:r>
            <a:r>
              <a:rPr lang="pt-BR" b="1" dirty="0" err="1" smtClean="0"/>
              <a:t>map</a:t>
            </a:r>
            <a:r>
              <a:rPr lang="pt-BR" b="1" dirty="0" smtClean="0"/>
              <a:t> e </a:t>
            </a:r>
            <a:r>
              <a:rPr lang="pt-BR" b="1" dirty="0" err="1" smtClean="0"/>
              <a:t>area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348880"/>
            <a:ext cx="4413304" cy="26130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91" y="1052736"/>
            <a:ext cx="8600281" cy="50920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-36512" y="-27384"/>
            <a:ext cx="9180512" cy="6885384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349746"/>
            <a:ext cx="4886325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lipse 3"/>
          <p:cNvSpPr/>
          <p:nvPr/>
        </p:nvSpPr>
        <p:spPr>
          <a:xfrm>
            <a:off x="3275856" y="1556792"/>
            <a:ext cx="792088" cy="792088"/>
          </a:xfrm>
          <a:prstGeom prst="ellipse">
            <a:avLst/>
          </a:prstGeom>
          <a:solidFill>
            <a:srgbClr val="FFFF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4355976" y="2204864"/>
            <a:ext cx="432048" cy="1080120"/>
          </a:xfrm>
          <a:prstGeom prst="rect">
            <a:avLst/>
          </a:prstGeom>
          <a:solidFill>
            <a:srgbClr val="FFFF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Retângulo 10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grpSp>
        <p:nvGrpSpPr>
          <p:cNvPr id="16" name="Grupo 15"/>
          <p:cNvGrpSpPr/>
          <p:nvPr/>
        </p:nvGrpSpPr>
        <p:grpSpPr>
          <a:xfrm>
            <a:off x="3671900" y="971436"/>
            <a:ext cx="1786211" cy="585356"/>
            <a:chOff x="3671900" y="971436"/>
            <a:chExt cx="1786211" cy="585356"/>
          </a:xfrm>
        </p:grpSpPr>
        <p:sp>
          <p:nvSpPr>
            <p:cNvPr id="7" name="CaixaDeTexto 6"/>
            <p:cNvSpPr txBox="1"/>
            <p:nvPr/>
          </p:nvSpPr>
          <p:spPr>
            <a:xfrm>
              <a:off x="4117936" y="971436"/>
              <a:ext cx="1340175" cy="369332"/>
            </a:xfrm>
            <a:prstGeom prst="rect">
              <a:avLst/>
            </a:prstGeom>
            <a:solidFill>
              <a:srgbClr val="FFFF00">
                <a:alpha val="71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Atributo </a:t>
              </a:r>
              <a:r>
                <a:rPr lang="pt-BR" dirty="0" err="1" smtClean="0"/>
                <a:t>circ</a:t>
              </a:r>
              <a:endParaRPr lang="pt-BR" dirty="0"/>
            </a:p>
          </p:txBody>
        </p:sp>
        <p:cxnSp>
          <p:nvCxnSpPr>
            <p:cNvPr id="15" name="Conector de seta reta 14"/>
            <p:cNvCxnSpPr>
              <a:stCxn id="7" idx="1"/>
              <a:endCxn id="4" idx="0"/>
            </p:cNvCxnSpPr>
            <p:nvPr/>
          </p:nvCxnSpPr>
          <p:spPr>
            <a:xfrm flipH="1">
              <a:off x="3671900" y="1156102"/>
              <a:ext cx="446036" cy="400690"/>
            </a:xfrm>
            <a:prstGeom prst="straightConnector1">
              <a:avLst/>
            </a:prstGeom>
            <a:ln w="57150">
              <a:solidFill>
                <a:srgbClr val="FFFF00">
                  <a:alpha val="70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/>
          <p:cNvGrpSpPr/>
          <p:nvPr/>
        </p:nvGrpSpPr>
        <p:grpSpPr>
          <a:xfrm>
            <a:off x="4572000" y="1664841"/>
            <a:ext cx="1828274" cy="561304"/>
            <a:chOff x="4572000" y="1664841"/>
            <a:chExt cx="1828274" cy="561304"/>
          </a:xfrm>
        </p:grpSpPr>
        <p:sp>
          <p:nvSpPr>
            <p:cNvPr id="13" name="CaixaDeTexto 12"/>
            <p:cNvSpPr txBox="1"/>
            <p:nvPr/>
          </p:nvSpPr>
          <p:spPr>
            <a:xfrm>
              <a:off x="5018036" y="1664841"/>
              <a:ext cx="1382238" cy="369332"/>
            </a:xfrm>
            <a:prstGeom prst="rect">
              <a:avLst/>
            </a:prstGeom>
            <a:solidFill>
              <a:srgbClr val="FFFF00">
                <a:alpha val="71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Atributo </a:t>
              </a:r>
              <a:r>
                <a:rPr lang="pt-BR" dirty="0" err="1" smtClean="0"/>
                <a:t>rect</a:t>
              </a:r>
              <a:endParaRPr lang="pt-BR" dirty="0"/>
            </a:p>
          </p:txBody>
        </p:sp>
        <p:cxnSp>
          <p:nvCxnSpPr>
            <p:cNvPr id="18" name="Conector de seta reta 17"/>
            <p:cNvCxnSpPr/>
            <p:nvPr/>
          </p:nvCxnSpPr>
          <p:spPr>
            <a:xfrm flipH="1">
              <a:off x="4572000" y="1825455"/>
              <a:ext cx="446036" cy="400690"/>
            </a:xfrm>
            <a:prstGeom prst="straightConnector1">
              <a:avLst/>
            </a:prstGeom>
            <a:ln w="57150">
              <a:solidFill>
                <a:srgbClr val="FFFF00">
                  <a:alpha val="70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647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4" grpId="0" animBg="1"/>
      <p:bldP spid="6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Selecione uma imagem e faça dois mapeamento, um circular e outro </a:t>
            </a:r>
            <a:r>
              <a:rPr lang="pt-BR" smtClean="0"/>
              <a:t>com retângulo </a:t>
            </a:r>
            <a:r>
              <a:rPr lang="pt-BR" dirty="0" smtClean="0"/>
              <a:t>com link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61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1349</Words>
  <Application>Microsoft Office PowerPoint</Application>
  <PresentationFormat>Apresentação na tela (4:3)</PresentationFormat>
  <Paragraphs>226</Paragraphs>
  <Slides>41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2" baseType="lpstr">
      <vt:lpstr>Tema do Office</vt:lpstr>
      <vt:lpstr>HTML5 e CSS3</vt:lpstr>
      <vt:lpstr>Conteúdo embutido</vt:lpstr>
      <vt:lpstr>Conteúdo Embutido</vt:lpstr>
      <vt:lpstr>Elemento img</vt:lpstr>
      <vt:lpstr>Elemento img</vt:lpstr>
      <vt:lpstr>Elemento img</vt:lpstr>
      <vt:lpstr>Elemento img</vt:lpstr>
      <vt:lpstr>Exercícios</vt:lpstr>
      <vt:lpstr>SVG</vt:lpstr>
      <vt:lpstr>SVG</vt:lpstr>
      <vt:lpstr>SVG</vt:lpstr>
      <vt:lpstr>Elemento iframe</vt:lpstr>
      <vt:lpstr>Elemento iframe</vt:lpstr>
      <vt:lpstr>Elemento iframe</vt:lpstr>
      <vt:lpstr>Elementos embed e object</vt:lpstr>
      <vt:lpstr>Elementos embed e object</vt:lpstr>
      <vt:lpstr>Elementos embed e object</vt:lpstr>
      <vt:lpstr>Elementos embed e object</vt:lpstr>
      <vt:lpstr>Elementos embed e object</vt:lpstr>
      <vt:lpstr>Exercício</vt:lpstr>
      <vt:lpstr>Elemento Audio</vt:lpstr>
      <vt:lpstr>Elemento Audio</vt:lpstr>
      <vt:lpstr>Elemento Audio</vt:lpstr>
      <vt:lpstr>Elemento audio</vt:lpstr>
      <vt:lpstr>Elemento audio</vt:lpstr>
      <vt:lpstr>Elemento Video</vt:lpstr>
      <vt:lpstr>Elemento Video</vt:lpstr>
      <vt:lpstr>Elemento Video</vt:lpstr>
      <vt:lpstr>Elemento Video</vt:lpstr>
      <vt:lpstr>Elemento Video</vt:lpstr>
      <vt:lpstr>Elemento Video</vt:lpstr>
      <vt:lpstr>Elemento Video</vt:lpstr>
      <vt:lpstr>Exercício</vt:lpstr>
      <vt:lpstr>Elemento canvas</vt:lpstr>
      <vt:lpstr>Elemento canvas</vt:lpstr>
      <vt:lpstr>Elemento canvas</vt:lpstr>
      <vt:lpstr>Elemento canvas</vt:lpstr>
      <vt:lpstr>Elemento canvas</vt:lpstr>
      <vt:lpstr>Elementos map e area</vt:lpstr>
      <vt:lpstr>Elementos map e area</vt:lpstr>
      <vt:lpstr>Exercício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Y. Kawasaki</dc:creator>
  <cp:lastModifiedBy>Daniel Y. Kawasaki</cp:lastModifiedBy>
  <cp:revision>69</cp:revision>
  <dcterms:created xsi:type="dcterms:W3CDTF">2013-10-24T17:35:22Z</dcterms:created>
  <dcterms:modified xsi:type="dcterms:W3CDTF">2013-11-09T19:28:05Z</dcterms:modified>
</cp:coreProperties>
</file>