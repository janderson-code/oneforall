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334" r:id="rId3"/>
    <p:sldId id="335" r:id="rId4"/>
    <p:sldId id="340" r:id="rId5"/>
    <p:sldId id="343" r:id="rId6"/>
    <p:sldId id="344" r:id="rId7"/>
    <p:sldId id="341" r:id="rId8"/>
    <p:sldId id="342" r:id="rId9"/>
    <p:sldId id="345" r:id="rId10"/>
    <p:sldId id="346" r:id="rId11"/>
    <p:sldId id="347" r:id="rId12"/>
    <p:sldId id="348" r:id="rId13"/>
    <p:sldId id="349" r:id="rId14"/>
    <p:sldId id="350" r:id="rId15"/>
    <p:sldId id="352" r:id="rId16"/>
    <p:sldId id="353" r:id="rId17"/>
    <p:sldId id="354" r:id="rId18"/>
    <p:sldId id="355" r:id="rId19"/>
    <p:sldId id="356" r:id="rId20"/>
    <p:sldId id="358" r:id="rId21"/>
    <p:sldId id="357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366" r:id="rId30"/>
    <p:sldId id="367" r:id="rId31"/>
    <p:sldId id="368" r:id="rId32"/>
    <p:sldId id="369" r:id="rId33"/>
    <p:sldId id="370" r:id="rId34"/>
    <p:sldId id="372" r:id="rId35"/>
    <p:sldId id="371" r:id="rId3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Estilo Mé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816" y="3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FFD89-4290-43AD-BC86-85419D39F999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61A25-AFDF-485C-BD73-47732233789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9857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6121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927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52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956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7233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77589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24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516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14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6433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36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EF73A4-A69F-401C-A52D-18B4F3210F9F}" type="datetimeFigureOut">
              <a:rPr lang="pt-BR" smtClean="0"/>
              <a:t>23/11/2013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01DC61-30E6-4FF9-B167-91D4C71295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84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odelos/tabela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modelos/tabela_border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odelos/tabela_estilo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odelos/tabela_thead_tbody_tfoot.html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modelos/tabela_colgroup.htm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odelos/tabela_colgroup1.html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www.w3.org/TR/html5/tabular-data.html#attr-table-summary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tabela_summary_caption.html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type.html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button.html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select_option_menu.html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select_option_lista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flatschart.com/html5/datalist2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odelos/formulario_datalist.html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datalist_alt.html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optgroup.html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textarea.html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keygen.html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output.html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modelos/formulario_output.html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HTML5 e CSS3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Criando </a:t>
            </a:r>
            <a:r>
              <a:rPr lang="pt-BR" dirty="0" err="1" smtClean="0"/>
              <a:t>WebSites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1671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tabulares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HTML5 e CSS3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6310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DADOS TABULARES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Elemento </a:t>
            </a:r>
            <a:r>
              <a:rPr lang="pt-BR" dirty="0" err="1" smtClean="0"/>
              <a:t>table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caption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summary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tr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td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th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col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colgroup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tbody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thead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tfoot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22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No HTML, os dados tabulares são aqueles que podem ser representados visualmente em forma de tabela, por exemplo:</a:t>
            </a:r>
          </a:p>
          <a:p>
            <a:pPr lvl="1"/>
            <a:r>
              <a:rPr lang="pt-BR" dirty="0" smtClean="0"/>
              <a:t>Um calendário</a:t>
            </a:r>
          </a:p>
          <a:p>
            <a:pPr lvl="1"/>
            <a:r>
              <a:rPr lang="pt-BR" dirty="0" smtClean="0"/>
              <a:t>Uma planilha de custos</a:t>
            </a:r>
          </a:p>
          <a:p>
            <a:pPr lvl="1"/>
            <a:r>
              <a:rPr lang="pt-BR" dirty="0" smtClean="0"/>
              <a:t>Um quadro comparativo</a:t>
            </a:r>
          </a:p>
          <a:p>
            <a:pPr lvl="1"/>
            <a:r>
              <a:rPr lang="pt-BR" dirty="0" smtClean="0"/>
              <a:t>Uma grade de horários</a:t>
            </a:r>
          </a:p>
          <a:p>
            <a:r>
              <a:rPr lang="pt-BR" dirty="0" smtClean="0"/>
              <a:t>Os dados descritos acima podem ser facilmente distribuídos dentro de uma tabela com suas legendas e agrupados em várias configurações.</a:t>
            </a:r>
          </a:p>
          <a:p>
            <a:r>
              <a:rPr lang="pt-BR" dirty="0" smtClean="0"/>
              <a:t>Desde que a prática da separação das camadas de apresentação e formatação tornou-se fundamental no começo dos anos 2000, com a consolidação do XHTML e do CSS2, não são mais utilizadas tabelas para definir áreas de diagramação e layout dentro do documento.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65217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Elemento </a:t>
            </a:r>
            <a:r>
              <a:rPr lang="pt-BR" b="1" dirty="0" err="1" smtClean="0"/>
              <a:t>table</a:t>
            </a:r>
            <a:r>
              <a:rPr lang="pt-BR" dirty="0" smtClean="0"/>
              <a:t>: representa dados em pelo menos duas dimensões no formato de tabela</a:t>
            </a:r>
          </a:p>
          <a:p>
            <a:pPr lvl="1"/>
            <a:r>
              <a:rPr lang="pt-BR" dirty="0" smtClean="0"/>
              <a:t>Atributo: </a:t>
            </a:r>
            <a:r>
              <a:rPr lang="pt-BR" dirty="0" err="1" smtClean="0"/>
              <a:t>border</a:t>
            </a:r>
            <a:endParaRPr lang="pt-BR" dirty="0" smtClean="0"/>
          </a:p>
          <a:p>
            <a:pPr lvl="1"/>
            <a:r>
              <a:rPr lang="pt-BR" dirty="0" smtClean="0"/>
              <a:t>Ex.:</a:t>
            </a:r>
          </a:p>
          <a:p>
            <a:pPr marL="914400" lvl="2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table</a:t>
            </a:r>
            <a:r>
              <a:rPr lang="pt-BR" dirty="0" smtClean="0"/>
              <a:t> </a:t>
            </a:r>
            <a:r>
              <a:rPr lang="pt-BR" dirty="0" err="1" smtClean="0"/>
              <a:t>border</a:t>
            </a:r>
            <a:r>
              <a:rPr lang="pt-BR" dirty="0" smtClean="0"/>
              <a:t>=“1”&gt;</a:t>
            </a:r>
          </a:p>
          <a:p>
            <a:pPr marL="914400" lvl="2" indent="0">
              <a:buNone/>
            </a:pPr>
            <a:r>
              <a:rPr lang="pt-BR" dirty="0" smtClean="0"/>
              <a:t>...</a:t>
            </a:r>
          </a:p>
          <a:p>
            <a:pPr marL="914400" lvl="2" indent="0">
              <a:buNone/>
            </a:pPr>
            <a:r>
              <a:rPr lang="pt-BR" dirty="0" smtClean="0"/>
              <a:t>&lt;/</a:t>
            </a:r>
            <a:r>
              <a:rPr lang="pt-BR" dirty="0" err="1" smtClean="0"/>
              <a:t>table</a:t>
            </a:r>
            <a:r>
              <a:rPr lang="pt-BR" dirty="0" smtClean="0"/>
              <a:t>&gt;</a:t>
            </a:r>
            <a:endParaRPr lang="pt-BR" dirty="0"/>
          </a:p>
          <a:p>
            <a:r>
              <a:rPr lang="pt-BR" dirty="0" smtClean="0"/>
              <a:t>Elemento </a:t>
            </a:r>
            <a:r>
              <a:rPr lang="pt-BR" b="1" dirty="0" err="1" smtClean="0"/>
              <a:t>caption</a:t>
            </a:r>
            <a:r>
              <a:rPr lang="pt-BR" dirty="0" smtClean="0"/>
              <a:t>: representa o seu título</a:t>
            </a:r>
            <a:endParaRPr lang="pt-BR" dirty="0"/>
          </a:p>
          <a:p>
            <a:r>
              <a:rPr lang="pt-BR" dirty="0" smtClean="0"/>
              <a:t>Elemento </a:t>
            </a:r>
            <a:r>
              <a:rPr lang="pt-BR" b="1" dirty="0" err="1" smtClean="0"/>
              <a:t>colgroup</a:t>
            </a:r>
            <a:r>
              <a:rPr lang="pt-BR" dirty="0" smtClean="0"/>
              <a:t>: grupo de colunas dentro de uma tabela</a:t>
            </a:r>
          </a:p>
          <a:p>
            <a:pPr lvl="1"/>
            <a:r>
              <a:rPr lang="pt-BR" dirty="0" smtClean="0"/>
              <a:t>Atributo: </a:t>
            </a:r>
            <a:r>
              <a:rPr lang="pt-BR" dirty="0" err="1" smtClean="0"/>
              <a:t>span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b="1" dirty="0" err="1" smtClean="0"/>
              <a:t>col</a:t>
            </a:r>
            <a:r>
              <a:rPr lang="pt-BR" dirty="0" smtClean="0"/>
              <a:t>: especifica atributos para uma coluna dentro de uma tabela</a:t>
            </a:r>
          </a:p>
          <a:p>
            <a:pPr lvl="1"/>
            <a:r>
              <a:rPr lang="pt-BR" dirty="0" smtClean="0"/>
              <a:t>Atributo: </a:t>
            </a:r>
            <a:r>
              <a:rPr lang="pt-BR" dirty="0" err="1" smtClean="0"/>
              <a:t>span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04892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Elemento </a:t>
            </a:r>
            <a:r>
              <a:rPr lang="pt-BR" b="1" dirty="0" err="1" smtClean="0"/>
              <a:t>tbody</a:t>
            </a:r>
            <a:r>
              <a:rPr lang="pt-BR" dirty="0" smtClean="0"/>
              <a:t>: indica bloco de linhas que forma o corpo de uma </a:t>
            </a:r>
            <a:r>
              <a:rPr lang="pt-BR" dirty="0" err="1" smtClean="0"/>
              <a:t>tablea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b="1" dirty="0" err="1" smtClean="0"/>
              <a:t>thead</a:t>
            </a:r>
            <a:r>
              <a:rPr lang="pt-BR" dirty="0" smtClean="0"/>
              <a:t>: indica o cabeçalho (título) de uma tabela</a:t>
            </a:r>
          </a:p>
          <a:p>
            <a:r>
              <a:rPr lang="pt-BR" dirty="0" smtClean="0"/>
              <a:t>Elemento </a:t>
            </a:r>
            <a:r>
              <a:rPr lang="pt-BR" b="1" dirty="0" err="1" smtClean="0"/>
              <a:t>tfoot</a:t>
            </a:r>
            <a:r>
              <a:rPr lang="pt-BR" dirty="0" smtClean="0"/>
              <a:t>: indica o rodapé de uma tabela</a:t>
            </a:r>
          </a:p>
          <a:p>
            <a:r>
              <a:rPr lang="pt-BR" dirty="0" smtClean="0"/>
              <a:t>Elemento </a:t>
            </a:r>
            <a:r>
              <a:rPr lang="pt-BR" b="1" dirty="0" err="1" smtClean="0"/>
              <a:t>tr</a:t>
            </a:r>
            <a:r>
              <a:rPr lang="pt-BR" dirty="0" smtClean="0"/>
              <a:t>: indica uma linha de células de uma tabela</a:t>
            </a:r>
          </a:p>
          <a:p>
            <a:r>
              <a:rPr lang="pt-BR" dirty="0" smtClean="0"/>
              <a:t>Elemento </a:t>
            </a:r>
            <a:r>
              <a:rPr lang="pt-BR" b="1" dirty="0" err="1" smtClean="0"/>
              <a:t>td</a:t>
            </a:r>
            <a:r>
              <a:rPr lang="pt-BR" dirty="0" smtClean="0"/>
              <a:t>: indica uma célula de uma tabela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width</a:t>
            </a:r>
            <a:r>
              <a:rPr lang="pt-BR" dirty="0" smtClean="0"/>
              <a:t>, </a:t>
            </a:r>
            <a:r>
              <a:rPr lang="pt-BR" dirty="0" err="1" smtClean="0"/>
              <a:t>colspan</a:t>
            </a:r>
            <a:r>
              <a:rPr lang="pt-BR" dirty="0" smtClean="0"/>
              <a:t>, </a:t>
            </a:r>
            <a:r>
              <a:rPr lang="pt-BR" dirty="0" err="1"/>
              <a:t>r</a:t>
            </a:r>
            <a:r>
              <a:rPr lang="pt-BR" dirty="0" err="1" smtClean="0"/>
              <a:t>owspan</a:t>
            </a:r>
            <a:r>
              <a:rPr lang="pt-BR" dirty="0" smtClean="0"/>
              <a:t>, </a:t>
            </a:r>
            <a:r>
              <a:rPr lang="pt-BR" dirty="0" err="1" smtClean="0"/>
              <a:t>headers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b="1" dirty="0" err="1" smtClean="0"/>
              <a:t>th</a:t>
            </a:r>
            <a:r>
              <a:rPr lang="pt-BR" dirty="0" smtClean="0"/>
              <a:t>: indica uma célula de cabeçalho (título) dentro de uma tabela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colspan</a:t>
            </a:r>
            <a:r>
              <a:rPr lang="pt-BR" dirty="0" smtClean="0"/>
              <a:t>, </a:t>
            </a:r>
            <a:r>
              <a:rPr lang="pt-BR" dirty="0" err="1" smtClean="0"/>
              <a:t>rowspan</a:t>
            </a:r>
            <a:r>
              <a:rPr lang="pt-BR" dirty="0" smtClean="0"/>
              <a:t>, </a:t>
            </a:r>
            <a:r>
              <a:rPr lang="pt-BR" dirty="0" err="1" smtClean="0"/>
              <a:t>scope</a:t>
            </a:r>
            <a:r>
              <a:rPr lang="pt-BR" dirty="0" smtClean="0"/>
              <a:t>, </a:t>
            </a:r>
            <a:r>
              <a:rPr lang="pt-BR" dirty="0" err="1" smtClean="0"/>
              <a:t>headers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3748667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Tabela Simple</a:t>
            </a:r>
            <a:r>
              <a:rPr lang="pt-BR" dirty="0"/>
              <a:t>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Tabela simples construída a partir do seu elemento principal </a:t>
            </a:r>
            <a:r>
              <a:rPr lang="pt-BR" dirty="0" err="1" smtClean="0"/>
              <a:t>table</a:t>
            </a:r>
            <a:r>
              <a:rPr lang="pt-BR" dirty="0" smtClean="0"/>
              <a:t> com os elementos </a:t>
            </a:r>
            <a:r>
              <a:rPr lang="pt-BR" dirty="0" err="1" smtClean="0"/>
              <a:t>tr</a:t>
            </a:r>
            <a:r>
              <a:rPr lang="pt-BR" dirty="0" smtClean="0"/>
              <a:t> e </a:t>
            </a:r>
            <a:r>
              <a:rPr lang="pt-BR" dirty="0" err="1" smtClean="0"/>
              <a:t>td</a:t>
            </a:r>
            <a:r>
              <a:rPr lang="pt-BR" dirty="0" smtClean="0"/>
              <a:t> definindo respectivamente linhas e células.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630" y="2636912"/>
            <a:ext cx="3518741" cy="3636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16632"/>
            <a:ext cx="6233666" cy="6442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sp>
        <p:nvSpPr>
          <p:cNvPr id="8" name="Retângulo 7">
            <a:hlinkClick r:id="rId4" action="ppaction://hlinkfile"/>
          </p:cNvPr>
          <p:cNvSpPr/>
          <p:nvPr/>
        </p:nvSpPr>
        <p:spPr>
          <a:xfrm rot="2700000">
            <a:off x="8100193" y="853874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 1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360" y="2730091"/>
            <a:ext cx="2858840" cy="3207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6842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Tabela Simple</a:t>
            </a:r>
            <a:r>
              <a:rPr lang="pt-BR" dirty="0"/>
              <a:t>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Tabela simples com estilo aplicado.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039" y="2261249"/>
            <a:ext cx="4468334" cy="41961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341432"/>
            <a:ext cx="6661665" cy="62559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533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Tabela com cabeçalho, corpo e rodapé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Tabela com elementos </a:t>
            </a:r>
            <a:r>
              <a:rPr lang="pt-BR" dirty="0" err="1" smtClean="0"/>
              <a:t>thead</a:t>
            </a:r>
            <a:r>
              <a:rPr lang="pt-BR" dirty="0" smtClean="0"/>
              <a:t>, </a:t>
            </a:r>
            <a:r>
              <a:rPr lang="pt-BR" dirty="0" err="1" smtClean="0"/>
              <a:t>tbody</a:t>
            </a:r>
            <a:r>
              <a:rPr lang="pt-BR" dirty="0" smtClean="0"/>
              <a:t> e </a:t>
            </a:r>
            <a:r>
              <a:rPr lang="pt-BR" dirty="0" err="1" smtClean="0"/>
              <a:t>tfoot</a:t>
            </a:r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8982" y="2204864"/>
            <a:ext cx="3644449" cy="39562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5425" y="112259"/>
            <a:ext cx="6172919" cy="67011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7861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 com elemento </a:t>
            </a:r>
            <a:r>
              <a:rPr lang="pt-BR" dirty="0" err="1" smtClean="0"/>
              <a:t>colgroup</a:t>
            </a:r>
            <a:endParaRPr lang="pt-BR" dirty="0"/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Para aumentar as possibilidades de aplicação de estilos, as colunas de uma tabela ainda podem se agrupadas pelo elemento </a:t>
            </a:r>
            <a:r>
              <a:rPr lang="pt-BR" dirty="0" err="1" smtClean="0"/>
              <a:t>colgroup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8692" y="2780928"/>
            <a:ext cx="3306617" cy="36767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11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463" y="227855"/>
            <a:ext cx="5857875" cy="6513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101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Tabela com elemento </a:t>
            </a:r>
            <a:r>
              <a:rPr lang="pt-BR" dirty="0" err="1" smtClean="0"/>
              <a:t>colgroup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Dentro de um elemento </a:t>
            </a:r>
            <a:r>
              <a:rPr lang="pt-BR" dirty="0" err="1" smtClean="0"/>
              <a:t>colgroup</a:t>
            </a:r>
            <a:r>
              <a:rPr lang="pt-BR" dirty="0" smtClean="0"/>
              <a:t> é possível marcar individualmente cada coluna agrupada através do elemento </a:t>
            </a:r>
            <a:r>
              <a:rPr lang="pt-BR" dirty="0" err="1" smtClean="0"/>
              <a:t>col</a:t>
            </a:r>
            <a:r>
              <a:rPr lang="pt-BR" dirty="0" smtClean="0"/>
              <a:t>, de </a:t>
            </a:r>
            <a:r>
              <a:rPr lang="pt-BR" dirty="0" err="1" smtClean="0"/>
              <a:t>moso</a:t>
            </a:r>
            <a:r>
              <a:rPr lang="pt-BR" dirty="0" smtClean="0"/>
              <a:t> que cada uma delas receba um estilo próprio.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913" y="2672145"/>
            <a:ext cx="3637279" cy="39438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5015" y="188640"/>
            <a:ext cx="5857875" cy="63515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2987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Tabela com atributo </a:t>
            </a:r>
            <a:r>
              <a:rPr lang="pt-BR" dirty="0" err="1" smtClean="0"/>
              <a:t>summary</a:t>
            </a:r>
            <a:r>
              <a:rPr lang="pt-BR" dirty="0" smtClean="0"/>
              <a:t> e elemento </a:t>
            </a:r>
            <a:r>
              <a:rPr lang="pt-BR" dirty="0" err="1" smtClean="0"/>
              <a:t>caption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O </a:t>
            </a:r>
            <a:r>
              <a:rPr lang="pt-BR" dirty="0" smtClean="0"/>
              <a:t>atributo</a:t>
            </a:r>
            <a:r>
              <a:rPr lang="pt-BR" dirty="0"/>
              <a:t> </a:t>
            </a:r>
            <a:r>
              <a:rPr lang="pt-BR" dirty="0" err="1"/>
              <a:t>summary</a:t>
            </a:r>
            <a:r>
              <a:rPr lang="pt-BR" dirty="0"/>
              <a:t>, existente nas versões anteriores do HTML, ainda não tem seu lugar garantido dentro do HTML 5 e o mais provável é que ele seja considerado obsoleto na versão final </a:t>
            </a:r>
            <a:r>
              <a:rPr lang="pt-BR" dirty="0" smtClean="0"/>
              <a:t>da nova especificação: </a:t>
            </a:r>
            <a:r>
              <a:rPr lang="pt-BR" dirty="0" smtClean="0">
                <a:hlinkClick r:id="rId2" tooltip="tabular data"/>
              </a:rPr>
              <a:t>http</a:t>
            </a:r>
            <a:r>
              <a:rPr lang="pt-BR" dirty="0">
                <a:hlinkClick r:id="rId2" tooltip="tabular data"/>
              </a:rPr>
              <a:t>://</a:t>
            </a:r>
            <a:r>
              <a:rPr lang="pt-BR" dirty="0" smtClean="0">
                <a:hlinkClick r:id="rId2" tooltip="tabular data"/>
              </a:rPr>
              <a:t>www.w3.org/TR/html5/tabular-data.html#attr-table-summary</a:t>
            </a:r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r>
              <a:rPr lang="pt-BR" dirty="0"/>
              <a:t>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443" y="2906545"/>
            <a:ext cx="3557526" cy="37628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418" y="75310"/>
            <a:ext cx="6302376" cy="6666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90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 de Tabela</a:t>
            </a:r>
            <a:endParaRPr lang="pt-BR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3500189" cy="4525963"/>
          </a:xfrm>
        </p:spPr>
        <p:txBody>
          <a:bodyPr>
            <a:normAutofit fontScale="85000" lnSpcReduction="10000"/>
          </a:bodyPr>
          <a:lstStyle/>
          <a:p>
            <a:r>
              <a:rPr lang="pt-BR" dirty="0" smtClean="0"/>
              <a:t>Largura total de 400px</a:t>
            </a:r>
          </a:p>
          <a:p>
            <a:r>
              <a:rPr lang="pt-BR" dirty="0" smtClean="0"/>
              <a:t>Coluna 1 </a:t>
            </a:r>
            <a:r>
              <a:rPr lang="pt-BR" smtClean="0"/>
              <a:t>de </a:t>
            </a:r>
            <a:r>
              <a:rPr lang="pt-BR" smtClean="0"/>
              <a:t>120px</a:t>
            </a:r>
            <a:endParaRPr lang="pt-BR" dirty="0" smtClean="0"/>
          </a:p>
          <a:p>
            <a:r>
              <a:rPr lang="pt-BR" dirty="0" smtClean="0"/>
              <a:t>Outras colunas de 70px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127" y="3140740"/>
            <a:ext cx="5797201" cy="2996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2618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88640"/>
            <a:ext cx="8562398" cy="64236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34799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formulários</a:t>
            </a:r>
            <a:endParaRPr lang="pt-BR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HTML5 e CSS3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8256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Formulários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Elemento </a:t>
            </a:r>
            <a:r>
              <a:rPr lang="pt-BR" dirty="0" err="1" smtClean="0"/>
              <a:t>form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dirty="0" err="1" smtClean="0"/>
              <a:t>fieldset</a:t>
            </a:r>
            <a:endParaRPr lang="pt-BR" dirty="0"/>
          </a:p>
          <a:p>
            <a:r>
              <a:rPr lang="pt-BR" dirty="0" smtClean="0"/>
              <a:t>Elemento </a:t>
            </a:r>
            <a:r>
              <a:rPr lang="pt-BR" dirty="0" err="1" smtClean="0"/>
              <a:t>legend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dirty="0" err="1" smtClean="0"/>
              <a:t>label</a:t>
            </a:r>
            <a:r>
              <a:rPr lang="pt-BR" dirty="0" smtClean="0"/>
              <a:t> input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dirty="0" err="1" smtClean="0"/>
              <a:t>button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dirty="0" err="1" smtClean="0"/>
              <a:t>select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dirty="0" err="1" smtClean="0"/>
              <a:t>datalist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dirty="0" err="1" smtClean="0"/>
              <a:t>optgroup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dirty="0" err="1" smtClean="0"/>
              <a:t>textarea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dirty="0" smtClean="0"/>
              <a:t>output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dirty="0" smtClean="0"/>
              <a:t>meter</a:t>
            </a:r>
          </a:p>
        </p:txBody>
      </p:sp>
    </p:spTree>
    <p:extLst>
      <p:ext uri="{BB962C8B-B14F-4D97-AF65-F5344CB8AC3E}">
        <p14:creationId xmlns:p14="http://schemas.microsoft.com/office/powerpoint/2010/main" val="1514114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Formulários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Informações, dados e conteúdo gerado pelos usuários através de formulários em aplicações web são indicadores indispensáveis para a perpetuação do “web </a:t>
            </a:r>
            <a:r>
              <a:rPr lang="pt-BR" dirty="0" err="1" smtClean="0"/>
              <a:t>way</a:t>
            </a:r>
            <a:r>
              <a:rPr lang="pt-BR" dirty="0" smtClean="0"/>
              <a:t> </a:t>
            </a:r>
            <a:r>
              <a:rPr lang="pt-BR" dirty="0" err="1" smtClean="0"/>
              <a:t>of</a:t>
            </a:r>
            <a:r>
              <a:rPr lang="pt-BR" dirty="0" smtClean="0"/>
              <a:t> </a:t>
            </a:r>
            <a:r>
              <a:rPr lang="pt-BR" dirty="0" err="1" smtClean="0"/>
              <a:t>life</a:t>
            </a:r>
            <a:r>
              <a:rPr lang="pt-BR" dirty="0" smtClean="0"/>
              <a:t>”.</a:t>
            </a:r>
          </a:p>
          <a:p>
            <a:r>
              <a:rPr lang="pt-BR" dirty="0" smtClean="0"/>
              <a:t>Aos elementos de formulários comuns a todos as versões do HTML foram acrescentados outros exclusivos na versão 5. Estes elementos tornam a interação com o usuário, a coleta e a interpretação dos dados mais relevantes e consistentes.</a:t>
            </a:r>
          </a:p>
          <a:p>
            <a:r>
              <a:rPr lang="pt-BR" dirty="0" smtClean="0"/>
              <a:t>No quesito formulário, o HTML5 trouxe grandes avanços, entre eles tipos específicos de entrada de dados, controle de datas, validação e formatação de campos.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0463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Formulários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 smtClean="0"/>
              <a:t>O elemento </a:t>
            </a:r>
            <a:r>
              <a:rPr lang="pt-BR" i="1" dirty="0" err="1" smtClean="0"/>
              <a:t>form</a:t>
            </a:r>
            <a:r>
              <a:rPr lang="pt-BR" dirty="0" smtClean="0"/>
              <a:t> abriga componentes como botões, campos de textos, campos de seleção de itens e outros que fazem parte de um formulário.</a:t>
            </a:r>
          </a:p>
          <a:p>
            <a:r>
              <a:rPr lang="pt-BR" dirty="0" smtClean="0"/>
              <a:t>Para que as informações e os dados de um formulário sejam efetivamente enviados, é necessário um aplicativo no servidor ou uma página específica que receba, processe e armazene as informações. Quem define isso é o atributo </a:t>
            </a:r>
            <a:r>
              <a:rPr lang="pt-BR" i="1" dirty="0" err="1" smtClean="0"/>
              <a:t>action</a:t>
            </a:r>
            <a:r>
              <a:rPr lang="pt-BR" dirty="0" smtClean="0"/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0875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Formulários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Para o envio destes dados é necessário definir o método HTTP pelo qual essa operação será realizada. O atributo </a:t>
            </a:r>
            <a:r>
              <a:rPr lang="pt-BR" dirty="0" err="1" smtClean="0"/>
              <a:t>method</a:t>
            </a:r>
            <a:r>
              <a:rPr lang="pt-BR" dirty="0" smtClean="0"/>
              <a:t> cumpre esta função através de dois valores:</a:t>
            </a:r>
          </a:p>
          <a:p>
            <a:pPr lvl="1"/>
            <a:r>
              <a:rPr lang="pt-BR" dirty="0" err="1"/>
              <a:t>g</a:t>
            </a:r>
            <a:r>
              <a:rPr lang="pt-BR" dirty="0" err="1" smtClean="0"/>
              <a:t>et</a:t>
            </a:r>
            <a:r>
              <a:rPr lang="pt-BR" dirty="0" smtClean="0"/>
              <a:t>: os dados não são inseridos em banco de dados. São informações sobre itens de pesquisa ou páginas a serem solicitadas que aparecem na barra de endereços do navegador. Por exemplo, campo de pesquisa do Google.</a:t>
            </a:r>
          </a:p>
          <a:p>
            <a:pPr lvl="1"/>
            <a:r>
              <a:rPr lang="pt-BR" dirty="0"/>
              <a:t>p</a:t>
            </a:r>
            <a:r>
              <a:rPr lang="pt-BR" dirty="0" smtClean="0"/>
              <a:t>ost: os dados são enviados ocultos pelo navegador e armazenados em um programa ou em um banco de dados. É a maneira mais segura.</a:t>
            </a:r>
          </a:p>
          <a:p>
            <a:pPr lvl="1"/>
            <a:endParaRPr lang="pt-BR" dirty="0"/>
          </a:p>
          <a:p>
            <a:r>
              <a:rPr lang="pt-BR" dirty="0" smtClean="0"/>
              <a:t>Exemplo:</a:t>
            </a:r>
          </a:p>
          <a:p>
            <a:pPr marL="457200" lvl="1" indent="0">
              <a:buNone/>
            </a:pPr>
            <a:r>
              <a:rPr lang="pt-BR" dirty="0" smtClean="0"/>
              <a:t>&lt;</a:t>
            </a:r>
            <a:r>
              <a:rPr lang="pt-BR" dirty="0" err="1" smtClean="0"/>
              <a:t>form</a:t>
            </a:r>
            <a:r>
              <a:rPr lang="pt-BR" dirty="0" smtClean="0"/>
              <a:t> </a:t>
            </a:r>
            <a:r>
              <a:rPr lang="pt-BR" dirty="0" err="1" smtClean="0"/>
              <a:t>action</a:t>
            </a:r>
            <a:r>
              <a:rPr lang="pt-BR" dirty="0" smtClean="0"/>
              <a:t>=“</a:t>
            </a:r>
            <a:r>
              <a:rPr lang="pt-BR" dirty="0" err="1" smtClean="0"/>
              <a:t>pesquisa.php</a:t>
            </a:r>
            <a:r>
              <a:rPr lang="pt-BR" dirty="0" smtClean="0"/>
              <a:t>” </a:t>
            </a:r>
            <a:r>
              <a:rPr lang="pt-BR" dirty="0" err="1" smtClean="0"/>
              <a:t>method</a:t>
            </a:r>
            <a:r>
              <a:rPr lang="pt-BR" dirty="0" smtClean="0"/>
              <a:t>=“post”&gt;&lt;/</a:t>
            </a:r>
            <a:r>
              <a:rPr lang="pt-BR" dirty="0" err="1" smtClean="0"/>
              <a:t>form</a:t>
            </a:r>
            <a:r>
              <a:rPr lang="pt-BR" dirty="0" smtClean="0"/>
              <a:t>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970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Formulários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/>
              <a:t>Elemento </a:t>
            </a:r>
            <a:r>
              <a:rPr lang="pt-BR" b="1" dirty="0" err="1" smtClean="0"/>
              <a:t>form</a:t>
            </a:r>
            <a:r>
              <a:rPr lang="pt-BR" dirty="0" smtClean="0"/>
              <a:t>: indica um formulário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accept-charset</a:t>
            </a:r>
            <a:r>
              <a:rPr lang="pt-BR" dirty="0" smtClean="0"/>
              <a:t>, </a:t>
            </a:r>
            <a:r>
              <a:rPr lang="pt-BR" dirty="0" err="1" smtClean="0"/>
              <a:t>action</a:t>
            </a:r>
            <a:r>
              <a:rPr lang="pt-BR" dirty="0" smtClean="0"/>
              <a:t>, </a:t>
            </a:r>
            <a:r>
              <a:rPr lang="pt-BR" dirty="0" err="1" smtClean="0"/>
              <a:t>autocomplete</a:t>
            </a:r>
            <a:r>
              <a:rPr lang="pt-BR" dirty="0" smtClean="0"/>
              <a:t>, </a:t>
            </a:r>
            <a:r>
              <a:rPr lang="pt-BR" dirty="0" err="1" smtClean="0"/>
              <a:t>enctype</a:t>
            </a:r>
            <a:r>
              <a:rPr lang="pt-BR" dirty="0" smtClean="0"/>
              <a:t>, </a:t>
            </a:r>
            <a:r>
              <a:rPr lang="pt-BR" dirty="0" err="1" smtClean="0"/>
              <a:t>method</a:t>
            </a:r>
            <a:r>
              <a:rPr lang="pt-BR" dirty="0" smtClean="0"/>
              <a:t>, </a:t>
            </a:r>
            <a:r>
              <a:rPr lang="pt-BR" dirty="0" err="1" smtClean="0"/>
              <a:t>novalidate</a:t>
            </a:r>
            <a:r>
              <a:rPr lang="pt-BR" dirty="0" smtClean="0"/>
              <a:t>, </a:t>
            </a:r>
            <a:r>
              <a:rPr lang="pt-BR" dirty="0" err="1" smtClean="0"/>
              <a:t>target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b="1" dirty="0" err="1" smtClean="0"/>
              <a:t>fieldset</a:t>
            </a:r>
            <a:r>
              <a:rPr lang="pt-BR" dirty="0" smtClean="0"/>
              <a:t>: indica o nome de um grupo de controles de formulários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disable</a:t>
            </a:r>
            <a:r>
              <a:rPr lang="pt-BR" dirty="0" smtClean="0"/>
              <a:t>, </a:t>
            </a:r>
            <a:r>
              <a:rPr lang="pt-BR" dirty="0" err="1" smtClean="0"/>
              <a:t>form</a:t>
            </a:r>
            <a:r>
              <a:rPr lang="pt-BR" dirty="0" smtClean="0"/>
              <a:t>, </a:t>
            </a:r>
            <a:r>
              <a:rPr lang="pt-BR" dirty="0" err="1" smtClean="0"/>
              <a:t>name</a:t>
            </a:r>
            <a:endParaRPr lang="pt-BR" dirty="0"/>
          </a:p>
          <a:p>
            <a:r>
              <a:rPr lang="pt-BR" dirty="0" smtClean="0"/>
              <a:t>Elemento </a:t>
            </a:r>
            <a:r>
              <a:rPr lang="pt-BR" b="1" dirty="0" err="1" smtClean="0"/>
              <a:t>legend</a:t>
            </a:r>
            <a:r>
              <a:rPr lang="pt-BR" dirty="0" smtClean="0"/>
              <a:t>: indica um título (nome) para o elemento </a:t>
            </a:r>
            <a:r>
              <a:rPr lang="pt-BR" dirty="0" err="1" smtClean="0"/>
              <a:t>fieldset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b="1" dirty="0" err="1" smtClean="0"/>
              <a:t>label</a:t>
            </a:r>
            <a:r>
              <a:rPr lang="pt-BR" dirty="0" smtClean="0"/>
              <a:t>: indica uma legenda, conhecida como rótulo, para os elementos de formulário</a:t>
            </a:r>
          </a:p>
          <a:p>
            <a:pPr lvl="1"/>
            <a:r>
              <a:rPr lang="pt-BR" dirty="0" smtClean="0"/>
              <a:t>Atributos: for</a:t>
            </a:r>
          </a:p>
          <a:p>
            <a:r>
              <a:rPr lang="pt-BR" dirty="0" smtClean="0"/>
              <a:t>Elemento </a:t>
            </a:r>
            <a:r>
              <a:rPr lang="pt-BR" b="1" dirty="0" smtClean="0"/>
              <a:t>input</a:t>
            </a:r>
            <a:r>
              <a:rPr lang="pt-BR" dirty="0" smtClean="0"/>
              <a:t>: indica um campo de entrada de dados, normalmente com um controle que permite ao usuário inserir ou editar os dados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accept</a:t>
            </a:r>
            <a:r>
              <a:rPr lang="pt-BR" dirty="0" smtClean="0"/>
              <a:t>, </a:t>
            </a:r>
            <a:r>
              <a:rPr lang="pt-BR" dirty="0" err="1" smtClean="0"/>
              <a:t>alt</a:t>
            </a:r>
            <a:r>
              <a:rPr lang="pt-BR" dirty="0" smtClean="0"/>
              <a:t>, </a:t>
            </a:r>
            <a:r>
              <a:rPr lang="pt-BR" dirty="0" err="1" smtClean="0"/>
              <a:t>autocomplete</a:t>
            </a:r>
            <a:r>
              <a:rPr lang="pt-BR" dirty="0" smtClean="0"/>
              <a:t>, </a:t>
            </a:r>
            <a:r>
              <a:rPr lang="pt-BR" dirty="0" err="1" smtClean="0"/>
              <a:t>autofocus</a:t>
            </a:r>
            <a:r>
              <a:rPr lang="pt-BR" dirty="0" smtClean="0"/>
              <a:t>, </a:t>
            </a:r>
            <a:r>
              <a:rPr lang="pt-BR" dirty="0" err="1" smtClean="0"/>
              <a:t>checked</a:t>
            </a:r>
            <a:r>
              <a:rPr lang="pt-BR" dirty="0" smtClean="0"/>
              <a:t>, </a:t>
            </a:r>
            <a:r>
              <a:rPr lang="pt-BR" dirty="0" err="1" smtClean="0"/>
              <a:t>disabled</a:t>
            </a:r>
            <a:r>
              <a:rPr lang="pt-BR" dirty="0" smtClean="0"/>
              <a:t>, </a:t>
            </a:r>
            <a:r>
              <a:rPr lang="pt-BR" dirty="0" err="1" smtClean="0"/>
              <a:t>form</a:t>
            </a:r>
            <a:r>
              <a:rPr lang="pt-BR" dirty="0" smtClean="0"/>
              <a:t>, </a:t>
            </a:r>
            <a:r>
              <a:rPr lang="pt-BR" dirty="0" err="1" smtClean="0"/>
              <a:t>formaction</a:t>
            </a:r>
            <a:r>
              <a:rPr lang="pt-BR" dirty="0" smtClean="0"/>
              <a:t>, </a:t>
            </a:r>
            <a:r>
              <a:rPr lang="pt-BR" dirty="0" err="1" smtClean="0"/>
              <a:t>formenctype</a:t>
            </a:r>
            <a:r>
              <a:rPr lang="pt-BR" dirty="0" smtClean="0"/>
              <a:t>, </a:t>
            </a:r>
            <a:r>
              <a:rPr lang="pt-BR" dirty="0" err="1" smtClean="0"/>
              <a:t>formmethod</a:t>
            </a:r>
            <a:r>
              <a:rPr lang="pt-BR" dirty="0" smtClean="0"/>
              <a:t>, </a:t>
            </a:r>
            <a:r>
              <a:rPr lang="pt-BR" dirty="0" err="1" smtClean="0"/>
              <a:t>formnovalidate</a:t>
            </a:r>
            <a:r>
              <a:rPr lang="pt-BR" dirty="0" smtClean="0"/>
              <a:t>, </a:t>
            </a:r>
            <a:r>
              <a:rPr lang="pt-BR" dirty="0" err="1" smtClean="0"/>
              <a:t>formtarget</a:t>
            </a:r>
            <a:r>
              <a:rPr lang="pt-BR" dirty="0" smtClean="0"/>
              <a:t>, </a:t>
            </a:r>
            <a:r>
              <a:rPr lang="pt-BR" dirty="0" err="1" smtClean="0"/>
              <a:t>height</a:t>
            </a:r>
            <a:r>
              <a:rPr lang="pt-BR" dirty="0" smtClean="0"/>
              <a:t>, </a:t>
            </a:r>
            <a:r>
              <a:rPr lang="pt-BR" dirty="0" err="1" smtClean="0"/>
              <a:t>list</a:t>
            </a:r>
            <a:r>
              <a:rPr lang="pt-BR" dirty="0" smtClean="0"/>
              <a:t>, </a:t>
            </a:r>
            <a:r>
              <a:rPr lang="pt-BR" dirty="0" err="1" smtClean="0"/>
              <a:t>max</a:t>
            </a:r>
            <a:r>
              <a:rPr lang="pt-BR" dirty="0" smtClean="0"/>
              <a:t>, </a:t>
            </a:r>
            <a:r>
              <a:rPr lang="pt-BR" dirty="0" err="1" smtClean="0"/>
              <a:t>maxlenght</a:t>
            </a:r>
            <a:r>
              <a:rPr lang="pt-BR" dirty="0" smtClean="0"/>
              <a:t>, min, </a:t>
            </a:r>
            <a:r>
              <a:rPr lang="pt-BR" dirty="0" err="1" smtClean="0"/>
              <a:t>multiple</a:t>
            </a:r>
            <a:r>
              <a:rPr lang="pt-BR" dirty="0" smtClean="0"/>
              <a:t>, </a:t>
            </a:r>
            <a:r>
              <a:rPr lang="pt-BR" dirty="0" err="1" smtClean="0"/>
              <a:t>name</a:t>
            </a:r>
            <a:r>
              <a:rPr lang="pt-BR" dirty="0" smtClean="0"/>
              <a:t>, </a:t>
            </a:r>
            <a:r>
              <a:rPr lang="pt-BR" dirty="0" err="1" smtClean="0"/>
              <a:t>src</a:t>
            </a:r>
            <a:r>
              <a:rPr lang="pt-BR" dirty="0" smtClean="0"/>
              <a:t>, </a:t>
            </a:r>
            <a:r>
              <a:rPr lang="pt-BR" dirty="0" err="1" smtClean="0"/>
              <a:t>step</a:t>
            </a:r>
            <a:r>
              <a:rPr lang="pt-BR" dirty="0" smtClean="0"/>
              <a:t>, </a:t>
            </a:r>
            <a:r>
              <a:rPr lang="pt-BR" dirty="0" err="1" smtClean="0"/>
              <a:t>type</a:t>
            </a:r>
            <a:r>
              <a:rPr lang="pt-BR" dirty="0" smtClean="0"/>
              <a:t>, </a:t>
            </a:r>
            <a:r>
              <a:rPr lang="pt-BR" dirty="0" err="1" smtClean="0"/>
              <a:t>value</a:t>
            </a:r>
            <a:r>
              <a:rPr lang="pt-BR" dirty="0" smtClean="0"/>
              <a:t>, </a:t>
            </a:r>
            <a:r>
              <a:rPr lang="pt-BR" dirty="0" err="1" smtClean="0"/>
              <a:t>width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6742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Formulários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Elemento </a:t>
            </a:r>
            <a:r>
              <a:rPr lang="pt-BR" b="1" dirty="0" err="1" smtClean="0"/>
              <a:t>button</a:t>
            </a:r>
            <a:r>
              <a:rPr lang="pt-BR" dirty="0" smtClean="0"/>
              <a:t>: indica um botão no documento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autofocus</a:t>
            </a:r>
            <a:r>
              <a:rPr lang="pt-BR" dirty="0" smtClean="0"/>
              <a:t>, </a:t>
            </a:r>
            <a:r>
              <a:rPr lang="pt-BR" dirty="0" err="1" smtClean="0"/>
              <a:t>dosabled</a:t>
            </a:r>
            <a:r>
              <a:rPr lang="pt-BR" dirty="0" smtClean="0"/>
              <a:t>, </a:t>
            </a:r>
            <a:r>
              <a:rPr lang="pt-BR" dirty="0" err="1" smtClean="0"/>
              <a:t>form</a:t>
            </a:r>
            <a:r>
              <a:rPr lang="pt-BR" dirty="0" smtClean="0"/>
              <a:t>, </a:t>
            </a:r>
            <a:r>
              <a:rPr lang="pt-BR" dirty="0" err="1" smtClean="0"/>
              <a:t>formaction</a:t>
            </a:r>
            <a:r>
              <a:rPr lang="pt-BR" dirty="0" smtClean="0"/>
              <a:t>, </a:t>
            </a:r>
            <a:r>
              <a:rPr lang="pt-BR" dirty="0" err="1" smtClean="0"/>
              <a:t>formenctype</a:t>
            </a:r>
            <a:r>
              <a:rPr lang="pt-BR" dirty="0" smtClean="0"/>
              <a:t>, </a:t>
            </a:r>
            <a:r>
              <a:rPr lang="pt-BR" dirty="0" err="1" smtClean="0"/>
              <a:t>formmethod</a:t>
            </a:r>
            <a:r>
              <a:rPr lang="pt-BR" dirty="0" smtClean="0"/>
              <a:t>, </a:t>
            </a:r>
            <a:r>
              <a:rPr lang="pt-BR" dirty="0" err="1" smtClean="0"/>
              <a:t>formnovalidate</a:t>
            </a:r>
            <a:r>
              <a:rPr lang="pt-BR" dirty="0" smtClean="0"/>
              <a:t>, </a:t>
            </a:r>
            <a:r>
              <a:rPr lang="pt-BR" dirty="0" err="1" smtClean="0"/>
              <a:t>formtarget</a:t>
            </a:r>
            <a:r>
              <a:rPr lang="pt-BR" dirty="0" smtClean="0"/>
              <a:t>, </a:t>
            </a:r>
            <a:r>
              <a:rPr lang="pt-BR" dirty="0" err="1" smtClean="0"/>
              <a:t>name</a:t>
            </a:r>
            <a:r>
              <a:rPr lang="pt-BR" dirty="0" smtClean="0"/>
              <a:t>, </a:t>
            </a:r>
            <a:r>
              <a:rPr lang="pt-BR" dirty="0" err="1" smtClean="0"/>
              <a:t>type</a:t>
            </a:r>
            <a:r>
              <a:rPr lang="pt-BR" dirty="0" smtClean="0"/>
              <a:t>, </a:t>
            </a:r>
            <a:r>
              <a:rPr lang="pt-BR" dirty="0" err="1" smtClean="0"/>
              <a:t>value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b="1" dirty="0" err="1" smtClean="0"/>
              <a:t>select</a:t>
            </a:r>
            <a:r>
              <a:rPr lang="pt-BR" dirty="0" smtClean="0"/>
              <a:t>: indica um controle que permite a escolha (seleção) entre várias opções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autofocus</a:t>
            </a:r>
            <a:r>
              <a:rPr lang="pt-BR" dirty="0" smtClean="0"/>
              <a:t>, </a:t>
            </a:r>
            <a:r>
              <a:rPr lang="pt-BR" dirty="0" err="1" smtClean="0"/>
              <a:t>disabled</a:t>
            </a:r>
            <a:r>
              <a:rPr lang="pt-BR" dirty="0" smtClean="0"/>
              <a:t>, </a:t>
            </a:r>
            <a:r>
              <a:rPr lang="pt-BR" dirty="0" err="1" smtClean="0"/>
              <a:t>form</a:t>
            </a:r>
            <a:r>
              <a:rPr lang="pt-BR" dirty="0" smtClean="0"/>
              <a:t>, </a:t>
            </a:r>
            <a:r>
              <a:rPr lang="pt-BR" dirty="0" err="1" smtClean="0"/>
              <a:t>multiple</a:t>
            </a:r>
            <a:r>
              <a:rPr lang="pt-BR" dirty="0" smtClean="0"/>
              <a:t>, </a:t>
            </a:r>
            <a:r>
              <a:rPr lang="pt-BR" dirty="0" err="1" smtClean="0"/>
              <a:t>name</a:t>
            </a:r>
            <a:r>
              <a:rPr lang="pt-BR" dirty="0" smtClean="0"/>
              <a:t>, </a:t>
            </a:r>
            <a:r>
              <a:rPr lang="pt-BR" dirty="0" err="1" smtClean="0"/>
              <a:t>required</a:t>
            </a:r>
            <a:r>
              <a:rPr lang="pt-BR" dirty="0" smtClean="0"/>
              <a:t>, </a:t>
            </a:r>
            <a:r>
              <a:rPr lang="pt-BR" dirty="0" err="1" smtClean="0"/>
              <a:t>size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b="1" dirty="0" err="1" smtClean="0"/>
              <a:t>datalist</a:t>
            </a:r>
            <a:r>
              <a:rPr lang="pt-BR" dirty="0" smtClean="0"/>
              <a:t>: utilizado junto com o elemento input, define quais os valores possíveis para a entrada de dados, fornecendo ao usuário sugestões de opções predefinidas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b="1" dirty="0" err="1" smtClean="0"/>
              <a:t>optgroup</a:t>
            </a:r>
            <a:r>
              <a:rPr lang="pt-BR" dirty="0" smtClean="0"/>
              <a:t>: agrupa opções semelhantes dentro de uma lista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disabled</a:t>
            </a:r>
            <a:r>
              <a:rPr lang="pt-BR" dirty="0" smtClean="0"/>
              <a:t>, </a:t>
            </a:r>
            <a:r>
              <a:rPr lang="pt-BR" dirty="0" err="1" smtClean="0"/>
              <a:t>label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1927129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Formulários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pt-BR" dirty="0" smtClean="0"/>
              <a:t>Elemento </a:t>
            </a:r>
            <a:r>
              <a:rPr lang="pt-BR" b="1" dirty="0" err="1" smtClean="0"/>
              <a:t>option</a:t>
            </a:r>
            <a:r>
              <a:rPr lang="pt-BR" dirty="0" smtClean="0"/>
              <a:t>: indica uma opção em uma lista dentro de um elemento </a:t>
            </a:r>
            <a:r>
              <a:rPr lang="pt-BR" dirty="0" err="1" smtClean="0"/>
              <a:t>select</a:t>
            </a:r>
            <a:r>
              <a:rPr lang="pt-BR" dirty="0" smtClean="0"/>
              <a:t> ou de um elemento </a:t>
            </a:r>
            <a:r>
              <a:rPr lang="pt-BR" dirty="0" err="1" smtClean="0"/>
              <a:t>datalist</a:t>
            </a:r>
            <a:endParaRPr lang="pt-BR" dirty="0" smtClean="0"/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disabled</a:t>
            </a:r>
            <a:r>
              <a:rPr lang="pt-BR" dirty="0" smtClean="0"/>
              <a:t>, </a:t>
            </a:r>
            <a:r>
              <a:rPr lang="pt-BR" dirty="0" err="1" smtClean="0"/>
              <a:t>label</a:t>
            </a:r>
            <a:r>
              <a:rPr lang="pt-BR" dirty="0" smtClean="0"/>
              <a:t>, </a:t>
            </a:r>
            <a:r>
              <a:rPr lang="pt-BR" dirty="0" err="1" smtClean="0"/>
              <a:t>selected</a:t>
            </a:r>
            <a:r>
              <a:rPr lang="pt-BR" dirty="0" smtClean="0"/>
              <a:t>, </a:t>
            </a:r>
            <a:r>
              <a:rPr lang="pt-BR" dirty="0" err="1" smtClean="0"/>
              <a:t>value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b="1" dirty="0" err="1" smtClean="0"/>
              <a:t>textarea</a:t>
            </a:r>
            <a:r>
              <a:rPr lang="pt-BR" dirty="0" smtClean="0"/>
              <a:t>: indica uma área multilinha para inserção de texto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autofocus</a:t>
            </a:r>
            <a:r>
              <a:rPr lang="pt-BR" dirty="0" smtClean="0"/>
              <a:t>, </a:t>
            </a:r>
            <a:r>
              <a:rPr lang="pt-BR" dirty="0" err="1" smtClean="0"/>
              <a:t>cols</a:t>
            </a:r>
            <a:r>
              <a:rPr lang="pt-BR" dirty="0" smtClean="0"/>
              <a:t>, </a:t>
            </a:r>
            <a:r>
              <a:rPr lang="pt-BR" dirty="0" err="1" smtClean="0"/>
              <a:t>dirname</a:t>
            </a:r>
            <a:r>
              <a:rPr lang="pt-BR" dirty="0" smtClean="0"/>
              <a:t>, </a:t>
            </a:r>
            <a:r>
              <a:rPr lang="pt-BR" dirty="0" err="1" smtClean="0"/>
              <a:t>disabled</a:t>
            </a:r>
            <a:r>
              <a:rPr lang="pt-BR" dirty="0" smtClean="0"/>
              <a:t>, </a:t>
            </a:r>
            <a:r>
              <a:rPr lang="pt-BR" dirty="0" err="1" smtClean="0"/>
              <a:t>form</a:t>
            </a:r>
            <a:r>
              <a:rPr lang="pt-BR" dirty="0" smtClean="0"/>
              <a:t>, </a:t>
            </a:r>
            <a:r>
              <a:rPr lang="pt-BR" dirty="0" err="1" smtClean="0"/>
              <a:t>maxlength,name</a:t>
            </a:r>
            <a:r>
              <a:rPr lang="pt-BR" dirty="0" smtClean="0"/>
              <a:t>, </a:t>
            </a:r>
            <a:r>
              <a:rPr lang="pt-BR" dirty="0" err="1" smtClean="0"/>
              <a:t>placeholder</a:t>
            </a:r>
            <a:r>
              <a:rPr lang="pt-BR" dirty="0" smtClean="0"/>
              <a:t>, </a:t>
            </a:r>
            <a:r>
              <a:rPr lang="pt-BR" dirty="0" err="1" smtClean="0"/>
              <a:t>readonly</a:t>
            </a:r>
            <a:r>
              <a:rPr lang="pt-BR" dirty="0" smtClean="0"/>
              <a:t>, </a:t>
            </a:r>
            <a:r>
              <a:rPr lang="pt-BR" dirty="0" err="1" smtClean="0"/>
              <a:t>required</a:t>
            </a:r>
            <a:r>
              <a:rPr lang="pt-BR" dirty="0" smtClean="0"/>
              <a:t>, </a:t>
            </a:r>
            <a:r>
              <a:rPr lang="pt-BR" dirty="0" err="1" smtClean="0"/>
              <a:t>rows</a:t>
            </a:r>
            <a:r>
              <a:rPr lang="pt-BR" dirty="0" smtClean="0"/>
              <a:t>, </a:t>
            </a:r>
            <a:r>
              <a:rPr lang="pt-BR" dirty="0" err="1" smtClean="0"/>
              <a:t>wrap</a:t>
            </a:r>
            <a:endParaRPr lang="pt-BR" dirty="0" smtClean="0"/>
          </a:p>
          <a:p>
            <a:r>
              <a:rPr lang="pt-BR" dirty="0" smtClean="0"/>
              <a:t>Elemento </a:t>
            </a:r>
            <a:r>
              <a:rPr lang="pt-BR" b="1" dirty="0" err="1" smtClean="0"/>
              <a:t>keygen</a:t>
            </a:r>
            <a:r>
              <a:rPr lang="pt-BR" dirty="0" smtClean="0"/>
              <a:t>: especifica um controle de um par de chaves público-privadas.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autofocus</a:t>
            </a:r>
            <a:r>
              <a:rPr lang="pt-BR" dirty="0" smtClean="0"/>
              <a:t>, </a:t>
            </a:r>
            <a:r>
              <a:rPr lang="pt-BR" dirty="0" err="1" smtClean="0"/>
              <a:t>challenge</a:t>
            </a:r>
            <a:r>
              <a:rPr lang="pt-BR" dirty="0" smtClean="0"/>
              <a:t>, </a:t>
            </a:r>
            <a:r>
              <a:rPr lang="pt-BR" dirty="0" err="1" smtClean="0"/>
              <a:t>disabled</a:t>
            </a:r>
            <a:r>
              <a:rPr lang="pt-BR" dirty="0" smtClean="0"/>
              <a:t>, </a:t>
            </a:r>
            <a:r>
              <a:rPr lang="pt-BR" dirty="0" err="1" smtClean="0"/>
              <a:t>form</a:t>
            </a:r>
            <a:r>
              <a:rPr lang="pt-BR" dirty="0" smtClean="0"/>
              <a:t>, </a:t>
            </a:r>
            <a:r>
              <a:rPr lang="pt-BR" dirty="0" err="1" smtClean="0"/>
              <a:t>keytype</a:t>
            </a:r>
            <a:r>
              <a:rPr lang="pt-BR" dirty="0" smtClean="0"/>
              <a:t>, </a:t>
            </a:r>
            <a:r>
              <a:rPr lang="pt-BR" dirty="0" err="1" smtClean="0"/>
              <a:t>name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b="1" dirty="0" smtClean="0"/>
              <a:t>output</a:t>
            </a:r>
            <a:r>
              <a:rPr lang="pt-BR" dirty="0" smtClean="0"/>
              <a:t>: indica o resultado de um cálculo</a:t>
            </a:r>
          </a:p>
          <a:p>
            <a:pPr lvl="1"/>
            <a:r>
              <a:rPr lang="pt-BR" dirty="0" smtClean="0"/>
              <a:t>Atributos: for, </a:t>
            </a:r>
            <a:r>
              <a:rPr lang="pt-BR" dirty="0" err="1" smtClean="0"/>
              <a:t>form</a:t>
            </a:r>
            <a:r>
              <a:rPr lang="pt-BR" dirty="0" smtClean="0"/>
              <a:t>, </a:t>
            </a:r>
            <a:r>
              <a:rPr lang="pt-BR" dirty="0" err="1" smtClean="0"/>
              <a:t>name</a:t>
            </a:r>
            <a:endParaRPr lang="pt-BR" dirty="0"/>
          </a:p>
          <a:p>
            <a:r>
              <a:rPr lang="pt-BR" dirty="0"/>
              <a:t>Elemento </a:t>
            </a:r>
            <a:r>
              <a:rPr lang="pt-BR" b="1" dirty="0" smtClean="0"/>
              <a:t>meter</a:t>
            </a:r>
            <a:r>
              <a:rPr lang="pt-BR" dirty="0" smtClean="0"/>
              <a:t>: permite mensurar elementos que possuem valores mínimos e máximos.</a:t>
            </a:r>
          </a:p>
          <a:p>
            <a:pPr lvl="1"/>
            <a:r>
              <a:rPr lang="pt-BR" dirty="0" smtClean="0"/>
              <a:t>Atributos: </a:t>
            </a:r>
            <a:r>
              <a:rPr lang="pt-BR" dirty="0" err="1" smtClean="0"/>
              <a:t>value</a:t>
            </a:r>
            <a:r>
              <a:rPr lang="pt-BR" dirty="0" smtClean="0"/>
              <a:t>, min, </a:t>
            </a:r>
            <a:r>
              <a:rPr lang="pt-BR" dirty="0" err="1" smtClean="0"/>
              <a:t>max</a:t>
            </a:r>
            <a:r>
              <a:rPr lang="pt-BR" dirty="0" smtClean="0"/>
              <a:t>, </a:t>
            </a:r>
            <a:r>
              <a:rPr lang="pt-BR" dirty="0" err="1" smtClean="0"/>
              <a:t>low</a:t>
            </a:r>
            <a:r>
              <a:rPr lang="pt-BR" dirty="0" smtClean="0"/>
              <a:t>, high, </a:t>
            </a:r>
            <a:r>
              <a:rPr lang="pt-BR" dirty="0" err="1" smtClean="0"/>
              <a:t>optimum</a:t>
            </a:r>
            <a:endParaRPr lang="pt-BR" dirty="0" smtClean="0"/>
          </a:p>
        </p:txBody>
      </p:sp>
    </p:spTree>
    <p:extLst>
      <p:ext uri="{BB962C8B-B14F-4D97-AF65-F5344CB8AC3E}">
        <p14:creationId xmlns:p14="http://schemas.microsoft.com/office/powerpoint/2010/main" val="208117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Formulários / Atributos comuns ao </a:t>
            </a:r>
            <a:r>
              <a:rPr lang="pt-BR" b="1" dirty="0" smtClean="0"/>
              <a:t>HTML4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640" y="2276872"/>
            <a:ext cx="7149768" cy="28039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5" y="1052736"/>
            <a:ext cx="9018444" cy="35368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4888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 err="1"/>
              <a:t>Formuários</a:t>
            </a:r>
            <a:r>
              <a:rPr lang="pt-BR" b="1" dirty="0"/>
              <a:t> Novos valores para o atributo </a:t>
            </a:r>
            <a:r>
              <a:rPr lang="pt-BR" b="1" dirty="0" err="1" smtClean="0"/>
              <a:t>type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196" y="2204864"/>
            <a:ext cx="7292894" cy="3155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24744"/>
            <a:ext cx="8824401" cy="38178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3599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 smtClean="0"/>
              <a:t>button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485" y="2543053"/>
            <a:ext cx="6605443" cy="2182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-4515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8791845" cy="29043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48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Elementos </a:t>
            </a:r>
            <a:r>
              <a:rPr lang="pt-BR" b="1" dirty="0" err="1"/>
              <a:t>select</a:t>
            </a:r>
            <a:r>
              <a:rPr lang="pt-BR" b="1" dirty="0"/>
              <a:t> e </a:t>
            </a:r>
            <a:r>
              <a:rPr lang="pt-BR" b="1" dirty="0" err="1" smtClean="0"/>
              <a:t>option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um </a:t>
            </a:r>
            <a:r>
              <a:rPr lang="pt-BR" dirty="0" smtClean="0"/>
              <a:t>menu</a:t>
            </a:r>
            <a:endParaRPr lang="pt-BR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5921" y="2348880"/>
            <a:ext cx="5152159" cy="27968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-4515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80728"/>
            <a:ext cx="7543276" cy="4094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4101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Elementos </a:t>
            </a:r>
            <a:r>
              <a:rPr lang="pt-BR" b="1" dirty="0" err="1"/>
              <a:t>select</a:t>
            </a:r>
            <a:r>
              <a:rPr lang="pt-BR" b="1" dirty="0"/>
              <a:t> e </a:t>
            </a:r>
            <a:r>
              <a:rPr lang="pt-BR" b="1" dirty="0" err="1" smtClean="0"/>
              <a:t>option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uma lista com múltiplas </a:t>
            </a:r>
            <a:r>
              <a:rPr lang="pt-BR" dirty="0" smtClean="0"/>
              <a:t>escolhas</a:t>
            </a:r>
            <a:endParaRPr lang="pt-BR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337" y="2394489"/>
            <a:ext cx="6267739" cy="2978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06" y="980728"/>
            <a:ext cx="8342360" cy="39646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5094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 smtClean="0"/>
              <a:t>datalist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pt-BR" dirty="0"/>
              <a:t>O elemento </a:t>
            </a:r>
            <a:r>
              <a:rPr lang="pt-BR" dirty="0" err="1"/>
              <a:t>datalist</a:t>
            </a:r>
            <a:r>
              <a:rPr lang="pt-BR" dirty="0"/>
              <a:t>, novo no HTML 5, mostra uma lista de elementos predefinidos como opção para um caixa de entrada de texto. Caso o browser não suporte este componente, ele pode exibir os elementos que compõem o </a:t>
            </a:r>
            <a:r>
              <a:rPr lang="pt-BR" dirty="0" err="1"/>
              <a:t>datalist</a:t>
            </a:r>
            <a:r>
              <a:rPr lang="pt-BR" dirty="0"/>
              <a:t> em forma de texto simples.</a:t>
            </a:r>
          </a:p>
          <a:p>
            <a:r>
              <a:rPr lang="pt-BR" dirty="0"/>
              <a:t>Dentro do elemento input, o atributo ,</a:t>
            </a:r>
            <a:r>
              <a:rPr lang="pt-BR" dirty="0" err="1"/>
              <a:t>list</a:t>
            </a:r>
            <a:r>
              <a:rPr lang="pt-BR" dirty="0"/>
              <a:t> faz referência ao elemento </a:t>
            </a:r>
            <a:r>
              <a:rPr lang="pt-BR" dirty="0" err="1"/>
              <a:t>datalist</a:t>
            </a:r>
            <a:r>
              <a:rPr lang="pt-BR" dirty="0"/>
              <a:t> através do seu id e cada elemento de um </a:t>
            </a:r>
            <a:r>
              <a:rPr lang="pt-BR" dirty="0" err="1"/>
              <a:t>datalist</a:t>
            </a:r>
            <a:r>
              <a:rPr lang="pt-BR" dirty="0"/>
              <a:t> é identificado pelo elemento </a:t>
            </a:r>
            <a:r>
              <a:rPr lang="pt-BR" dirty="0" err="1"/>
              <a:t>option</a:t>
            </a:r>
            <a:r>
              <a:rPr lang="pt-BR" dirty="0"/>
              <a:t>.</a:t>
            </a:r>
          </a:p>
          <a:p>
            <a:pPr lvl="1"/>
            <a:r>
              <a:rPr lang="pt-BR" i="1" dirty="0"/>
              <a:t>Observação</a:t>
            </a:r>
            <a:r>
              <a:rPr lang="pt-BR" dirty="0"/>
              <a:t> : No navegador Opera 11, este componente é </a:t>
            </a:r>
            <a:r>
              <a:rPr lang="pt-BR" dirty="0" err="1"/>
              <a:t>renderizado</a:t>
            </a:r>
            <a:r>
              <a:rPr lang="pt-BR" dirty="0"/>
              <a:t> </a:t>
            </a:r>
            <a:r>
              <a:rPr lang="pt-BR" dirty="0" err="1"/>
              <a:t>perfeitamente.Veja</a:t>
            </a:r>
            <a:r>
              <a:rPr lang="pt-BR" dirty="0"/>
              <a:t> no arquivo </a:t>
            </a:r>
            <a:r>
              <a:rPr lang="pt-BR" dirty="0">
                <a:hlinkClick r:id="rId2" tooltip="Elemento datalist com conteúdo alternativo"/>
              </a:rPr>
              <a:t>Elemento </a:t>
            </a:r>
            <a:r>
              <a:rPr lang="pt-BR" dirty="0" err="1">
                <a:hlinkClick r:id="rId2" tooltip="Elemento datalist com conteúdo alternativo"/>
              </a:rPr>
              <a:t>datalist</a:t>
            </a:r>
            <a:r>
              <a:rPr lang="pt-BR" dirty="0">
                <a:hlinkClick r:id="rId2" tooltip="Elemento datalist com conteúdo alternativo"/>
              </a:rPr>
              <a:t> com conteúdo alternativo</a:t>
            </a:r>
            <a:r>
              <a:rPr lang="pt-BR" dirty="0"/>
              <a:t> a solução para navegadores que não ainda oferecem suporte à este elemento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/>
              <a:t>.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403" y="3966688"/>
            <a:ext cx="4097607" cy="27797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4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692696"/>
            <a:ext cx="7985079" cy="54168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970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Elemento </a:t>
            </a:r>
            <a:r>
              <a:rPr lang="pt-BR" b="1" dirty="0" err="1"/>
              <a:t>datalist</a:t>
            </a:r>
            <a:r>
              <a:rPr lang="pt-BR" b="1" dirty="0"/>
              <a:t> com conteúdo </a:t>
            </a:r>
            <a:r>
              <a:rPr lang="pt-BR" b="1" dirty="0" smtClean="0"/>
              <a:t>alternativo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O conteúdo de um elemento </a:t>
            </a:r>
            <a:r>
              <a:rPr lang="pt-BR" dirty="0" err="1"/>
              <a:t>datatalist</a:t>
            </a:r>
            <a:r>
              <a:rPr lang="pt-BR" dirty="0"/>
              <a:t> pode ser exibido de maneira alternativa para outros browsers que não suportam este recurso através da inclusão de um elemento </a:t>
            </a:r>
            <a:r>
              <a:rPr lang="pt-BR" dirty="0" err="1"/>
              <a:t>select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2888" y="2926628"/>
            <a:ext cx="4936636" cy="3742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2656"/>
            <a:ext cx="7950502" cy="6027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64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 smtClean="0"/>
              <a:t>optgroup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O elemento </a:t>
            </a:r>
            <a:r>
              <a:rPr lang="pt-BR" dirty="0" err="1"/>
              <a:t>optgroup</a:t>
            </a:r>
            <a:r>
              <a:rPr lang="pt-BR" dirty="0"/>
              <a:t>, também novidade do HTML 5, permite agrupar elementos </a:t>
            </a:r>
            <a:r>
              <a:rPr lang="pt-BR" dirty="0" err="1"/>
              <a:t>option</a:t>
            </a:r>
            <a:r>
              <a:rPr lang="pt-BR" dirty="0"/>
              <a:t> organizando o seu conteúdo. O atributo </a:t>
            </a:r>
            <a:r>
              <a:rPr lang="pt-BR" dirty="0" err="1"/>
              <a:t>labeldentro</a:t>
            </a:r>
            <a:r>
              <a:rPr lang="pt-BR" dirty="0"/>
              <a:t> dele cria uma legenda normalmente com texto formatado em </a:t>
            </a:r>
            <a:r>
              <a:rPr lang="pt-BR" i="1" dirty="0"/>
              <a:t>itálico</a:t>
            </a:r>
            <a:r>
              <a:rPr lang="pt-BR" dirty="0" smtClean="0"/>
              <a:t>.</a:t>
            </a:r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4508" y="3030445"/>
            <a:ext cx="3974985" cy="32788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3436" y="332656"/>
            <a:ext cx="7041929" cy="5808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3527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 smtClean="0"/>
              <a:t>textarea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9145" y="2348880"/>
            <a:ext cx="5564122" cy="25504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2" y="1268760"/>
            <a:ext cx="8961074" cy="4107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94972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err="1" smtClean="0"/>
              <a:t>keygen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O elemento </a:t>
            </a:r>
            <a:r>
              <a:rPr lang="pt-BR" dirty="0" err="1"/>
              <a:t>keygen</a:t>
            </a:r>
            <a:r>
              <a:rPr lang="pt-BR" dirty="0"/>
              <a:t>, já era suportado por alguns navegadores, mas agora é oficialmente incluído no HTML 5. Ele indica um par de chaves público-privadas, um dos métodos de criptografia mais difundidos. A chave pública pode ser enviada através de um formulário, e a chave privada é conhecida apenas pelo seu usuário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0106" y="3284984"/>
            <a:ext cx="5682201" cy="27158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Teste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24744"/>
            <a:ext cx="8319310" cy="39762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3745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smtClean="0"/>
              <a:t>output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o elemento output representa o resultado de um cálculo, de uma operação. O atributo for indica os campos envolvidos na operação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endParaRPr lang="pt-BR" dirty="0" smtClean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989" y="2996952"/>
            <a:ext cx="6036435" cy="24166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Teste</a:t>
            </a:r>
            <a:endParaRPr lang="pt-BR" u="sng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196752"/>
            <a:ext cx="8034496" cy="32165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654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Elemento </a:t>
            </a:r>
            <a:r>
              <a:rPr lang="pt-BR" b="1" dirty="0" smtClean="0"/>
              <a:t>meter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Novo no HTML 5, o elemento meter representa uma faixa de valores ou valor específico dentro de uma escala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endParaRPr lang="pt-BR" dirty="0" smtClean="0"/>
          </a:p>
          <a:p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 smtClean="0"/>
          </a:p>
          <a:p>
            <a:pPr marL="0" indent="0">
              <a:buNone/>
            </a:pP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528" y="3178809"/>
            <a:ext cx="5473356" cy="2196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hlinkClick r:id="rId3" action="ppaction://hlinkfile"/>
          </p:cNvPr>
          <p:cNvSpPr/>
          <p:nvPr/>
        </p:nvSpPr>
        <p:spPr>
          <a:xfrm rot="2700000">
            <a:off x="7947794" y="179220"/>
            <a:ext cx="1548173" cy="360040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u="sng" dirty="0" smtClean="0"/>
              <a:t>Teste</a:t>
            </a:r>
            <a:endParaRPr lang="pt-BR" u="sng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196752"/>
            <a:ext cx="8814895" cy="35382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569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Exercício de Formulário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848" y="1749461"/>
            <a:ext cx="2628305" cy="4487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tângulo 5"/>
          <p:cNvSpPr/>
          <p:nvPr/>
        </p:nvSpPr>
        <p:spPr>
          <a:xfrm>
            <a:off x="0" y="6118"/>
            <a:ext cx="9144000" cy="6858000"/>
          </a:xfrm>
          <a:prstGeom prst="rect">
            <a:avLst/>
          </a:prstGeom>
          <a:solidFill>
            <a:srgbClr val="7F7F7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0349" y="116632"/>
            <a:ext cx="3848103" cy="65706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9576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1205</TotalTime>
  <Words>1205</Words>
  <Application>Microsoft Office PowerPoint</Application>
  <PresentationFormat>Apresentação na tela (4:3)</PresentationFormat>
  <Paragraphs>267</Paragraphs>
  <Slides>35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Tema do Office</vt:lpstr>
      <vt:lpstr>HTML5 e CSS3</vt:lpstr>
      <vt:lpstr>Dados tabulares</vt:lpstr>
      <vt:lpstr>DADOS TABULARES</vt:lpstr>
      <vt:lpstr>Tabelas</vt:lpstr>
      <vt:lpstr>Tabelas</vt:lpstr>
      <vt:lpstr>Tabelas</vt:lpstr>
      <vt:lpstr>Tabela Simples</vt:lpstr>
      <vt:lpstr>Tabela Simples</vt:lpstr>
      <vt:lpstr>Tabela com cabeçalho, corpo e rodapé</vt:lpstr>
      <vt:lpstr>Tabela com elemento colgroup</vt:lpstr>
      <vt:lpstr>Tabela com elemento colgroup</vt:lpstr>
      <vt:lpstr>Tabela com atributo summary e elemento caption</vt:lpstr>
      <vt:lpstr>Exercício de Tabela</vt:lpstr>
      <vt:lpstr>Apresentação do PowerPoint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</vt:lpstr>
      <vt:lpstr>Formulários / Atributos comuns ao HTML4</vt:lpstr>
      <vt:lpstr>Formuários Novos valores para o atributo type</vt:lpstr>
      <vt:lpstr>Elemento button</vt:lpstr>
      <vt:lpstr>Elementos select e option</vt:lpstr>
      <vt:lpstr>Elementos select e option</vt:lpstr>
      <vt:lpstr>Elemento datalist</vt:lpstr>
      <vt:lpstr>Elemento datalist com conteúdo alternativo</vt:lpstr>
      <vt:lpstr>Elemento optgroup</vt:lpstr>
      <vt:lpstr>Elemento textarea</vt:lpstr>
      <vt:lpstr>Elemento keygen</vt:lpstr>
      <vt:lpstr>Elemento output</vt:lpstr>
      <vt:lpstr>Elemento meter</vt:lpstr>
      <vt:lpstr>Exercício de Formulário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Daniel Y. Kawasaki</dc:creator>
  <cp:lastModifiedBy>Daniel Y. Kawasaki</cp:lastModifiedBy>
  <cp:revision>89</cp:revision>
  <dcterms:created xsi:type="dcterms:W3CDTF">2013-10-24T17:35:22Z</dcterms:created>
  <dcterms:modified xsi:type="dcterms:W3CDTF">2013-11-23T16:42:54Z</dcterms:modified>
</cp:coreProperties>
</file>